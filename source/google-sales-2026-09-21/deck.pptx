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</p:sldIdLst>
  <p:sldSz cy="9144000" cx="9144000"/>
  <p:notesSz cx="6858000" cy="9144000"/>
  <p:embeddedFontLst>
    <p:embeddedFont>
      <p:font typeface="Manrope"/>
      <p:regular r:id="rId125"/>
      <p:bold r:id="rId126"/>
    </p:embeddedFont>
    <p:embeddedFont>
      <p:font typeface="Unbounded"/>
      <p:regular r:id="rId127"/>
      <p:bold r:id="rId1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8" Type="http://schemas.openxmlformats.org/officeDocument/2006/relationships/font" Target="fonts/Unbounded-bold.fntdata"/><Relationship Id="rId127" Type="http://schemas.openxmlformats.org/officeDocument/2006/relationships/font" Target="fonts/Unbounded-regular.fntdata"/><Relationship Id="rId126" Type="http://schemas.openxmlformats.org/officeDocument/2006/relationships/font" Target="fonts/Manrope-bold.fntdata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Manrope-regular.fntdata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Айсберг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глубину, не раскрывая её. Создаёт ощущение, что за кадром осталось больше, чем показано. перечислить и НЕ раскрывать. Глубина продаётся, а не показывается.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Два пути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развилка «сам / за руку». Самостоятельный путь — уважительно, без обесценивания. «можно и самому — ютуб большой. Года за два разберётесь. Или — с системой, где всё уже собрано». Попросить написать слово в чат.</a:t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AI-Оператор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обложка программы: имя · срок · обещание в результате. Тон меняется — спикер открывает дверь. «не курс. Доступ к команде агентов и навык ими управлять». На экране живая консоль: слева охотник и продавец, под ними исполнители, справа вы; чек-лист заполняется на глазах — дать доиграть. ⚠️ Это макет — кабинета пока нет, доступ через SendPulse; в эфире говорить «так выглядит рабочий стол».</a:t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Доступ, а не курс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переопределить покупку: не уроки, а доступ к живой системе, за которую платит автор. «каждый месяц мы жжём деньги на тесты моделей, чтобы вам не пришлось».</a:t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 устроено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снять страх «куплю и останусь один с записями». показать кабинет 10 секунд. «Это не PDF на почту. Это система, где на каждом шаге видно, что делать дальше».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Инструкция и задание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показать, что внутри не «видео и удачи», а рабочая страница с шагами и заданием. «вот так выглядит один воркшоп: инструменты, зачем, если научитесь / если нет, и задание для внедрения. Всё под ваш проект». Сайт листается сам: 16 секунд вниз и обратно, по кругу — видно, что внутри воркшопа. Ссылка внизу.</a:t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Живые Q&amp;A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снять страх «останусь один»: раз в неделю разбираем именно ваши задания в прямом эфире. «это не запись — это созвон, где мы открываем ваш сайт и правим при вас».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кнопка, а понимание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снять страх «куплю чужую кнопку и буду зависеть от автора». Кнопку я даю — готовых агентов. Но не только: «вы поймёте, как мои агенты устроены, научитесь адаптировать их под себя и собирать своих с нуля. Первого — уже на второй неделе».</a:t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1 · Фундамент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программа — это блоки с результатом на руках, а не список уроков. Первый блок снимает страх «я в этом ноль». Готовых задач здесь не выдаём — навык и инструменты; задачи начинаются со 2-го блока. ~20 сек. Раскрытие: клик по модулю или клавиши 1–3 — навык, нейронки логотипами, результат; на M3 и M4 — набор готовых задач.</a:t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2 · Продукт и витрина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появляются первые готовые задачи и первая услуга в прайсе. «Bronze» заканчивается этим блоком — зритель видит, что даже базовый набор даёт продаваемую услугу. «Семь готовых задач закрывают то, за что маркетолог берёт $1.000: кто клиент, что у конкурентов, какая цена, как упаковать. Девять — собирают сайт, который ведёт человека к заявке. Это и есть первая услуга, за которую платят $250». Раскрытие: клик по модулю или клавиши 1–3 — навык, нейронки логотипами, результат; на M3 и M4 — набор готовых задач.</a:t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09daef6479_1_5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409daef6479_1_5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2 · Продукт и витрина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появляются первые готовые задачи и первая услуга в прайсе. «Bronze» заканчивается этим блоком — зритель видит, что даже базовый набор даёт продаваемую услугу. «Семь готовых задач закрывают то, за что маркетолог берёт $1.000: кто клиент, что у конкурентов, какая цена, как упаковать. Девять — собирают сайт, который ведёт человека к заявке. Это и есть первая услуга, за которую платят $250». Раскрытие: клик по модулю или клавиши 1–3 — навык, нейронки логотипами, результат; на M3 и M4 — набор готовых задач.</a:t>
            </a:r>
            <a:endParaRPr/>
          </a:p>
        </p:txBody>
      </p:sp>
      <p:sp>
        <p:nvSpPr>
          <p:cNvPr id="263" name="Google Shape;263;g409daef6479_1_5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Внутри агента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конвейер: 8 задач внутри одного агента, пакет едет по ленте, станция вспыхивает, когда до неё доходит задача — дать доиграть один круг (12 с). Это первый готовый агент, который человек получает после блока 2 — агент конверсионных сайтов. Панели «внутри маркетолога» нет: семёрку зал уже видел в раскрытии M3. ~30 сек.</a:t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09daef6479_1_2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g409daef6479_1_2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310" name="Google Shape;310;g409daef6479_1_2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409daef6479_1_2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409daef6479_1_2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333" name="Google Shape;333;g409daef6479_1_2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409daef6479_1_2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409daef6479_1_2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357" name="Google Shape;357;g409daef6479_1_2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409daef6479_1_3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409daef6479_1_3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380" name="Google Shape;380;g409daef6479_1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409daef6479_1_3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g409daef6479_1_3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403" name="Google Shape;403;g409daef6479_1_3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409daef6479_1_3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409daef6479_1_3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Умеете после блока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Влада: «умеете», не «услуги в прайсе» — прайс остаётся из 7 услуг. Исследование и стратегия — этапы внутри услуги сайта; дизайн презентаций и КП — умение, отдельная услуга AI-дизайн идёт с «Команды». ~25 сек. На плитках — реальные артефакты: ДНК клиента и предложение (MILO KIDS), три стратегии (Крипто-У), текст VSL, именное КП, сайт. Показать пальцем: «это не картинки — это документы, которые выходят из агентов».</a:t>
            </a:r>
            <a:endParaRPr/>
          </a:p>
        </p:txBody>
      </p:sp>
      <p:sp>
        <p:nvSpPr>
          <p:cNvPr id="426" name="Google Shape;426;g409daef6479_1_3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2 в цифрах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итог блока одними цифрами, без слов: 4 модуля плюс нулевой · 16 задач · 1 агент · 6 умений · потенциал $1.000–$3.000 в месяц. Лестница дохода: Bronze $1.000–$3.000 → Silver $3.000–$5.000 → Gold $5.000+ (решение Влада 09.09). «Потенциал», не «прогноз». Дисклеймер на слайде.</a:t>
            </a:r>
            <a:endParaRPr/>
          </a:p>
        </p:txBody>
      </p:sp>
      <p:sp>
        <p:nvSpPr>
          <p:cNvPr id="449" name="Google Shape;4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3 · Контент-завод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вторая услуга с регулярной оплатой — контент клиенту каждый месяц. Именно за этим идут в Silver. «16 форматов — это Reels, вирусный Reels, сторис, короткий пост, длинный пост, статья, карусель, карусель из видео, Threads, письмо, цитаты, хук-фразы, сценарий видео, описание к ролику, пост в Telegram и контент-план. Всё — из одного разговора с клиентом. Видео без камеры, голос и лицо — ваши клоны. Монтажёр режет длинное видео на ролики». Раскрытие: клик по модулю или клавиши 1–3 — навык, нейронки логотипами, результат; на M3 и M4 — набор готовых задач. В раскрытии каждого модуля — готовые задачи (из папок навыков, простым языком).</a:t>
            </a:r>
            <a:endParaRPr/>
          </a:p>
        </p:txBody>
      </p:sp>
      <p:sp>
        <p:nvSpPr>
          <p:cNvPr id="469" name="Google Shape;46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3 — три агента и на какую сумму каждый оказывает услугу (вилки из каталога). Одной фразой на агента: что делает и чек.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493" name="Google Shape;4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409daef6479_1_3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g409daef6479_1_3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3 — три агента и на какую сумму каждый оказывает услугу (вилки из каталога). Одной фразой на агента: что делает и чек.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513" name="Google Shape;513;g409daef6479_1_3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409daef6479_1_4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g409daef6479_1_4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3 — три агента и на какую сумму каждый оказывает услугу (вилки из каталога). Одной фразой на агента: что делает и чек.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534" name="Google Shape;534;g409daef6479_1_4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4 · Привлечение клиентов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закрывает главный страх «а клиенты откуда». Этот блок открывается с Gold — главный довод шагнуть выше Silver. «Семь трендовых услуг, под которые охотник ищет клиентов: сайты, дизайн, продающие видео, контент-завод с аватаром, продавец, таргет и AI-SEO. Он собирает бизнесы с карт, читает отзывы и пишет каждому про его боль. Таргетолог запускает рекламу, AI-SEO делает так, что сайт клиента рекомендует ChatGPT». Trial close: «напишите в чат, какой блок вам интереснее». Раскрытие: клик по модулю или клавиши 1–3 — навык, нейронки логотипами, результат; на M3 и M4 — набор готовых задач. В раскрытии каждого модуля — готовые задачи (из папок навыков, простым языком).</a:t>
            </a:r>
            <a:endParaRPr/>
          </a:p>
        </p:txBody>
      </p:sp>
      <p:sp>
        <p:nvSpPr>
          <p:cNvPr id="555" name="Google Shape;55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4 — два агента с чеком и охотник с функционалом (карты → отзывы → письмо → напоминание → дожим). Здесь граница набора Gold — назвать потенциал $5.000+. Про охотника: «готового отдаю первым 20».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579" name="Google Shape;57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409daef6479_1_4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409daef6479_1_4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4 — два агента с чеком и охотник с функционалом (карты → отзывы → письмо → напоминание → дожим). Здесь граница набора Gold — назвать потенциал $5.000+. Про охотника: «готового отдаю первым 20».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609" name="Google Shape;609;g409daef6479_1_4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409daef6479_1_4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g409daef6479_1_4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блока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4 — два агента с чеком и охотник с функционалом (карты → отзывы → письмо → напоминание → дожим). Здесь граница набора Gold — назвать потенциал $5.000+. Про охотника: «готового отдаю первым 20». ~30 сек. На слайде по одной строке на агента — остальное проговариваем голосом.</a:t>
            </a:r>
            <a:endParaRPr/>
          </a:p>
        </p:txBody>
      </p:sp>
      <p:sp>
        <p:nvSpPr>
          <p:cNvPr id="640" name="Google Shape;640;g409daef6479_1_4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5 · Продажи и масштаб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одна задача, но самая дорогая в стеке — продавец. И ответ на «а что потом»: удержание и масштаб. «Продавец — один, но он живёт там, где ваши клиенты пишут: Telegram, WhatsApp, Instagram. Отвечает голосом и текстом, снимает возражения и доводит до оплаты. Это третий уровень — Gold: в Silver контент приводит клиентов, а продаёте вы; здесь клиентов приводит реклама, а сделку закрывает агент. Дальше — продлить, допродать и включить второе направление». Раскрытие: клик по модулю или клавиши 1–3 — навык, нейронки логотипами, результат; на M3 и M4 — набор готовых задач. В раскрытии каждого модуля — готовые задачи (из папок навыков, простым языком).</a:t>
            </a:r>
            <a:endParaRPr/>
          </a:p>
        </p:txBody>
      </p:sp>
      <p:sp>
        <p:nvSpPr>
          <p:cNvPr id="671" name="Google Shape;67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9" name="Google Shape;68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 блока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блока 5 — один агент, но самый дорогой: продавец. Граница Gold — потенциал $5.000+. ~20 сек.</a:t>
            </a:r>
            <a:endParaRPr/>
          </a:p>
        </p:txBody>
      </p:sp>
      <p:sp>
        <p:nvSpPr>
          <p:cNvPr id="690" name="Google Shape;69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 что после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закрыть вопрос «а что потом» до того, как он возникнет в Q&amp;A. «клуб и новые связки остаются с вами». ---</a:t>
            </a:r>
            <a:endParaRPr/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9" name="Google Shape;71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элемент — вся система целиком. Задаёт масштаб: не «уроки», а путь до сделки. одной фразой, без пересказа подзаголовка. Ценность произносится ровно, без извинений.</a:t>
            </a:r>
            <a:endParaRPr/>
          </a:p>
        </p:txBody>
      </p:sp>
      <p:sp>
        <p:nvSpPr>
          <p:cNvPr id="720" name="Google Shape;72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ядро продукта и валюта наборов: в первом наборе — один агент (AI-сайты), во втором — шесть, в третьем — все семь. Цена каждого — «собрать такого у разработчика». «каждую из семи услуг делает свой агент. Собрать одного такого у разработчика — от $400. Дальше вы увидите, что наборы отличаются в том числе тем, сколько из них вы получаете».</a:t>
            </a:r>
            <a:endParaRPr/>
          </a:p>
        </p:txBody>
      </p:sp>
      <p:sp>
        <p:nvSpPr>
          <p:cNvPr id="732" name="Google Shape;73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5" name="Google Shape;76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живой сайт навигатора внутри слайда: можно кликать по фильтрам и открывать карточки прямо в эфире. Подложка — скрин, если интернета нет, останется он. Чтобы вернуть управление клавишами после кликов в сайте — клик по верхней полоске окна. ~30 сек: «96 готовых задач — вот они, живые». Число: 46 готовых задач идут в программу (из 96, которые обучил, — история в Секрете 1). В Bronze 16, в Silver 33.</a:t>
            </a:r>
            <a:endParaRPr/>
          </a:p>
        </p:txBody>
      </p:sp>
      <p:sp>
        <p:nvSpPr>
          <p:cNvPr id="766" name="Google Shape;76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9" name="Google Shape;77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«я не умею делать сайты»: шаблон под нишу уже есть. одной фразой, без пересказа подзаголовка. Ценность произносится ровно, без извинений. Оба шаблона проявляются и листаются целиком сами (стоматология и детейлинг) — дать 10 секунд, не комментировать каждый экран. Стоп, не тараторить: «первый сайт вы не начинаете с пустого экрана — под нишу клиента уже есть каркас, вы подставляете его продукт». Пауза. Это бонус, которым сам горжусь.</a:t>
            </a:r>
            <a:endParaRPr/>
          </a:p>
        </p:txBody>
      </p:sp>
      <p:sp>
        <p:nvSpPr>
          <p:cNvPr id="780" name="Google Shape;78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«у меня нет портфолио»: кейсы под все услуги выдаются. одной фразой, без пересказа подзаголовка. Ценность произносится ровно, без извинений. Назвать возражение вслух: «это против "а вдруг не сработает"» (канон 54). Стоп: «первый клиент спросит "а покажите примеры" — и у вас они уже есть, ещё до первого заказа». Пауза, посмотреть в камеру.</a:t>
            </a:r>
            <a:endParaRPr/>
          </a:p>
        </p:txBody>
      </p:sp>
      <p:sp>
        <p:nvSpPr>
          <p:cNvPr id="793" name="Google Shape;793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экономия каждый месяц — строка, которая окупает вход сама по себе. одной фразой, без пересказа подзаголовка. Ценность произносится ровно, без извинений. Назвать возражение вслух: «это против "нет денег на нейросети"» (канон 56). Стоп: «экономите каждый месяц, пока пользуетесь — сотни долларов в год. Поделюсь сервисом, где нейронки дешевле» (нейтрально, без «мы покупаем»). Пауза.</a:t>
            </a:r>
            <a:endParaRPr/>
          </a:p>
        </p:txBody>
      </p:sp>
      <p:sp>
        <p:nvSpPr>
          <p:cNvPr id="807" name="Google Shape;807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0" name="Google Shape;82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«а если у меня не получится» — разбирают именно ваш проект. одной фразой, без пересказа подзаголовка. Ценность произносится ровно, без извинений.</a:t>
            </a:r>
            <a:endParaRPr/>
          </a:p>
        </p:txBody>
      </p:sp>
      <p:sp>
        <p:nvSpPr>
          <p:cNvPr id="821" name="Google Shape;82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4" name="Google Shape;834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закрывает страх «обманут и не заплатят». одной фразой, без пересказа подзаголовка. Ценность произносится ровно, без извинений. Стоп: «чтобы деньги пришли и остались вашими — договор, счёт, приём оплаты готовы. Ни одного юриста». Пауза.</a:t>
            </a:r>
            <a:endParaRPr/>
          </a:p>
        </p:txBody>
      </p:sp>
      <p:sp>
        <p:nvSpPr>
          <p:cNvPr id="835" name="Google Shape;835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«устареет через полгода». одной фразой, без пересказа подзаголовка. Ценность произносится ровно, без извинений. Стоп: «модели меняются каждый месяц — ваши агенты обновляются сами, вам ничего не переделывать». Пауза.</a:t>
            </a:r>
            <a:endParaRPr/>
          </a:p>
        </p:txBody>
      </p:sp>
      <p:sp>
        <p:nvSpPr>
          <p:cNvPr id="849" name="Google Shape;84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2" name="Google Shape;86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«останусь один с записями». одной фразой, без пересказа подзаголовка. Ценность произносится ровно, без извинений. Назвать возражение вслух: «это против "а я не смогу"» (канон 55).</a:t>
            </a:r>
            <a:endParaRPr/>
          </a:p>
        </p:txBody>
      </p:sp>
      <p:sp>
        <p:nvSpPr>
          <p:cNvPr id="863" name="Google Shape;86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6" name="Google Shape;87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среда и азарт: рейтинг в игровой форме не даёт бросить. одной фразой, без пересказа подзаголовка. Ценность произносится ровно, без извинений.</a:t>
            </a:r>
            <a:endParaRPr/>
          </a:p>
        </p:txBody>
      </p:sp>
      <p:sp>
        <p:nvSpPr>
          <p:cNvPr id="877" name="Google Shape;87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0" name="Google Shape;890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элемент по правке 8e: регулярные предложения о работе и клиентах для учеников. В Bronze не входит — с Silver. Одной фразой: «заказчики приходят к нам — мы отдаём их вам». Стоп: «заказчики и партнёры приходят к нам — мы отдаём их вам. Вы не один на рынке». Пауза.</a:t>
            </a:r>
            <a:endParaRPr/>
          </a:p>
        </p:txBody>
      </p:sp>
      <p:sp>
        <p:nvSpPr>
          <p:cNvPr id="891" name="Google Shape;891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снимает «а что я скажу клиенту»: продавец настраивается под ваши услуги и живёт в мессенджерах. одной фразой, без пересказа подзаголовка. Ценность произносится ровно, без извинений.</a:t>
            </a:r>
            <a:endParaRPr/>
          </a:p>
        </p:txBody>
      </p:sp>
      <p:sp>
        <p:nvSpPr>
          <p:cNvPr id="905" name="Google Shape;90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8" name="Google Shape;91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скрипты — на случай, когда продавец передал разговор человеку. одной фразой, без пересказа подзаголовка. Ценность произносится ровно, без извинений.</a:t>
            </a:r>
            <a:endParaRPr/>
          </a:p>
        </p:txBody>
      </p:sp>
      <p:sp>
        <p:nvSpPr>
          <p:cNvPr id="919" name="Google Shape;91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2" name="Google Shape;93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интрига, а не таблица: показываем только флаги и города, причина у всех под замком — открыта одна строка. Сказать: «Анталья — лучший баланс. Почему остальные шесть именно такие, разберём внутри». Не расшифровывать. Ценность $500 произносится ровно. Пауза.</a:t>
            </a:r>
            <a:endParaRPr/>
          </a:p>
        </p:txBody>
      </p:sp>
      <p:sp>
        <p:nvSpPr>
          <p:cNvPr id="933" name="Google Shape;93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9" name="Google Shape;959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связка = что · кому · как (определена в Секрете 3). Каталог связок под каждую из 7 услуг + как настроить агентов под неё. «Не догадки — готовые связки». Стоп: «что продавать, кому и как — под каждую услугу. Связки, которые работают, и новые — по мере появления». Пауза.</a:t>
            </a:r>
            <a:endParaRPr/>
          </a:p>
        </p:txBody>
      </p:sp>
      <p:sp>
        <p:nvSpPr>
          <p:cNvPr id="960" name="Google Shape;960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3" name="Google Shape;973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Элемент 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эксклюзив Gold: четыре живые страт-сессии в малой группе — разбор проекта до первых денег, между сессиями вопросы в чате. Ценность $1.500 — решение Влада 10.09. Стоп: «зачем вам это» — «вы не гадаете, тот ли шаг делаете: раз в две недели мы смотрим на ваш проект вместе». Только в Gold.</a:t>
            </a:r>
            <a:endParaRPr/>
          </a:p>
        </p:txBody>
      </p:sp>
      <p:sp>
        <p:nvSpPr>
          <p:cNvPr id="974" name="Google Shape;974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9" name="Google Shape;989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Почему не когда угодно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обосновать дефицит пропускной способностью и заранее снять подозрение в манипуляции. дословно: «для вас спешка — признак развода. Я это знаю». ---</a:t>
            </a:r>
            <a:endParaRPr/>
          </a:p>
        </p:txBody>
      </p:sp>
      <p:sp>
        <p:nvSpPr>
          <p:cNvPr id="990" name="Google Shape;990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Набор Gold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леджер: догорают последние пять. «Здесь не остаётся — здесь всё». Пауза на итоге $21.350.</a:t>
            </a:r>
            <a:endParaRPr/>
          </a:p>
        </p:txBody>
      </p:sp>
      <p:sp>
        <p:nvSpPr>
          <p:cNvPr id="999" name="Google Shape;999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3" name="Google Shape;1073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Набор Silver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второй леджер: те же строки на тех же местах — загорается ещё пять. «Добавляем договоры, обновления, куратора, чат и доску». Итог $12.390.</a:t>
            </a:r>
            <a:endParaRPr/>
          </a:p>
        </p:txBody>
      </p:sp>
      <p:sp>
        <p:nvSpPr>
          <p:cNvPr id="1074" name="Google Shape;1074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8" name="Google Shape;1148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Набор Bronze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леджер — база. Семь строк горят, остальные погашены: это не «вычеркнули», а «пока нет». Идти сверху вниз. Итог $6.060.</a:t>
            </a:r>
            <a:endParaRPr/>
          </a:p>
        </p:txBody>
      </p:sp>
      <p:sp>
        <p:nvSpPr>
          <p:cNvPr id="1149" name="Google Shape;1149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3" name="Google Shape;1223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Агенты по наборам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единственная задача слайда — показать разницу наборов по агентам. Блоки и потолок дохода убраны, мелкого шрифта нет. Идти слева направо: «Bronze — один агент, сайты. Silver — плюс дизайн, видео и контент-завод. Gold — плюс реклама, поиск и продавец». Дать чипам догореть. ~25 сек.</a:t>
            </a:r>
            <a:endParaRPr/>
          </a:p>
        </p:txBody>
      </p:sp>
      <p:sp>
        <p:nvSpPr>
          <p:cNvPr id="1224" name="Google Shape;1224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8" name="Google Shape;1258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 набора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зритель узнаёт о существовании наборов ДО цены. Суммы потенциала не показываем — рядом с ценностью их читают как прайс, проговариваем голосом. Trial close: «сам, с куратором или агентство?»</a:t>
            </a:r>
            <a:endParaRPr/>
          </a:p>
        </p:txBody>
      </p:sp>
      <p:sp>
        <p:nvSpPr>
          <p:cNvPr id="1259" name="Google Shape;1259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6" name="Google Shape;1296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Кому подходит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честная отсечка поднимает ценность и отсекает будущие разочарования. прямо, без заигрывания: «скажу, кому не надо нажимать кнопку».</a:t>
            </a:r>
            <a:endParaRPr/>
          </a:p>
        </p:txBody>
      </p:sp>
      <p:sp>
        <p:nvSpPr>
          <p:cNvPr id="1297" name="Google Shape;1297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1" name="Google Shape;1311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клиент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if-all №2. Тихо. «Первые $250 важны не суммой. Это месяц, когда вы ничего не берёте у своих».</a:t>
            </a:r>
            <a:endParaRPr/>
          </a:p>
        </p:txBody>
      </p:sp>
      <p:sp>
        <p:nvSpPr>
          <p:cNvPr id="1312" name="Google Shape;1312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9" name="Google Shape;1319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If-all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if-all №3 — третий угол: страх «не потяну» (Секрет 2). Спросить «сколько бы это стоило именно для вас?» и ЗАМОЛЧАТЬ на 3 секунды. Не отвечать за зал: цифру он напишет на следующем слайде.</a:t>
            </a:r>
            <a:endParaRPr/>
          </a:p>
        </p:txBody>
      </p:sp>
      <p:sp>
        <p:nvSpPr>
          <p:cNvPr id="1320" name="Google Shape;1320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8" name="Google Shape;1328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Анкоринг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социальный анкоринг — зал сам ставит якорь сверху. дать 10–15 секунд, читать цифры вслух. «Вижу ваши ответы». ---</a:t>
            </a:r>
            <a:endParaRPr/>
          </a:p>
        </p:txBody>
      </p:sp>
      <p:sp>
        <p:nvSpPr>
          <p:cNvPr id="1329" name="Google Shape;1329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9" name="Google Shape;1339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Два пути автора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логика цены до её появления. не извиняться за цену. Ровно.</a:t>
            </a:r>
            <a:endParaRPr/>
          </a:p>
        </p:txBody>
      </p:sp>
      <p:sp>
        <p:nvSpPr>
          <p:cNvPr id="1340" name="Google Shape;1340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3" name="Google Shape;1353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Почему не сам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самая частая скрытая объекция к автору. Проговорить её самому — до того, как её напишут в чат. «Вы спросите: если у меня есть система по зарабатыванию денег, почему я не пользуюсь ей сам? Пользуюсь. Я и всё моё сообщество каждый день разрабатываем новые связки и улучшаем существующие». Пауза — и на следующий слайд.</a:t>
            </a:r>
            <a:endParaRPr/>
          </a:p>
        </p:txBody>
      </p:sp>
      <p:sp>
        <p:nvSpPr>
          <p:cNvPr id="1354" name="Google Shape;1354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2" name="Google Shape;1362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Почему не сам · зачем мне это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вторая половина ответа, отдельным тактом. Без спешки: «мне интереснее дать каждому заработать на моём инструменте — чтобы вы пришли, дальше пользовались моими агентами и оставались моими клиентами. Мне интересно строить свою систему». Это последний слайд перед витриной цен — закончить спокойно и сразу переходить к цене.</a:t>
            </a:r>
            <a:endParaRPr/>
          </a:p>
        </p:txBody>
      </p:sp>
      <p:sp>
        <p:nvSpPr>
          <p:cNvPr id="1363" name="Google Shape;1363;p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1" name="Google Shape;1371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Bronze: описание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идёт сразу за своим набором: для кого он и что человек уносит. помочь выбрать за три секунды: блоки — что внутри, чипы — какие агенты, внизу потолок дохода. Потолок дохода проговорить голосом, на слайде его нет.</a:t>
            </a:r>
            <a:endParaRPr/>
          </a:p>
        </p:txBody>
      </p:sp>
      <p:sp>
        <p:nvSpPr>
          <p:cNvPr id="1372" name="Google Shape;1372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3" name="Google Shape;1383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Silver: описание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идёт сразу за своим набором: для кого он и что человек уносит. помочь выбрать за три секунды: блоки — что внутри, чипы — какие агенты, внизу потолок дохода. Потолок дохода проговорить голосом, на слайде его нет.</a:t>
            </a:r>
            <a:endParaRPr/>
          </a:p>
        </p:txBody>
      </p:sp>
      <p:sp>
        <p:nvSpPr>
          <p:cNvPr id="1384" name="Google Shape;1384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9" name="Google Shape;1399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Gold: описание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идёт сразу за своим набором: для кого он и что человек уносит. помочь выбрать за три секунды: блоки — что внутри, чипы — какие агенты, внизу потолок дохода. Потолок дохода проговорить голосом, на слайде его нет.</a:t>
            </a:r>
            <a:endParaRPr/>
          </a:p>
        </p:txBody>
      </p:sp>
      <p:sp>
        <p:nvSpPr>
          <p:cNvPr id="1400" name="Google Shape;1400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1" name="Google Shape;1421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Стек целиком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собрать всё на один экран: сумма набегает от нуля до $21.350 за 2,5 секунды — дать ей повиснуть. Слева шесть групп: система и агенты, базы, продажи, поиск клиентов, инструменты, люди. Цену не называть. В конце — 5 секунд тишины.</a:t>
            </a:r>
            <a:endParaRPr/>
          </a:p>
        </p:txBody>
      </p:sp>
      <p:sp>
        <p:nvSpPr>
          <p:cNvPr id="1422" name="Google Shape;1422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1" name="Google Shape;1501;p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Витрина цен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кульминация. Цена одной витриной, а не по одной на трёх слайдах. «вы видели ценность каждого набора. Вот цены для тех, кто сегодня в эфире». Пауза после $749. Ровным голосом, никаких извинений.</a:t>
            </a:r>
            <a:endParaRPr/>
          </a:p>
        </p:txBody>
      </p:sp>
      <p:sp>
        <p:nvSpPr>
          <p:cNvPr id="1502" name="Google Shape;1502;p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409daef6479_1_1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0" name="Google Shape;1520;g409daef6479_1_1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Витрина цен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кульминация. Цена одной витриной, а не по одной на трёх слайдах. «вы видели ценность каждого набора. Вот цены для тех, кто сегодня в эфире». Пауза после $749. Ровным голосом, никаких извинений.</a:t>
            </a:r>
            <a:endParaRPr/>
          </a:p>
        </p:txBody>
      </p:sp>
      <p:sp>
        <p:nvSpPr>
          <p:cNvPr id="1521" name="Google Shape;1521;g409daef6479_1_1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2" name="Google Shape;1542;p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Главная арифметика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самый важный логический слайд продажи. Здесь заканчивается вопрос «дорого». «вернитесь к слайду про первый сайт: $250. Две сделки — и вход отбит. А правило тридцати даёт три-четыре ответа в день». 10 секунд тишины.</a:t>
            </a:r>
            <a:endParaRPr/>
          </a:p>
        </p:txBody>
      </p:sp>
      <p:sp>
        <p:nvSpPr>
          <p:cNvPr id="1543" name="Google Shape;1543;p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409daef6479_1_5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2" name="Google Shape;1552;g409daef6479_1_5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Главная арифметика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самый важный логический слайд продажи. Здесь заканчивается вопрос «дорого». «вернитесь к слайду про первый сайт: $250. Две сделки — и вход отбит. А правило тридцати даёт три-четыре ответа в день». 10 секунд тишины.</a:t>
            </a:r>
            <a:endParaRPr/>
          </a:p>
        </p:txBody>
      </p:sp>
      <p:sp>
        <p:nvSpPr>
          <p:cNvPr id="1553" name="Google Shape;1553;g409daef6479_1_5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3" name="Google Shape;1563;p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Эти деньги и так уйдут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бытовой уровень цены. тепло, без давления. Пауза 2 секунды.</a:t>
            </a:r>
            <a:endParaRPr/>
          </a:p>
        </p:txBody>
      </p:sp>
      <p:sp>
        <p:nvSpPr>
          <p:cNvPr id="1564" name="Google Shape;1564;p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9" name="Google Shape;1579;p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Бронь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drop до решения. Меняет предмет покупки: сегодня покупается решение, не набор. Пройтись голосом по всем трём: «ни полторы тысячи, ни семьсот сорок девять, ни даже четыреста девяносто». Пауза перед десяткой. «единственное решение вечера: идёте вы или нет». Пауза.</a:t>
            </a:r>
            <a:endParaRPr/>
          </a:p>
        </p:txBody>
      </p:sp>
      <p:sp>
        <p:nvSpPr>
          <p:cNvPr id="1580" name="Google Shape;1580;p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9" name="Google Shape;1589;p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фиксирует десятка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снять риск до нуля. «возвращается без единого вопроса» — произнести ГРОМКО. Это главный аргумент, а не мелкий шрифт.</a:t>
            </a:r>
            <a:endParaRPr/>
          </a:p>
        </p:txBody>
      </p:sp>
      <p:sp>
        <p:nvSpPr>
          <p:cNvPr id="1590" name="Google Shape;1590;p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5" name="Google Shape;1605;p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Путь оплаты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зеркальные нейроны. Техническая неопределённость — тихий убийца конверсии на последнем метре. пройти клики вживую на экране. Сказать, что придёт после оплаты. `[НУЖНО: платёжка под европейские карты]`</a:t>
            </a:r>
            <a:endParaRPr/>
          </a:p>
        </p:txBody>
      </p:sp>
      <p:sp>
        <p:nvSpPr>
          <p:cNvPr id="1606" name="Google Shape;1606;p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7" name="Google Shape;1617;p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брони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конкретика по срокам снимает страх неизвестности. читать по пунктам, не торопясь. «Ни одного дня вы не один».</a:t>
            </a:r>
            <a:endParaRPr/>
          </a:p>
        </p:txBody>
      </p:sp>
      <p:sp>
        <p:nvSpPr>
          <p:cNvPr id="1618" name="Google Shape;1618;p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6" name="Google Shape;1636;p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выбирайте набор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одно решение за раз конвертит выше. «не ломайте голову между Bronze и Silver — это нормально решить завтра, на спокойную голову, с человеком, который разберёт вашу ситуацию».</a:t>
            </a:r>
            <a:endParaRPr/>
          </a:p>
        </p:txBody>
      </p:sp>
      <p:sp>
        <p:nvSpPr>
          <p:cNvPr id="1637" name="Google Shape;1637;p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4" name="Google Shape;1644;p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полный призыв. С этого слайда кнопка не исчезает до конца эфира. ~60 сек, прямой взгляд в камеру. «Если сегодняшние два часа что-то в вас сдвинули — нажмите сейчас, пока это чувство живо». Дальше читать брони по именам. `[НУЖНО: CTA_URL]` ---</a:t>
            </a:r>
            <a:endParaRPr/>
          </a:p>
        </p:txBody>
      </p:sp>
      <p:sp>
        <p:nvSpPr>
          <p:cNvPr id="1645" name="Google Shape;1645;p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4" name="Google Shape;1654;p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Гарантия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перенести риск на себя. Одна карточка, как сертификат — референс сл. 139. гордо, не мелким шрифтом. «Вы рискуете десяткой, которая возвращается. Мы — сотнями часов команды и репутацией».</a:t>
            </a:r>
            <a:endParaRPr/>
          </a:p>
        </p:txBody>
      </p:sp>
      <p:sp>
        <p:nvSpPr>
          <p:cNvPr id="1655" name="Google Shape;1655;p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6" name="Google Shape;1666;p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Fast-action у кнопки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повтор fast-action в момент решения (канон 68): готовый охотник первым 20 на Silver и Gold. Честный лимит по людям, без таймера. Прочитать «20» из чата по именам. Напомнить, что вживую его уже видели.</a:t>
            </a:r>
            <a:endParaRPr/>
          </a:p>
        </p:txBody>
      </p:sp>
      <p:sp>
        <p:nvSpPr>
          <p:cNvPr id="1667" name="Google Shape;1667;p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7" name="Google Shape;1697;p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 Аня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доказать, что система вытаскивает того, кто пришёл без направления. Аня пришла на стратсессию «в депрессионной Германии, непонятно что» — вышла с фирмой. факты из базы кейсов (10-kejsy, видео 05): 8+ лет в digital, украинка в Германии с 2022. Клиент Артём — за 3 недели 73 цитирования нейронками, «с ИИ покупают на 40% больше, чем через платную рекламу», клиент продлил и заплатил. Контент-SEO-завод: в 21:00 четыре единицы контента, Threads-пост 112 лайков. Работала по 12 часов «и не сгорела». Сейчас — 4 клиента по $500 на AI-SEO (цифра Влада, 08.09). `[НУЖНО ОТ ВЛАДА]` возраст и есть ли дети — в базе кейсов этого нет.</a:t>
            </a:r>
            <a:endParaRPr/>
          </a:p>
        </p:txBody>
      </p:sp>
      <p:sp>
        <p:nvSpPr>
          <p:cNvPr id="1698" name="Google Shape;1698;p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0" name="Google Shape;1710;p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~20 сек. «Посчитайте риски ещё раз: ваши — десять долларов, которые возвращаются».</a:t>
            </a:r>
            <a:endParaRPr/>
          </a:p>
        </p:txBody>
      </p:sp>
      <p:sp>
        <p:nvSpPr>
          <p:cNvPr id="1711" name="Google Shape;1711;p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0" name="Google Shape;1720;p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один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одиночество — главная причина, почему бросают. «главная причина, почему люди бросают, — не сложность. Застряли на кнопке, спросить некого, закинули». Trial close: «кому важно, чтобы рядом был куратор, — плюс в чат».</a:t>
            </a:r>
            <a:endParaRPr/>
          </a:p>
        </p:txBody>
      </p:sp>
      <p:sp>
        <p:nvSpPr>
          <p:cNvPr id="1721" name="Google Shape;1721;p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3" name="Google Shape;1733;p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 Антон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доказать, что сопровождение вытягивает даже полный ноль в теме. цитату прочитать дословно, медленно. Одна мысль: он не стал специалистом, он взял готовое и пошёл.</a:t>
            </a:r>
            <a:endParaRPr/>
          </a:p>
        </p:txBody>
      </p:sp>
      <p:sp>
        <p:nvSpPr>
          <p:cNvPr id="1734" name="Google Shape;1734;p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6" name="Google Shape;1746;p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ещё одна информация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закрывание «поучусь сам». спокойно, почти сочувственно — зал узнаёт себя. Не обесценивать самообучение, а перенаправить.</a:t>
            </a:r>
            <a:endParaRPr/>
          </a:p>
        </p:txBody>
      </p:sp>
      <p:sp>
        <p:nvSpPr>
          <p:cNvPr id="1747" name="Google Shape;1747;p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p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 Юра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доказать, что результат появляется раньше, чем успеваешь бросить. цитата дословно. «Четыре дня. Не четыре месяца».</a:t>
            </a:r>
            <a:endParaRPr/>
          </a:p>
        </p:txBody>
      </p:sp>
      <p:sp>
        <p:nvSpPr>
          <p:cNvPr id="1756" name="Google Shape;1756;p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7" name="Google Shape;1767;p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коротко, на эмоции после кейса.</a:t>
            </a:r>
            <a:endParaRPr/>
          </a:p>
        </p:txBody>
      </p:sp>
      <p:sp>
        <p:nvSpPr>
          <p:cNvPr id="1768" name="Google Shape;1768;p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6" name="Google Shape;1776;p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Окупаемость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 после кнопки: арифметика окупаемости. Счёт должен сходиться на калькуляторе: четыре сайта — тысяча, двенадцать — три тысячи. Обязательно проговорить, что на старте считаем ТОЛЬКО по сайтам, дальше услуг семь. Спросить «сколько бы это стоило» и МОЛЧАТЬ три секунды.</a:t>
            </a:r>
            <a:endParaRPr/>
          </a:p>
        </p:txBody>
      </p:sp>
      <p:sp>
        <p:nvSpPr>
          <p:cNvPr id="1777" name="Google Shape;1777;p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0" name="Google Shape;1790;p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Я не особенный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закрывание «неохотный герой». Снимает «у него получилось, потому что он такой». буднично, без героизма. Trial close: «кто узнал себя — напишите "я"».</a:t>
            </a:r>
            <a:endParaRPr/>
          </a:p>
        </p:txBody>
      </p:sp>
      <p:sp>
        <p:nvSpPr>
          <p:cNvPr id="1791" name="Google Shape;1791;p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9" name="Google Shape;1799;p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Сценарий 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закрывание «два пути» (канон 70): путь 1 — ничего не менять → последствие. Спокойная арифметика, без катастрофы и стыда. Ровным голосом, как прогноз погоды. Дальше сразу Сценарий Б.</a:t>
            </a:r>
            <a:endParaRPr/>
          </a:p>
        </p:txBody>
      </p:sp>
      <p:sp>
        <p:nvSpPr>
          <p:cNvPr id="1800" name="Google Shape;1800;p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2" name="Google Shape;1812;p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Сценарий 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«вторая история стоит десять долларов и начинается сегодня».</a:t>
            </a:r>
            <a:endParaRPr/>
          </a:p>
        </p:txBody>
      </p:sp>
      <p:sp>
        <p:nvSpPr>
          <p:cNvPr id="1813" name="Google Shape;1813;p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5" name="Google Shape;1825;p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Саша и Наталья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⚠️ ПЕРЕД ЭФИРОМ: правая колонка — выдуманный пример, заменить на реального человека 45+. снять и «мне рано», и «мне поздно» одним экраном. «Саше не мешал опыт. Наталье он помог: молодой быстрее нажимает кнопки, вы быстрее понимаете, что клиенту на самом деле нужно». Trial close: «кто узнал себя в Наталье — плюс в чат».</a:t>
            </a:r>
            <a:endParaRPr/>
          </a:p>
        </p:txBody>
      </p:sp>
      <p:sp>
        <p:nvSpPr>
          <p:cNvPr id="1826" name="Google Shape;1826;p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2" name="Google Shape;1842;p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эмоции после кейсов. Trial close: «кто начинает сегодня — напишите „начинаю“ в чат» — читать вслух по именам. Озвучить брони.</a:t>
            </a:r>
            <a:endParaRPr/>
          </a:p>
        </p:txBody>
      </p:sp>
      <p:sp>
        <p:nvSpPr>
          <p:cNvPr id="1843" name="Google Shape;1843;p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2" name="Google Shape;1852;p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 ключ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 после кнопки, для владельцев бизнеса. Ответ тому, кто думает «мне некогда учиться». Спокойно, без напора: «есть второй путь — мы приходим и ставим». Цена называется ровно: от десяти тысяч долларов. Путь один и тот же для всех: бронь $10 даёт бесплатный созвон без очереди. ~40 сек.</a:t>
            </a:r>
            <a:endParaRPr/>
          </a:p>
        </p:txBody>
      </p:sp>
      <p:sp>
        <p:nvSpPr>
          <p:cNvPr id="1853" name="Google Shape;1853;p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409daef6479_1_1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6" name="Google Shape;1866;g409daef6479_1_1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 ключ · что уже поставили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дожима, сразу за «Под ключ»: доказательство, что мы не только учим, но и внедряем сами. Назвать три ниши вслух — клиника, стройка в Германии, сервис аналитики. Цифры выручки НЕ называть, пока клиенты не дали согласие. «Это не ученики. Это компании, куда мы зашли сами». ~25 сек.</a:t>
            </a:r>
            <a:endParaRPr/>
          </a:p>
        </p:txBody>
      </p:sp>
      <p:sp>
        <p:nvSpPr>
          <p:cNvPr id="1867" name="Google Shape;1867;g409daef6479_1_1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409daef6479_1_1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7" name="Google Shape;1887;g409daef6479_1_1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 ключ · что уже поставили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дожима, сразу за «Под ключ»: доказательство, что мы не только учим, но и внедряем сами. Назвать три ниши вслух — клиника, стройка в Германии, сервис аналитики. Цифры выручки НЕ называть, пока клиенты не дали согласие. «Это не ученики. Это компании, куда мы зашли сами». ~25 сек.</a:t>
            </a:r>
            <a:endParaRPr/>
          </a:p>
        </p:txBody>
      </p:sp>
      <p:sp>
        <p:nvSpPr>
          <p:cNvPr id="1888" name="Google Shape;1888;g409daef6479_1_1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9" name="Google Shape;1909;p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 ключ · что уже поставили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дожима, сразу за «Под ключ»: доказательство, что мы не только учим, но и внедряем сами. Назвать три ниши вслух — клиника, стройка в Германии, сервис аналитики. Цифры выручки НЕ называть, пока клиенты не дали согласие. «Это не ученики. Это компании, куда мы зашли сами». ~25 сек.</a:t>
            </a:r>
            <a:endParaRPr/>
          </a:p>
        </p:txBody>
      </p:sp>
      <p:sp>
        <p:nvSpPr>
          <p:cNvPr id="1910" name="Google Shape;1910;p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0" name="Google Shape;1930;p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Кейсы внедрения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 после кнопки: по одному кейсу на каждую услугу из прайса. Суммы набегают счётчиками — дать досчитать. Не зачитывать все шесть: назвать сайты (сын, четырнадцать лет, триста долларов за выходные) и внедрение (Юрий, почти семь тысяч евро за девяносто дней), остальное — «дальше по экрану». Обязательно: «это их деньги, не мои». 30 сек.</a:t>
            </a:r>
            <a:endParaRPr/>
          </a:p>
        </p:txBody>
      </p:sp>
      <p:sp>
        <p:nvSpPr>
          <p:cNvPr id="1931" name="Google Shape;1931;p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0" name="Google Shape;1970;p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 кем работали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блок дожима. Не зачитывать все девять — назвать три: «бренд украшений с двумястами семьюдесятью тысячами подписчиков, клиника, стройка в Германии». Доказательства под брендами — подтверждённые, их можно называть вслух. Смысл один: ниша не имеет значения. ~25 сек.</a:t>
            </a:r>
            <a:endParaRPr/>
          </a:p>
        </p:txBody>
      </p:sp>
      <p:sp>
        <p:nvSpPr>
          <p:cNvPr id="1971" name="Google Shape;1971;p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3" name="Google Shape;2003;p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Половина результата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классический if-all — самая скромная математика. «забудьте про 96 ассистентов, охотника и куратора. Представьте, что всё, что вы отсюда вынесли, — один заказ. Он уже окупает половину входа». Вторая половина карточки 75 — «попрощаться с болью». Trial close: «кому хватит и одного клиента — напишите "один"».</a:t>
            </a:r>
            <a:endParaRPr/>
          </a:p>
        </p:txBody>
      </p:sp>
      <p:sp>
        <p:nvSpPr>
          <p:cNvPr id="2004" name="Google Shape;2004;p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4" name="Google Shape;2014;p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одно предложение: «если даже самая скромная математика устраивает — тем более нажимайте. Всё, что сверху, — подарок».</a:t>
            </a:r>
            <a:endParaRPr/>
          </a:p>
        </p:txBody>
      </p:sp>
      <p:sp>
        <p:nvSpPr>
          <p:cNvPr id="2015" name="Google Shape;2015;p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4" name="Google Shape;2024;p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Сравнить наборы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последний пакетный блок дожима: «выбирайте глазами». Пройтись только по строкам с различиями — реклама, продавец, связки, страт-сессии. Потолок дохода в таблице не показываем, проговариваем голосом. ~35 сек.</a:t>
            </a:r>
            <a:endParaRPr/>
          </a:p>
        </p:txBody>
      </p:sp>
      <p:sp>
        <p:nvSpPr>
          <p:cNvPr id="2025" name="Google Shape;2025;p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1" name="Google Shape;2071;p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Пять задач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закрытие петли «покажу в конце». Вау-момент, не обучение. пять артефактов бегло, без углубления. 🖼 5 готовых артефактов на экран. Trial close: «помните, что написали в начале? Напишите ту же цифру — сколько из пяти закрыто».</a:t>
            </a:r>
            <a:endParaRPr/>
          </a:p>
        </p:txBody>
      </p:sp>
      <p:sp>
        <p:nvSpPr>
          <p:cNvPr id="2072" name="Google Shape;2072;p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9" name="Google Shape;2089;p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Подарки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выполнить обещание. Последний эмоциональный пик щедрости. открывать по одному, с коротким комментарием. Ссылка в чат, попросить написать «забрал».</a:t>
            </a:r>
            <a:endParaRPr/>
          </a:p>
        </p:txBody>
      </p:sp>
      <p:sp>
        <p:nvSpPr>
          <p:cNvPr id="2090" name="Google Shape;2090;p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2" name="Google Shape;2102;p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Карта не путешествие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закрыть риск «наелся подарками». «подарки разогревают аппетит. Кормит система».</a:t>
            </a:r>
            <a:endParaRPr/>
          </a:p>
        </p:txBody>
      </p:sp>
      <p:sp>
        <p:nvSpPr>
          <p:cNvPr id="2103" name="Google Shape;2103;p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9" name="Google Shape;2119;p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Легализация QA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«за сотни разговоров я знаю эти вопросы наизусть и уважаю каждый».</a:t>
            </a:r>
            <a:endParaRPr/>
          </a:p>
        </p:txBody>
      </p:sp>
      <p:sp>
        <p:nvSpPr>
          <p:cNvPr id="2120" name="Google Shape;2120;p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7" name="Google Shape;2127;p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Экран Q&amp;A · старт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оффер ДО ответов, чтобы стек и цена были перед глазами (канон 76). Ответы идут слайдами — после каждого третьего ответа возвращаться сюда клавишей назад.</a:t>
            </a:r>
            <a:endParaRPr/>
          </a:p>
        </p:txBody>
      </p:sp>
      <p:sp>
        <p:nvSpPr>
          <p:cNvPr id="2128" name="Google Shape;2128;p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2" name="Google Shape;2142;p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логика → кейс (Наталья: $300 на пятый день) → микро-CTA.</a:t>
            </a:r>
            <a:endParaRPr/>
          </a:p>
        </p:txBody>
      </p:sp>
      <p:sp>
        <p:nvSpPr>
          <p:cNvPr id="2143" name="Google Shape;2143;p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0" name="Google Shape;2150;p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«час подряд каждый день — этих трёх условий нет ни у кого из вас. Если вам такое обещают — закрывайте». Кейс: Юра — 4 дня.</a:t>
            </a:r>
            <a:endParaRPr/>
          </a:p>
        </p:txBody>
      </p:sp>
      <p:sp>
        <p:nvSpPr>
          <p:cNvPr id="2151" name="Google Shape;2151;p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8" name="Google Shape;2168;p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 Антона — «в сайтах и SEO полный ноль». 60% из 340 участников до этого не заработали онлайн ни доллара.</a:t>
            </a:r>
            <a:endParaRPr/>
          </a:p>
        </p:txBody>
      </p:sp>
      <p:sp>
        <p:nvSpPr>
          <p:cNvPr id="2169" name="Google Shape;2169;p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6" name="Google Shape;2176;p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дословно из Домино: «агент умеет делать. Но он не знает, кому и зачем. Ремесло отдаём агенту, понимание остаётся вашим». Кейс Натальи.</a:t>
            </a:r>
            <a:endParaRPr/>
          </a:p>
        </p:txBody>
      </p:sp>
      <p:sp>
        <p:nvSpPr>
          <p:cNvPr id="2177" name="Google Shape;2177;p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7" name="Google Shape;2187;p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правило тридцати. Проверено живой рассылкой: 24 сообщения — 3 ответа.</a:t>
            </a:r>
            <a:endParaRPr/>
          </a:p>
        </p:txBody>
      </p:sp>
      <p:sp>
        <p:nvSpPr>
          <p:cNvPr id="2188" name="Google Shape;2188;p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8" name="Google Shape;2198;p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«и главное — вы показываете демо ДО оплаты. Ситуация "заплатил и разочаровался" просто не возникает».</a:t>
            </a:r>
            <a:endParaRPr/>
          </a:p>
        </p:txBody>
      </p:sp>
      <p:sp>
        <p:nvSpPr>
          <p:cNvPr id="2199" name="Google Shape;2199;p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3" name="Google Shape;2213;p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дословно: «загуглите меня со словом развод — я не мешаю».</a:t>
            </a:r>
            <a:endParaRPr/>
          </a:p>
        </p:txBody>
      </p:sp>
      <p:sp>
        <p:nvSpPr>
          <p:cNvPr id="2214" name="Google Shape;2214;p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1" name="Google Shape;2221;p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честно и прямо. Дальше — потенциал по наборам, но со словом «потенциал».</a:t>
            </a:r>
            <a:endParaRPr/>
          </a:p>
        </p:txBody>
      </p:sp>
      <p:sp>
        <p:nvSpPr>
          <p:cNvPr id="2222" name="Google Shape;2222;p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1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9" name="Google Shape;2229;p1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мягко, без вины: «"с понедельника" — это то, что вы обещаете себе не первый год. Как оно?»</a:t>
            </a:r>
            <a:endParaRPr/>
          </a:p>
        </p:txBody>
      </p:sp>
      <p:sp>
        <p:nvSpPr>
          <p:cNvPr id="2230" name="Google Shape;2230;p1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1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7" name="Google Shape;2237;p1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 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самое глубокое, отвечать тепло. «Этот вопрос задавал себе каждый из сегодняшних кейсов. Подросток. Бухгалтер, которую не брали на работу. Человек, который два с половиной месяца назад спрашивал у ChatGPT рецепт ужина». ---</a:t>
            </a:r>
            <a:endParaRPr/>
          </a:p>
        </p:txBody>
      </p:sp>
      <p:sp>
        <p:nvSpPr>
          <p:cNvPr id="2238" name="Google Shape;2238;p1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5" name="Google Shape;2245;p1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Финал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закольцовка на большую идею — работу делает агент, а не вы. пауза. Дальше — личное: «я начал с $600 в месяц и вопроса "как заработать завтра". Разница между мной тогда и вами сейчас в том, что вам не надо изобретать — агенты уже собраны». Кнопка на экране, дедлайн условий. «Дальше отвечаю на ваши вопросы — кнопка никуда не денется».</a:t>
            </a:r>
            <a:endParaRPr/>
          </a:p>
        </p:txBody>
      </p:sp>
      <p:sp>
        <p:nvSpPr>
          <p:cNvPr id="2246" name="Google Shape;2246;p1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1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4" name="Google Shape;2254;p1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Цена ожидания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цена бездействия с видимым расчётом. посчитать вслух, спокойно, как арифметику. Пауза на финальной цифре.</a:t>
            </a:r>
            <a:endParaRPr/>
          </a:p>
        </p:txBody>
      </p:sp>
      <p:sp>
        <p:nvSpPr>
          <p:cNvPr id="2255" name="Google Shape;2255;p1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p10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5" name="Google Shape;2265;p1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Экран Q&amp;A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экран висит до конца эфира, кнопка на экране. ответы голосом, слайд не меняется. Каждый ответ заканчивается микро-CTA. ---</a:t>
            </a:r>
            <a:endParaRPr/>
          </a:p>
        </p:txBody>
      </p:sp>
      <p:sp>
        <p:nvSpPr>
          <p:cNvPr id="2266" name="Google Shape;2266;p1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4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0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6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0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5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8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4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9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7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0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9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5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9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4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8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7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0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6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3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3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8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9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9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9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2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6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2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74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9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75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4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78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3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94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7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6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97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5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8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91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1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96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91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9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91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95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43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9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69.jp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64779" y="2350701"/>
            <a:ext cx="5814441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Всё, что вы видели, — верхушка айсберга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78162" y="3451962"/>
            <a:ext cx="469092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СВЕРХУ — ТО, ЧТО ВИДНО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79310" y="3807822"/>
            <a:ext cx="1910483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Одна услуга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79310" y="4327173"/>
            <a:ext cx="1972385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Один клиент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78162" y="4928166"/>
            <a:ext cx="4682454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ПОД ВОДОЙ — ГДЕ ДЕНЬГИ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03944" y="5284027"/>
            <a:ext cx="5340055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Клиент продлевает каждый месяц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79310" y="5803378"/>
            <a:ext cx="3724228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Рекомендует знакомым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864180" y="6322729"/>
            <a:ext cx="5279819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Докупает вторую и третью услугу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І так, в цьому першому слайді треба зробити таку правку, що зверху одна послуга, один клієнт, а знизу…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0.jp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2628344" y="1198925"/>
            <a:ext cx="3887310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Два пути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12371" y="2369581"/>
            <a:ext cx="736018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САМ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231786" y="2786470"/>
            <a:ext cx="2813151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Собирать агентов по роликам из Ютуба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231786" y="3679439"/>
            <a:ext cx="3488836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Расходы на нейронки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231786" y="4251551"/>
            <a:ext cx="2850413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Тестировать на себе, что работает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962559" y="2369581"/>
            <a:ext cx="27135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 СИСТЕМОЙ «AI-ОПЕРАТОР»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181974" y="3002007"/>
            <a:ext cx="3336719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Агенты уже собраны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181974" y="3574120"/>
            <a:ext cx="3101187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Пошаговая инструкция применения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181974" y="4467088"/>
            <a:ext cx="329664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Развитие навыка работы с AI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181974" y="5360057"/>
            <a:ext cx="3277323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Умение создавать своих агентов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181974" y="6253026"/>
            <a:ext cx="254477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Куратор поможет с первым заказом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885266" y="7561149"/>
            <a:ext cx="5373365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 показать, как мы это делаем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1.jp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216124" y="549648"/>
            <a:ext cx="2711751" cy="25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ПРЕДЛОЖЕНИЕ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551505" y="966462"/>
            <a:ext cx="4040887" cy="49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AI-Оператор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645665" y="1595616"/>
            <a:ext cx="5852568" cy="689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Доступ к системе AI-агентов · инструкция, как ими управлять · навык работы с AI с нуля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707328" y="2444571"/>
            <a:ext cx="5729141" cy="615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Для тех, кто хочет получить первых клиентов, не осваивая профессию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546085" y="3367835"/>
            <a:ext cx="1549445" cy="200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AI-Оператор · рабочий стол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28" y="3740084"/>
            <a:ext cx="926405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ВАША КОМАНДА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703319" y="3720726"/>
            <a:ext cx="453878" cy="14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8 задач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68263" y="3944459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AI-Охотник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68263" y="4060610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ищет клиентов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68263" y="4260245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AI-Продавец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68263" y="4376397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ведёт до оплаты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600848" y="4574318"/>
            <a:ext cx="882251" cy="11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ДЕЛАЮТ УСЛУГИ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77039" y="4749655"/>
            <a:ext cx="2193287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77039" y="4865806"/>
            <a:ext cx="2193287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сайты под ключ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68263" y="5071895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AI-Дизайн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68263" y="5188046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КП, баннеры, макеты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68263" y="5387681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AI-Видео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68263" y="5503833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ролики с аватаром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68263" y="5703469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AI-Контент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68263" y="5819620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посты и рилз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68263" y="6019255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AI-Таргет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68263" y="6135407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реклама и связки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68263" y="6335043"/>
            <a:ext cx="221083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AI-Видимость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68263" y="6451194"/>
            <a:ext cx="2210839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выдача в нейросетях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935612" y="3720726"/>
            <a:ext cx="801212" cy="200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090092" y="3902011"/>
            <a:ext cx="2492353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Даёте задачу словами — собирает сайт под ключ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3343266" y="4183819"/>
            <a:ext cx="313200" cy="226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ЗАДАЧА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996834" y="4163856"/>
            <a:ext cx="2050607" cy="259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«собери сайт для студии маникюра, оффер — запись за 30 секунд»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806592" y="4595391"/>
            <a:ext cx="1520834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Изучил нишу и конкурентов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834979" y="4595391"/>
            <a:ext cx="260771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0:12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3731173" y="4749453"/>
            <a:ext cx="1671670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Собрал структуру и заголовки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834979" y="4749453"/>
            <a:ext cx="260771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0:34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771625" y="4903515"/>
            <a:ext cx="1590767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Подобрал дизайн и картинки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834979" y="4903515"/>
            <a:ext cx="260771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0:20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652723" y="5044671"/>
            <a:ext cx="1933027" cy="129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Верстает мобильную версию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800334" y="5286608"/>
            <a:ext cx="1660289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Подключит опросник и заявки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152279" y="3740084"/>
            <a:ext cx="553567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 ГЛАВЕ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638562" y="3720726"/>
            <a:ext cx="195738" cy="14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4F2EC"/>
                </a:solidFill>
                <a:latin typeface="Manrope"/>
                <a:ea typeface="Manrope"/>
                <a:cs typeface="Manrope"/>
                <a:sym typeface="Manrope"/>
              </a:rPr>
              <a:t>вы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368130" y="3980756"/>
            <a:ext cx="848518" cy="14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Ваш контроль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6388013" y="4103360"/>
            <a:ext cx="808754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на проверке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289612" y="4259741"/>
            <a:ext cx="676155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сделал агент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251282" y="4398276"/>
            <a:ext cx="965759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ждёт вашего слова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282534" y="4536811"/>
            <a:ext cx="729634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уйдёт клиенту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550723" y="4847960"/>
            <a:ext cx="1230957" cy="142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6130B"/>
                </a:solidFill>
                <a:latin typeface="Manrope"/>
                <a:ea typeface="Manrope"/>
                <a:cs typeface="Manrope"/>
                <a:sym typeface="Manrope"/>
              </a:rPr>
              <a:t>Отправить клиенту →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096472" y="5104058"/>
            <a:ext cx="975221" cy="122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ЛЕНТА СОБЫТИЙ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199353" y="5277479"/>
            <a:ext cx="359400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сейчас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419811" y="5277479"/>
            <a:ext cx="1193932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Сайт собран и ждёт вас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255725" y="5417829"/>
            <a:ext cx="246756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0:34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400120" y="5417829"/>
            <a:ext cx="1342711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Подобран дизайн и оффер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255725" y="5599039"/>
            <a:ext cx="246756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0:12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410846" y="5599039"/>
            <a:ext cx="1261672" cy="13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Задача принята в работу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899026" y="7593755"/>
            <a:ext cx="3345744" cy="1015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10 недель с кураторами, наставниками и мной — до первых продаж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2.jp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1037170" y="1653063"/>
            <a:ext cx="6899833" cy="264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Это доступ к AI-агентам и навык ими управлять, а не курс</a:t>
            </a:r>
            <a:endParaRPr sz="900"/>
          </a:p>
        </p:txBody>
      </p:sp>
      <p:sp>
        <p:nvSpPr>
          <p:cNvPr id="178" name="Google Shape;178;p16"/>
          <p:cNvSpPr txBox="1"/>
          <p:nvPr/>
        </p:nvSpPr>
        <p:spPr>
          <a:xfrm>
            <a:off x="1037170" y="4520190"/>
            <a:ext cx="56757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Одни только тесты моделей стоят нам до $250 в день. Счета за эксперименты — наши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3.jpg"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743558" y="1289140"/>
            <a:ext cx="5656780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Как это устроено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84256" y="2017395"/>
            <a:ext cx="2386265" cy="293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Урок + инструкция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818348" y="2017395"/>
            <a:ext cx="2057881" cy="293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Доступ к агенту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282421" y="2017395"/>
            <a:ext cx="1189732" cy="293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Домашка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3912039" y="2609101"/>
            <a:ext cx="1319920" cy="293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Куратор ✓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587518" y="3164273"/>
            <a:ext cx="5968860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И живые разборы: застряли в понедельник — в четверг вас вытащили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4.jpg"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510937" y="1039925"/>
            <a:ext cx="6122022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Инструкция + задание для тренировки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817833" y="2091485"/>
            <a:ext cx="5508231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 каждому уроку — воркшоп с пошаговой инструкцией и заданием на своём проекте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2064447" y="7881903"/>
            <a:ext cx="5015002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ai-marketolog-workshop-4.vercel.app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5.jp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998188" y="2471533"/>
            <a:ext cx="7147521" cy="133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Каждую неделю — живые Q&amp;A с разбором заданий на реальных проектах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6.jp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396398" y="1760628"/>
            <a:ext cx="835110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Я не только даю кнопку. Я учу, как она устроена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012371" y="3464514"/>
            <a:ext cx="2960312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ТОЛЬКО КНОПКА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1231786" y="3881403"/>
            <a:ext cx="3045254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Нажать и получить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231786" y="4453515"/>
            <a:ext cx="250385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Чужой инструмент навсегда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4962559" y="3464514"/>
            <a:ext cx="2145043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ПОНИМАНИЕ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181974" y="3881403"/>
            <a:ext cx="268753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Как устроен каждый агент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181974" y="4774372"/>
            <a:ext cx="296105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Адаптировать его под себя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181974" y="5667340"/>
            <a:ext cx="3666768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Собрать своего с нуля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7.jp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2327858" y="1537437"/>
            <a:ext cx="44882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1 · НЕДЕЛИ 1–2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78345" y="1959326"/>
            <a:ext cx="8187308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Фундамент: ставить задачу и получать готовый результат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02561" y="3295922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M0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278220" y="3119267"/>
            <a:ext cx="1078698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AI-стек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278220" y="3420427"/>
            <a:ext cx="6356018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30+ нейросетей и рабочее место, где они живут вместе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02561" y="4163887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M1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278220" y="3987233"/>
            <a:ext cx="2930333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Свои AI-помощники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278220" y="4288393"/>
            <a:ext cx="7756855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первого помощника собираете сами: запись звонка → список задач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902561" y="5031853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M2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278220" y="4855198"/>
            <a:ext cx="2168638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Deep Research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278220" y="5156358"/>
            <a:ext cx="6685929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глубокое исследование ниши: кто платит, за что и сколько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3203590" y="6636033"/>
            <a:ext cx="2969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957372" y="7017407"/>
            <a:ext cx="7461732" cy="5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Уверенно пользуетесь нейронками, ставите им задачи словами и собираете свои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8.jp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2327858" y="1844720"/>
            <a:ext cx="44882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2 · НЕДЕЛИ 3–4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315" y="2266609"/>
            <a:ext cx="6931266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Продукт и витрина: первая услуга в продаже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902561" y="3603205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M3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278220" y="3426550"/>
            <a:ext cx="1609164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Маркетинг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278220" y="3727710"/>
            <a:ext cx="7310358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разбор ниши, аудитория, конкуренты, цена и упаковка продукта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137139" y="3603205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02561" y="4588736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M4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278220" y="4294516"/>
            <a:ext cx="952812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Сайты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278220" y="4595676"/>
            <a:ext cx="5402732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который сам ведёт посетителя к заявке, опросник и подарок за контакт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137139" y="4588736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409814" y="5654278"/>
            <a:ext cx="38617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ВЫДАЁМ В ЭТОМ БЛОКЕ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280762" y="5572635"/>
            <a:ext cx="2238589" cy="3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16 задач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3203590" y="6328852"/>
            <a:ext cx="2969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088703" y="6710226"/>
            <a:ext cx="7199071" cy="5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Продукт с ценой и сайт, который принимает заявки, — первую услугу можно продавать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8.jp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2327858" y="1844720"/>
            <a:ext cx="4488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2 · НЕДЕЛИ 3–4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106315" y="2266609"/>
            <a:ext cx="69312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Продукт и витрина: первая услуга в продаже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02561" y="3603205"/>
            <a:ext cx="31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M3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278220" y="3426550"/>
            <a:ext cx="1609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Маркетинг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278220" y="3727710"/>
            <a:ext cx="7310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разбор ниши, аудитория, конкуренты, цена и упаковка продукта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137139" y="3603205"/>
            <a:ext cx="1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02561" y="4588736"/>
            <a:ext cx="31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M4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278220" y="4294516"/>
            <a:ext cx="95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Сайты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278220" y="4595676"/>
            <a:ext cx="5402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который сам ведёт посетителя к заявке, опросник и подарок за контакт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137139" y="4588736"/>
            <a:ext cx="18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409814" y="5654278"/>
            <a:ext cx="38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ВЫДАЁМ В ЭТОМ БЛОКЕ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280762" y="5572635"/>
            <a:ext cx="2238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16 задач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3203590" y="6328852"/>
            <a:ext cx="296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088703" y="6710226"/>
            <a:ext cx="719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Продукт с ценой и сайт, который принимает заявки, — первую услугу можно продавать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79.jp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0" y="2258037"/>
            <a:ext cx="9143999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ПЕРВЫЙ ГОТОВЫЙ АГЕНТ — ВАШ ПОСЛЕ БЛОКА 2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108373" y="2679926"/>
            <a:ext cx="6927151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Агент «AI-Сайты»: один агент, внутри — конвейер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691423" y="3668825"/>
            <a:ext cx="5761152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🤖 АГЕНТ AI-САЙТЫ · 8 ЗАДАЧ ВНУТРИ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58698" y="4708547"/>
            <a:ext cx="829148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Аналитик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03042" y="4892244"/>
            <a:ext cx="940460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ниша и боль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384402" y="4678692"/>
            <a:ext cx="1091269" cy="21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Маркетолог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367339" y="4870654"/>
            <a:ext cx="1125395" cy="345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стратегия, цена, тексты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2477034" y="4708547"/>
            <a:ext cx="10194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Архитектор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2590705" y="4892244"/>
            <a:ext cx="792090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структура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3615945" y="4708547"/>
            <a:ext cx="855241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Дизайнер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3818860" y="4892244"/>
            <a:ext cx="449411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стиль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4504511" y="4708547"/>
            <a:ext cx="1191536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Иллюстратор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4739488" y="4892244"/>
            <a:ext cx="721584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картинки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5601387" y="4708547"/>
            <a:ext cx="1111314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Разработчик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016160" y="4892244"/>
            <a:ext cx="281769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код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547065" y="4708547"/>
            <a:ext cx="139084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Конверсионщик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949321" y="4892244"/>
            <a:ext cx="529078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заявки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7743212" y="4708547"/>
            <a:ext cx="1054825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Публикация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032456" y="4892244"/>
            <a:ext cx="476337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 сеть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706447" y="5566818"/>
            <a:ext cx="2034009" cy="287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Задача словами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3345287" y="5566818"/>
            <a:ext cx="4406118" cy="287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сайт, который приводит клиентов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96901" y="945730"/>
            <a:ext cx="895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ПОСЛЕ БЛОКА 2 · УМЕЕТЕ, А НЕ «ПРОШЛИ»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3401775" y="2041075"/>
            <a:ext cx="5278200" cy="547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626700" y="476250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335" name="Google Shape;3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96901" y="945730"/>
            <a:ext cx="895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ПОСЛЕ БЛОКА 2 · УМЕЕТЕ, А НЕ «ПРОШЛИ»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24850" y="4762500"/>
            <a:ext cx="8077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5839675" y="184995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524850" y="184995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359" name="Google Shape;3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7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367" name="Google Shape;367;p27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524850" y="4762500"/>
            <a:ext cx="8077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2967888" y="184995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524850" y="184995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382" name="Google Shape;3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397" name="Google Shape;397;p28"/>
          <p:cNvSpPr/>
          <p:nvPr/>
        </p:nvSpPr>
        <p:spPr>
          <a:xfrm>
            <a:off x="652800" y="1732275"/>
            <a:ext cx="8077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5839663" y="476250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3265800" y="4890375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405" name="Google Shape;4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9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652800" y="1849950"/>
            <a:ext cx="8077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592138" y="4734875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5680400" y="4890375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0.jpg" id="428" name="Google Shape;4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0"/>
          <p:cNvSpPr txBox="1"/>
          <p:nvPr/>
        </p:nvSpPr>
        <p:spPr>
          <a:xfrm>
            <a:off x="1001414" y="1367619"/>
            <a:ext cx="714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вы умеете делать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875211" y="3552484"/>
            <a:ext cx="2369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Исследование ниши и аудитории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875211" y="4059078"/>
            <a:ext cx="2285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ДНК клиента на данных, не на догадках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3478189" y="3552484"/>
            <a:ext cx="183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Маркетинговая стратегия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3478189" y="4059078"/>
            <a:ext cx="1654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диагноз, развилки, упаковка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6081168" y="3552484"/>
            <a:ext cx="18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Предложение и цена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6081168" y="4059078"/>
            <a:ext cx="158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которого глупо отказаться</a:t>
            </a:r>
            <a:endParaRPr/>
          </a:p>
        </p:txBody>
      </p:sp>
      <p:sp>
        <p:nvSpPr>
          <p:cNvPr id="436" name="Google Shape;436;p30"/>
          <p:cNvSpPr txBox="1"/>
          <p:nvPr/>
        </p:nvSpPr>
        <p:spPr>
          <a:xfrm>
            <a:off x="875211" y="6290480"/>
            <a:ext cx="127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Тексты</a:t>
            </a:r>
            <a:endParaRPr/>
          </a:p>
        </p:txBody>
      </p:sp>
      <p:sp>
        <p:nvSpPr>
          <p:cNvPr id="437" name="Google Shape;437;p30"/>
          <p:cNvSpPr txBox="1"/>
          <p:nvPr/>
        </p:nvSpPr>
        <p:spPr>
          <a:xfrm>
            <a:off x="875211" y="6586843"/>
            <a:ext cx="1780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сайт, посты, письма, сценарии</a:t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3478189" y="6290480"/>
            <a:ext cx="1379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Дизайн</a:t>
            </a:r>
            <a:endParaRPr/>
          </a:p>
        </p:txBody>
      </p:sp>
      <p:sp>
        <p:nvSpPr>
          <p:cNvPr id="439" name="Google Shape;439;p30"/>
          <p:cNvSpPr txBox="1"/>
          <p:nvPr/>
        </p:nvSpPr>
        <p:spPr>
          <a:xfrm>
            <a:off x="3478189" y="6586843"/>
            <a:ext cx="242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презентации, коммерческие предложения, баннеры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6081168" y="6290480"/>
            <a:ext cx="12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Сайты</a:t>
            </a:r>
            <a:endParaRPr/>
          </a:p>
        </p:txBody>
      </p:sp>
      <p:sp>
        <p:nvSpPr>
          <p:cNvPr id="441" name="Google Shape;441;p30"/>
          <p:cNvSpPr txBox="1"/>
          <p:nvPr/>
        </p:nvSpPr>
        <p:spPr>
          <a:xfrm>
            <a:off x="6081168" y="6586843"/>
            <a:ext cx="2368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одностраничный · многостраничный · интернет-магазин</a:t>
            </a:r>
            <a:endParaRPr/>
          </a:p>
        </p:txBody>
      </p:sp>
      <p:sp>
        <p:nvSpPr>
          <p:cNvPr id="442" name="Google Shape;442;p30"/>
          <p:cNvSpPr txBox="1"/>
          <p:nvPr/>
        </p:nvSpPr>
        <p:spPr>
          <a:xfrm>
            <a:off x="1932819" y="7515327"/>
            <a:ext cx="5278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· один агент «AI-Сайты» делает услугу целиком</a:t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652800" y="1849950"/>
            <a:ext cx="8077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3053388" y="472690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339550" y="4726900"/>
            <a:ext cx="2851500" cy="31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1.jpg" id="451" name="Google Shape;4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 txBox="1"/>
          <p:nvPr/>
        </p:nvSpPr>
        <p:spPr>
          <a:xfrm>
            <a:off x="3029456" y="2504292"/>
            <a:ext cx="3085087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2 · ИТОГ</a:t>
            </a:r>
            <a:endParaRPr/>
          </a:p>
        </p:txBody>
      </p:sp>
      <p:sp>
        <p:nvSpPr>
          <p:cNvPr id="453" name="Google Shape;453;p31"/>
          <p:cNvSpPr txBox="1"/>
          <p:nvPr/>
        </p:nvSpPr>
        <p:spPr>
          <a:xfrm>
            <a:off x="385470" y="3017622"/>
            <a:ext cx="8372956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Первый блок — в цифрах</a:t>
            </a:r>
            <a:endParaRPr/>
          </a:p>
        </p:txBody>
      </p:sp>
      <p:sp>
        <p:nvSpPr>
          <p:cNvPr id="454" name="Google Shape;454;p31"/>
          <p:cNvSpPr txBox="1"/>
          <p:nvPr/>
        </p:nvSpPr>
        <p:spPr>
          <a:xfrm>
            <a:off x="1000172" y="4165100"/>
            <a:ext cx="831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 + 1</a:t>
            </a:r>
            <a:endParaRPr/>
          </a:p>
        </p:txBody>
      </p:sp>
      <p:sp>
        <p:nvSpPr>
          <p:cNvPr id="455" name="Google Shape;455;p31"/>
          <p:cNvSpPr txBox="1"/>
          <p:nvPr/>
        </p:nvSpPr>
        <p:spPr>
          <a:xfrm>
            <a:off x="851935" y="4519136"/>
            <a:ext cx="97932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модуля</a:t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2504555" y="4165100"/>
            <a:ext cx="749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16</a:t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2054293" y="4519136"/>
            <a:ext cx="1277188" cy="57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задач закрываете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3952738" y="4165112"/>
            <a:ext cx="182982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/>
          </a:p>
        </p:txBody>
      </p:sp>
      <p:sp>
        <p:nvSpPr>
          <p:cNvPr id="459" name="Google Shape;459;p31"/>
          <p:cNvSpPr txBox="1"/>
          <p:nvPr/>
        </p:nvSpPr>
        <p:spPr>
          <a:xfrm>
            <a:off x="3669419" y="4519136"/>
            <a:ext cx="749620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</a:t>
            </a:r>
            <a:endParaRPr/>
          </a:p>
        </p:txBody>
      </p:sp>
      <p:sp>
        <p:nvSpPr>
          <p:cNvPr id="460" name="Google Shape;460;p31"/>
          <p:cNvSpPr txBox="1"/>
          <p:nvPr/>
        </p:nvSpPr>
        <p:spPr>
          <a:xfrm>
            <a:off x="5248819" y="4165112"/>
            <a:ext cx="250745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6</a:t>
            </a:r>
            <a:endParaRPr/>
          </a:p>
        </p:txBody>
      </p:sp>
      <p:sp>
        <p:nvSpPr>
          <p:cNvPr id="461" name="Google Shape;461;p31"/>
          <p:cNvSpPr txBox="1"/>
          <p:nvPr/>
        </p:nvSpPr>
        <p:spPr>
          <a:xfrm>
            <a:off x="4882120" y="4519136"/>
            <a:ext cx="984041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умений</a:t>
            </a:r>
            <a:endParaRPr/>
          </a:p>
        </p:txBody>
      </p:sp>
      <p:sp>
        <p:nvSpPr>
          <p:cNvPr id="462" name="Google Shape;462;p31"/>
          <p:cNvSpPr txBox="1"/>
          <p:nvPr/>
        </p:nvSpPr>
        <p:spPr>
          <a:xfrm>
            <a:off x="5969317" y="4060609"/>
            <a:ext cx="2567667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$1.000–$3.000</a:t>
            </a:r>
            <a:endParaRPr/>
          </a:p>
        </p:txBody>
      </p:sp>
      <p:sp>
        <p:nvSpPr>
          <p:cNvPr id="463" name="Google Shape;463;p31"/>
          <p:cNvSpPr txBox="1"/>
          <p:nvPr/>
        </p:nvSpPr>
        <p:spPr>
          <a:xfrm>
            <a:off x="5991801" y="4401264"/>
            <a:ext cx="2522698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потенциал в месяц</a:t>
            </a:r>
            <a:endParaRPr/>
          </a:p>
        </p:txBody>
      </p:sp>
      <p:sp>
        <p:nvSpPr>
          <p:cNvPr id="464" name="Google Shape;464;p31"/>
          <p:cNvSpPr txBox="1"/>
          <p:nvPr/>
        </p:nvSpPr>
        <p:spPr>
          <a:xfrm>
            <a:off x="1742744" y="5611925"/>
            <a:ext cx="5658307" cy="104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Один агент оказывает услугу целиком. Сотрудники внутри — под каждую точечную задачу</a:t>
            </a:r>
            <a:endParaRPr/>
          </a:p>
        </p:txBody>
      </p:sp>
      <p:sp>
        <p:nvSpPr>
          <p:cNvPr id="465" name="Google Shape;465;p31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2.jpg" id="471" name="Google Shape;47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2"/>
          <p:cNvSpPr txBox="1"/>
          <p:nvPr/>
        </p:nvSpPr>
        <p:spPr>
          <a:xfrm>
            <a:off x="2327858" y="1410686"/>
            <a:ext cx="44882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3 · НЕДЕЛИ 5–6</a:t>
            </a:r>
            <a:endParaRPr/>
          </a:p>
        </p:txBody>
      </p:sp>
      <p:sp>
        <p:nvSpPr>
          <p:cNvPr id="473" name="Google Shape;473;p32"/>
          <p:cNvSpPr txBox="1"/>
          <p:nvPr/>
        </p:nvSpPr>
        <p:spPr>
          <a:xfrm>
            <a:off x="1590147" y="1832575"/>
            <a:ext cx="5963602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Контент-завод: месяц контента за день</a:t>
            </a:r>
            <a:endParaRPr/>
          </a:p>
        </p:txBody>
      </p:sp>
      <p:sp>
        <p:nvSpPr>
          <p:cNvPr id="474" name="Google Shape;474;p32"/>
          <p:cNvSpPr txBox="1"/>
          <p:nvPr/>
        </p:nvSpPr>
        <p:spPr>
          <a:xfrm>
            <a:off x="902561" y="3286737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M5</a:t>
            </a:r>
            <a:endParaRPr/>
          </a:p>
        </p:txBody>
      </p:sp>
      <p:sp>
        <p:nvSpPr>
          <p:cNvPr id="475" name="Google Shape;475;p32"/>
          <p:cNvSpPr txBox="1"/>
          <p:nvPr/>
        </p:nvSpPr>
        <p:spPr>
          <a:xfrm>
            <a:off x="1278220" y="2992516"/>
            <a:ext cx="3302020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16 форматов контента</a:t>
            </a:r>
            <a:endParaRPr/>
          </a:p>
        </p:txBody>
      </p:sp>
      <p:sp>
        <p:nvSpPr>
          <p:cNvPr id="476" name="Google Shape;476;p32"/>
          <p:cNvSpPr txBox="1"/>
          <p:nvPr/>
        </p:nvSpPr>
        <p:spPr>
          <a:xfrm>
            <a:off x="1278220" y="3293676"/>
            <a:ext cx="5186362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Reels, сторис, посты, Telegram, Threads, Shorts, статьи, карусели</a:t>
            </a: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8137139" y="3286737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478" name="Google Shape;478;p32"/>
          <p:cNvSpPr txBox="1"/>
          <p:nvPr/>
        </p:nvSpPr>
        <p:spPr>
          <a:xfrm>
            <a:off x="902561" y="4272268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M6</a:t>
            </a:r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1278220" y="4095613"/>
            <a:ext cx="4002092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Видео, фото, голос, аватар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1278220" y="4396774"/>
            <a:ext cx="6567539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сценарий, съёмка без камеры, клон вашего голоса и лица</a:t>
            </a:r>
            <a:endParaRPr/>
          </a:p>
        </p:txBody>
      </p:sp>
      <p:sp>
        <p:nvSpPr>
          <p:cNvPr id="481" name="Google Shape;481;p32"/>
          <p:cNvSpPr txBox="1"/>
          <p:nvPr/>
        </p:nvSpPr>
        <p:spPr>
          <a:xfrm>
            <a:off x="8137139" y="4272268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482" name="Google Shape;482;p32"/>
          <p:cNvSpPr txBox="1"/>
          <p:nvPr/>
        </p:nvSpPr>
        <p:spPr>
          <a:xfrm>
            <a:off x="902561" y="5140234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M7</a:t>
            </a: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1278220" y="4963579"/>
            <a:ext cx="1550593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AI-монтаж</a:t>
            </a:r>
            <a:endParaRPr/>
          </a:p>
        </p:txBody>
      </p:sp>
      <p:sp>
        <p:nvSpPr>
          <p:cNvPr id="484" name="Google Shape;484;p32"/>
          <p:cNvSpPr txBox="1"/>
          <p:nvPr/>
        </p:nvSpPr>
        <p:spPr>
          <a:xfrm>
            <a:off x="1278220" y="5264739"/>
            <a:ext cx="386052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длинное видео → готовые ролики</a:t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8137139" y="5140234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86" name="Google Shape;486;p32"/>
          <p:cNvSpPr txBox="1"/>
          <p:nvPr/>
        </p:nvSpPr>
        <p:spPr>
          <a:xfrm>
            <a:off x="409814" y="6088209"/>
            <a:ext cx="38617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ВЫДАЁМ В ЭТОМ БЛОКЕ</a:t>
            </a:r>
            <a:endParaRPr/>
          </a:p>
        </p:txBody>
      </p:sp>
      <p:sp>
        <p:nvSpPr>
          <p:cNvPr id="487" name="Google Shape;487;p32"/>
          <p:cNvSpPr txBox="1"/>
          <p:nvPr/>
        </p:nvSpPr>
        <p:spPr>
          <a:xfrm>
            <a:off x="6316769" y="6006567"/>
            <a:ext cx="2197090" cy="3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17 задач</a:t>
            </a:r>
            <a:endParaRPr/>
          </a:p>
        </p:txBody>
      </p:sp>
      <p:sp>
        <p:nvSpPr>
          <p:cNvPr id="488" name="Google Shape;488;p32"/>
          <p:cNvSpPr txBox="1"/>
          <p:nvPr/>
        </p:nvSpPr>
        <p:spPr>
          <a:xfrm>
            <a:off x="3203590" y="6762784"/>
            <a:ext cx="2969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489" name="Google Shape;489;p32"/>
          <p:cNvSpPr txBox="1"/>
          <p:nvPr/>
        </p:nvSpPr>
        <p:spPr>
          <a:xfrm>
            <a:off x="737579" y="7144158"/>
            <a:ext cx="7901216" cy="5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Плюс три услуги в прайсе: дизайн, видео и контент-завод — месяц контента клиенту за день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3.jpg" id="495" name="Google Shape;4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 txBox="1"/>
          <p:nvPr/>
        </p:nvSpPr>
        <p:spPr>
          <a:xfrm>
            <a:off x="1923693" y="1073501"/>
            <a:ext cx="529661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3 · ЧТО ПОЛУЧАЕТЕ</a:t>
            </a:r>
            <a:endParaRPr/>
          </a:p>
        </p:txBody>
      </p:sp>
      <p:sp>
        <p:nvSpPr>
          <p:cNvPr id="497" name="Google Shape;497;p33"/>
          <p:cNvSpPr txBox="1"/>
          <p:nvPr/>
        </p:nvSpPr>
        <p:spPr>
          <a:xfrm>
            <a:off x="2267032" y="1495390"/>
            <a:ext cx="4609833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Три агента — три услуги в прайсе</a:t>
            </a:r>
            <a:endParaRPr/>
          </a:p>
        </p:txBody>
      </p:sp>
      <p:sp>
        <p:nvSpPr>
          <p:cNvPr id="498" name="Google Shape;498;p33"/>
          <p:cNvSpPr txBox="1"/>
          <p:nvPr/>
        </p:nvSpPr>
        <p:spPr>
          <a:xfrm>
            <a:off x="1121058" y="4084796"/>
            <a:ext cx="1858403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🎨 AI-дизайн</a:t>
            </a: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875211" y="4590675"/>
            <a:ext cx="2409101" cy="18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коммерческие предложения, презентации и баннеры — в одном стиле, за минуты</a:t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1332003" y="6651749"/>
            <a:ext cx="1385887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$250–$900</a:t>
            </a:r>
            <a:endParaRPr/>
          </a:p>
        </p:txBody>
      </p:sp>
      <p:sp>
        <p:nvSpPr>
          <p:cNvPr id="501" name="Google Shape;501;p33"/>
          <p:cNvSpPr txBox="1"/>
          <p:nvPr/>
        </p:nvSpPr>
        <p:spPr>
          <a:xfrm>
            <a:off x="3496457" y="4084796"/>
            <a:ext cx="2409101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🎬 Продающие AI-видео</a:t>
            </a:r>
            <a:endParaRPr/>
          </a:p>
        </p:txBody>
      </p:sp>
      <p:sp>
        <p:nvSpPr>
          <p:cNvPr id="502" name="Google Shape;502;p33"/>
          <p:cNvSpPr txBox="1"/>
          <p:nvPr/>
        </p:nvSpPr>
        <p:spPr>
          <a:xfrm>
            <a:off x="3496457" y="4822439"/>
            <a:ext cx="2409101" cy="1340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ролик с человеком в кадре, которого сняла нейросеть — без камеры и съёмочного дня</a:t>
            </a:r>
            <a:endParaRPr/>
          </a:p>
        </p:txBody>
      </p:sp>
      <p:sp>
        <p:nvSpPr>
          <p:cNvPr id="503" name="Google Shape;503;p33"/>
          <p:cNvSpPr txBox="1"/>
          <p:nvPr/>
        </p:nvSpPr>
        <p:spPr>
          <a:xfrm>
            <a:off x="3496457" y="6419986"/>
            <a:ext cx="2409101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$300–$1.200 · 8–12 роликов</a:t>
            </a:r>
            <a:endParaRPr/>
          </a:p>
        </p:txBody>
      </p:sp>
      <p:sp>
        <p:nvSpPr>
          <p:cNvPr id="504" name="Google Shape;504;p33"/>
          <p:cNvSpPr txBox="1"/>
          <p:nvPr/>
        </p:nvSpPr>
        <p:spPr>
          <a:xfrm>
            <a:off x="6117703" y="4084898"/>
            <a:ext cx="2409215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✍️ Контент-завод с AI-аватаром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6117703" y="5054305"/>
            <a:ext cx="2409215" cy="110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посты, сценарии и Reels по расписанию — аккаунт живёт без вас</a:t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6117703" y="6419986"/>
            <a:ext cx="2409215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$400–$1.400 · в месяц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1907101" y="7387453"/>
            <a:ext cx="5329694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17 задач внутри · каждый агент оказывает свою услугу целиком</a:t>
            </a:r>
            <a:endParaRPr/>
          </a:p>
        </p:txBody>
      </p:sp>
      <p:sp>
        <p:nvSpPr>
          <p:cNvPr id="508" name="Google Shape;508;p33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509" name="Google Shape;509;p33"/>
          <p:cNvSpPr/>
          <p:nvPr/>
        </p:nvSpPr>
        <p:spPr>
          <a:xfrm>
            <a:off x="3362900" y="2527050"/>
            <a:ext cx="5296500" cy="4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3.jpg" id="515" name="Google Shape;5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4"/>
          <p:cNvSpPr txBox="1"/>
          <p:nvPr/>
        </p:nvSpPr>
        <p:spPr>
          <a:xfrm>
            <a:off x="1923693" y="1073501"/>
            <a:ext cx="5296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3 · ЧТО ПОЛУЧАЕТЕ</a:t>
            </a:r>
            <a:endParaRPr/>
          </a:p>
        </p:txBody>
      </p:sp>
      <p:sp>
        <p:nvSpPr>
          <p:cNvPr id="517" name="Google Shape;517;p34"/>
          <p:cNvSpPr txBox="1"/>
          <p:nvPr/>
        </p:nvSpPr>
        <p:spPr>
          <a:xfrm>
            <a:off x="2267032" y="1495390"/>
            <a:ext cx="4609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Три агента — три услуги в прайсе</a:t>
            </a:r>
            <a:endParaRPr/>
          </a:p>
        </p:txBody>
      </p:sp>
      <p:sp>
        <p:nvSpPr>
          <p:cNvPr id="518" name="Google Shape;518;p34"/>
          <p:cNvSpPr txBox="1"/>
          <p:nvPr/>
        </p:nvSpPr>
        <p:spPr>
          <a:xfrm>
            <a:off x="1121058" y="4084796"/>
            <a:ext cx="1858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🎨 AI-дизайн</a:t>
            </a:r>
            <a:endParaRPr/>
          </a:p>
        </p:txBody>
      </p:sp>
      <p:sp>
        <p:nvSpPr>
          <p:cNvPr id="519" name="Google Shape;519;p34"/>
          <p:cNvSpPr txBox="1"/>
          <p:nvPr/>
        </p:nvSpPr>
        <p:spPr>
          <a:xfrm>
            <a:off x="875211" y="4590675"/>
            <a:ext cx="24090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коммерческие предложения, презентации и баннеры — в одном стиле, за минуты</a:t>
            </a:r>
            <a:endParaRPr/>
          </a:p>
        </p:txBody>
      </p:sp>
      <p:sp>
        <p:nvSpPr>
          <p:cNvPr id="520" name="Google Shape;520;p34"/>
          <p:cNvSpPr txBox="1"/>
          <p:nvPr/>
        </p:nvSpPr>
        <p:spPr>
          <a:xfrm>
            <a:off x="1332003" y="6651749"/>
            <a:ext cx="138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$250–$900</a:t>
            </a:r>
            <a:endParaRPr/>
          </a:p>
        </p:txBody>
      </p:sp>
      <p:sp>
        <p:nvSpPr>
          <p:cNvPr id="521" name="Google Shape;521;p34"/>
          <p:cNvSpPr txBox="1"/>
          <p:nvPr/>
        </p:nvSpPr>
        <p:spPr>
          <a:xfrm>
            <a:off x="3496457" y="4084796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🎬 Продающие AI-видео</a:t>
            </a:r>
            <a:endParaRPr/>
          </a:p>
        </p:txBody>
      </p:sp>
      <p:sp>
        <p:nvSpPr>
          <p:cNvPr id="522" name="Google Shape;522;p34"/>
          <p:cNvSpPr txBox="1"/>
          <p:nvPr/>
        </p:nvSpPr>
        <p:spPr>
          <a:xfrm>
            <a:off x="3496457" y="4822439"/>
            <a:ext cx="2409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ролик с человеком в кадре, которого сняла нейросеть — без камеры и съёмочного дня</a:t>
            </a:r>
            <a:endParaRPr/>
          </a:p>
        </p:txBody>
      </p:sp>
      <p:sp>
        <p:nvSpPr>
          <p:cNvPr id="523" name="Google Shape;523;p34"/>
          <p:cNvSpPr txBox="1"/>
          <p:nvPr/>
        </p:nvSpPr>
        <p:spPr>
          <a:xfrm>
            <a:off x="3496457" y="6419986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$300–$1.200 · 8–12 роликов</a:t>
            </a:r>
            <a:endParaRPr/>
          </a:p>
        </p:txBody>
      </p:sp>
      <p:sp>
        <p:nvSpPr>
          <p:cNvPr id="524" name="Google Shape;524;p34"/>
          <p:cNvSpPr txBox="1"/>
          <p:nvPr/>
        </p:nvSpPr>
        <p:spPr>
          <a:xfrm>
            <a:off x="6117703" y="4084898"/>
            <a:ext cx="2409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✍️ Контент-завод с AI-аватаром</a:t>
            </a:r>
            <a:endParaRPr/>
          </a:p>
        </p:txBody>
      </p:sp>
      <p:sp>
        <p:nvSpPr>
          <p:cNvPr id="525" name="Google Shape;525;p34"/>
          <p:cNvSpPr txBox="1"/>
          <p:nvPr/>
        </p:nvSpPr>
        <p:spPr>
          <a:xfrm>
            <a:off x="6117703" y="5054305"/>
            <a:ext cx="24093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посты, сценарии и Reels по расписанию — аккаунт живёт без вас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6117703" y="6419986"/>
            <a:ext cx="24093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$400–$1.400 · в месяц</a:t>
            </a:r>
            <a:endParaRPr/>
          </a:p>
        </p:txBody>
      </p:sp>
      <p:sp>
        <p:nvSpPr>
          <p:cNvPr id="527" name="Google Shape;527;p34"/>
          <p:cNvSpPr txBox="1"/>
          <p:nvPr/>
        </p:nvSpPr>
        <p:spPr>
          <a:xfrm>
            <a:off x="1907101" y="7387453"/>
            <a:ext cx="53298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17 задач внутри · каждый агент оказывает свою услугу целиком</a:t>
            </a:r>
            <a:endParaRPr/>
          </a:p>
        </p:txBody>
      </p:sp>
      <p:sp>
        <p:nvSpPr>
          <p:cNvPr id="528" name="Google Shape;528;p34"/>
          <p:cNvSpPr txBox="1"/>
          <p:nvPr/>
        </p:nvSpPr>
        <p:spPr>
          <a:xfrm>
            <a:off x="3067087" y="8825286"/>
            <a:ext cx="3009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529" name="Google Shape;529;p34"/>
          <p:cNvSpPr/>
          <p:nvPr/>
        </p:nvSpPr>
        <p:spPr>
          <a:xfrm>
            <a:off x="466525" y="2413100"/>
            <a:ext cx="2817600" cy="4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5913550" y="2470125"/>
            <a:ext cx="2817600" cy="4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3.jpg" id="536" name="Google Shape;53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5"/>
          <p:cNvSpPr txBox="1"/>
          <p:nvPr/>
        </p:nvSpPr>
        <p:spPr>
          <a:xfrm>
            <a:off x="1923693" y="1073501"/>
            <a:ext cx="5296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3 · ЧТО ПОЛУЧАЕТЕ</a:t>
            </a:r>
            <a:endParaRPr/>
          </a:p>
        </p:txBody>
      </p:sp>
      <p:sp>
        <p:nvSpPr>
          <p:cNvPr id="538" name="Google Shape;538;p35"/>
          <p:cNvSpPr txBox="1"/>
          <p:nvPr/>
        </p:nvSpPr>
        <p:spPr>
          <a:xfrm>
            <a:off x="2267032" y="1495390"/>
            <a:ext cx="4609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Три агента — три услуги в прайсе</a:t>
            </a:r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1121058" y="4084796"/>
            <a:ext cx="1858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🎨 AI-дизайн</a:t>
            </a:r>
            <a:endParaRPr/>
          </a:p>
        </p:txBody>
      </p:sp>
      <p:sp>
        <p:nvSpPr>
          <p:cNvPr id="540" name="Google Shape;540;p35"/>
          <p:cNvSpPr txBox="1"/>
          <p:nvPr/>
        </p:nvSpPr>
        <p:spPr>
          <a:xfrm>
            <a:off x="875211" y="4590675"/>
            <a:ext cx="24090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коммерческие предложения, презентации и баннеры — в одном стиле, за минуты</a:t>
            </a:r>
            <a:endParaRPr/>
          </a:p>
        </p:txBody>
      </p:sp>
      <p:sp>
        <p:nvSpPr>
          <p:cNvPr id="541" name="Google Shape;541;p35"/>
          <p:cNvSpPr txBox="1"/>
          <p:nvPr/>
        </p:nvSpPr>
        <p:spPr>
          <a:xfrm>
            <a:off x="1332003" y="6651749"/>
            <a:ext cx="138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$250–$900</a:t>
            </a:r>
            <a:endParaRPr/>
          </a:p>
        </p:txBody>
      </p:sp>
      <p:sp>
        <p:nvSpPr>
          <p:cNvPr id="542" name="Google Shape;542;p35"/>
          <p:cNvSpPr txBox="1"/>
          <p:nvPr/>
        </p:nvSpPr>
        <p:spPr>
          <a:xfrm>
            <a:off x="3496457" y="4084796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🎬 Продающие AI-видео</a:t>
            </a:r>
            <a:endParaRPr/>
          </a:p>
        </p:txBody>
      </p:sp>
      <p:sp>
        <p:nvSpPr>
          <p:cNvPr id="543" name="Google Shape;543;p35"/>
          <p:cNvSpPr txBox="1"/>
          <p:nvPr/>
        </p:nvSpPr>
        <p:spPr>
          <a:xfrm>
            <a:off x="3496457" y="4822439"/>
            <a:ext cx="2409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ролик с человеком в кадре, которого сняла нейросеть — без камеры и съёмочного дня</a:t>
            </a:r>
            <a:endParaRPr/>
          </a:p>
        </p:txBody>
      </p:sp>
      <p:sp>
        <p:nvSpPr>
          <p:cNvPr id="544" name="Google Shape;544;p35"/>
          <p:cNvSpPr txBox="1"/>
          <p:nvPr/>
        </p:nvSpPr>
        <p:spPr>
          <a:xfrm>
            <a:off x="3496457" y="6419986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$300–$1.200 · 8–12 роликов</a:t>
            </a:r>
            <a:endParaRPr/>
          </a:p>
        </p:txBody>
      </p:sp>
      <p:sp>
        <p:nvSpPr>
          <p:cNvPr id="545" name="Google Shape;545;p35"/>
          <p:cNvSpPr txBox="1"/>
          <p:nvPr/>
        </p:nvSpPr>
        <p:spPr>
          <a:xfrm>
            <a:off x="6117703" y="4084898"/>
            <a:ext cx="2409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✍️ Контент-завод с AI-аватаром</a:t>
            </a:r>
            <a:endParaRPr/>
          </a:p>
        </p:txBody>
      </p:sp>
      <p:sp>
        <p:nvSpPr>
          <p:cNvPr id="546" name="Google Shape;546;p35"/>
          <p:cNvSpPr txBox="1"/>
          <p:nvPr/>
        </p:nvSpPr>
        <p:spPr>
          <a:xfrm>
            <a:off x="6117703" y="5054305"/>
            <a:ext cx="24093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посты, сценарии и Reels по расписанию — аккаунт живёт без вас</a:t>
            </a:r>
            <a:endParaRPr/>
          </a:p>
        </p:txBody>
      </p:sp>
      <p:sp>
        <p:nvSpPr>
          <p:cNvPr id="547" name="Google Shape;547;p35"/>
          <p:cNvSpPr txBox="1"/>
          <p:nvPr/>
        </p:nvSpPr>
        <p:spPr>
          <a:xfrm>
            <a:off x="6117703" y="6419986"/>
            <a:ext cx="24093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$400–$1.400 · в месяц</a:t>
            </a:r>
            <a:endParaRPr/>
          </a:p>
        </p:txBody>
      </p:sp>
      <p:sp>
        <p:nvSpPr>
          <p:cNvPr id="548" name="Google Shape;548;p35"/>
          <p:cNvSpPr txBox="1"/>
          <p:nvPr/>
        </p:nvSpPr>
        <p:spPr>
          <a:xfrm>
            <a:off x="1907101" y="7387453"/>
            <a:ext cx="53298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17 задач внутри · каждый агент оказывает свою услугу целиком</a:t>
            </a:r>
            <a:endParaRPr/>
          </a:p>
        </p:txBody>
      </p:sp>
      <p:sp>
        <p:nvSpPr>
          <p:cNvPr id="549" name="Google Shape;549;p35"/>
          <p:cNvSpPr txBox="1"/>
          <p:nvPr/>
        </p:nvSpPr>
        <p:spPr>
          <a:xfrm>
            <a:off x="3067087" y="8825286"/>
            <a:ext cx="3009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466525" y="2413100"/>
            <a:ext cx="2817600" cy="4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3139825" y="2413100"/>
            <a:ext cx="2817600" cy="486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4.jpg" id="557" name="Google Shape;5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6"/>
          <p:cNvSpPr txBox="1"/>
          <p:nvPr/>
        </p:nvSpPr>
        <p:spPr>
          <a:xfrm>
            <a:off x="2327858" y="1232398"/>
            <a:ext cx="44882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4 · НЕДЕЛИ 7–8</a:t>
            </a:r>
            <a:endParaRPr/>
          </a:p>
        </p:txBody>
      </p:sp>
      <p:sp>
        <p:nvSpPr>
          <p:cNvPr id="559" name="Google Shape;559;p36"/>
          <p:cNvSpPr txBox="1"/>
          <p:nvPr/>
        </p:nvSpPr>
        <p:spPr>
          <a:xfrm>
            <a:off x="1348403" y="1654288"/>
            <a:ext cx="6447091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Привлечение: клиентов находит агент</a:t>
            </a:r>
            <a:endParaRPr/>
          </a:p>
        </p:txBody>
      </p:sp>
      <p:sp>
        <p:nvSpPr>
          <p:cNvPr id="560" name="Google Shape;560;p36"/>
          <p:cNvSpPr txBox="1"/>
          <p:nvPr/>
        </p:nvSpPr>
        <p:spPr>
          <a:xfrm>
            <a:off x="902561" y="2990884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M8</a:t>
            </a:r>
            <a:endParaRPr/>
          </a:p>
        </p:txBody>
      </p:sp>
      <p:sp>
        <p:nvSpPr>
          <p:cNvPr id="561" name="Google Shape;561;p36"/>
          <p:cNvSpPr txBox="1"/>
          <p:nvPr/>
        </p:nvSpPr>
        <p:spPr>
          <a:xfrm>
            <a:off x="1278220" y="2814229"/>
            <a:ext cx="2085917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AI-таргетолог</a:t>
            </a:r>
            <a:endParaRPr/>
          </a:p>
        </p:txBody>
      </p:sp>
      <p:sp>
        <p:nvSpPr>
          <p:cNvPr id="562" name="Google Shape;562;p36"/>
          <p:cNvSpPr txBox="1"/>
          <p:nvPr/>
        </p:nvSpPr>
        <p:spPr>
          <a:xfrm>
            <a:off x="1278220" y="3115389"/>
            <a:ext cx="621056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реклама: объявления, креативы, оптимизация, отчёты</a:t>
            </a:r>
            <a:endParaRPr/>
          </a:p>
        </p:txBody>
      </p:sp>
      <p:sp>
        <p:nvSpPr>
          <p:cNvPr id="563" name="Google Shape;563;p36"/>
          <p:cNvSpPr txBox="1"/>
          <p:nvPr/>
        </p:nvSpPr>
        <p:spPr>
          <a:xfrm>
            <a:off x="8137139" y="2990884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64" name="Google Shape;564;p36"/>
          <p:cNvSpPr txBox="1"/>
          <p:nvPr/>
        </p:nvSpPr>
        <p:spPr>
          <a:xfrm>
            <a:off x="902561" y="3858849"/>
            <a:ext cx="3120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M9</a:t>
            </a:r>
            <a:endParaRPr/>
          </a:p>
        </p:txBody>
      </p:sp>
      <p:sp>
        <p:nvSpPr>
          <p:cNvPr id="565" name="Google Shape;565;p36"/>
          <p:cNvSpPr txBox="1"/>
          <p:nvPr/>
        </p:nvSpPr>
        <p:spPr>
          <a:xfrm>
            <a:off x="1278220" y="3682194"/>
            <a:ext cx="994450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AI-SEO</a:t>
            </a:r>
            <a:endParaRPr/>
          </a:p>
        </p:txBody>
      </p:sp>
      <p:sp>
        <p:nvSpPr>
          <p:cNvPr id="566" name="Google Shape;566;p36"/>
          <p:cNvSpPr txBox="1"/>
          <p:nvPr/>
        </p:nvSpPr>
        <p:spPr>
          <a:xfrm>
            <a:off x="1278220" y="3983354"/>
            <a:ext cx="5525621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виден в поиске и его рекомендует ChatGPT</a:t>
            </a:r>
            <a:endParaRPr/>
          </a:p>
        </p:txBody>
      </p:sp>
      <p:sp>
        <p:nvSpPr>
          <p:cNvPr id="567" name="Google Shape;567;p36"/>
          <p:cNvSpPr txBox="1"/>
          <p:nvPr/>
        </p:nvSpPr>
        <p:spPr>
          <a:xfrm>
            <a:off x="8137139" y="3858849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68" name="Google Shape;568;p36"/>
          <p:cNvSpPr txBox="1"/>
          <p:nvPr/>
        </p:nvSpPr>
        <p:spPr>
          <a:xfrm>
            <a:off x="902561" y="4844380"/>
            <a:ext cx="4680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M10</a:t>
            </a:r>
            <a:endParaRPr/>
          </a:p>
        </p:txBody>
      </p:sp>
      <p:sp>
        <p:nvSpPr>
          <p:cNvPr id="569" name="Google Shape;569;p36"/>
          <p:cNvSpPr txBox="1"/>
          <p:nvPr/>
        </p:nvSpPr>
        <p:spPr>
          <a:xfrm>
            <a:off x="1392929" y="4550160"/>
            <a:ext cx="2198756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Агент-охотник</a:t>
            </a:r>
            <a:endParaRPr/>
          </a:p>
        </p:txBody>
      </p:sp>
      <p:sp>
        <p:nvSpPr>
          <p:cNvPr id="570" name="Google Shape;570;p36"/>
          <p:cNvSpPr txBox="1"/>
          <p:nvPr/>
        </p:nvSpPr>
        <p:spPr>
          <a:xfrm>
            <a:off x="1392929" y="4851320"/>
            <a:ext cx="6421145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как он ищет клиентов на картах, как собрать своего и настроить под вашу услугу</a:t>
            </a:r>
            <a:endParaRPr/>
          </a:p>
        </p:txBody>
      </p:sp>
      <p:sp>
        <p:nvSpPr>
          <p:cNvPr id="571" name="Google Shape;571;p36"/>
          <p:cNvSpPr txBox="1"/>
          <p:nvPr/>
        </p:nvSpPr>
        <p:spPr>
          <a:xfrm>
            <a:off x="8137139" y="4844380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72" name="Google Shape;572;p36"/>
          <p:cNvSpPr txBox="1"/>
          <p:nvPr/>
        </p:nvSpPr>
        <p:spPr>
          <a:xfrm>
            <a:off x="409814" y="5909922"/>
            <a:ext cx="38617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ВЫДАЁМ В ЭТОМ БЛОКЕ</a:t>
            </a:r>
            <a:endParaRPr/>
          </a:p>
        </p:txBody>
      </p:sp>
      <p:sp>
        <p:nvSpPr>
          <p:cNvPr id="573" name="Google Shape;573;p36"/>
          <p:cNvSpPr txBox="1"/>
          <p:nvPr/>
        </p:nvSpPr>
        <p:spPr>
          <a:xfrm>
            <a:off x="6288469" y="5828279"/>
            <a:ext cx="2229707" cy="3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12 задач</a:t>
            </a:r>
            <a:endParaRPr/>
          </a:p>
        </p:txBody>
      </p:sp>
      <p:sp>
        <p:nvSpPr>
          <p:cNvPr id="574" name="Google Shape;574;p36"/>
          <p:cNvSpPr txBox="1"/>
          <p:nvPr/>
        </p:nvSpPr>
        <p:spPr>
          <a:xfrm>
            <a:off x="3203590" y="6584496"/>
            <a:ext cx="2969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575" name="Google Shape;575;p36"/>
          <p:cNvSpPr txBox="1"/>
          <p:nvPr/>
        </p:nvSpPr>
        <p:spPr>
          <a:xfrm>
            <a:off x="833020" y="6965870"/>
            <a:ext cx="7710335" cy="94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Плюс две услуги: таргет и SEO — и охотник, который приносит клиентов на всё, что вы уже умеете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5.jpg" id="581" name="Google Shape;5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7"/>
          <p:cNvSpPr txBox="1"/>
          <p:nvPr/>
        </p:nvSpPr>
        <p:spPr>
          <a:xfrm>
            <a:off x="1923693" y="343206"/>
            <a:ext cx="529661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4 · ЧТО ПОЛУЧАЕТЕ</a:t>
            </a:r>
            <a:endParaRPr/>
          </a:p>
        </p:txBody>
      </p:sp>
      <p:sp>
        <p:nvSpPr>
          <p:cNvPr id="583" name="Google Shape;583;p37"/>
          <p:cNvSpPr txBox="1"/>
          <p:nvPr/>
        </p:nvSpPr>
        <p:spPr>
          <a:xfrm>
            <a:off x="110105" y="765095"/>
            <a:ext cx="8923686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Клиентов приводят агенты</a:t>
            </a:r>
            <a:endParaRPr/>
          </a:p>
        </p:txBody>
      </p:sp>
      <p:sp>
        <p:nvSpPr>
          <p:cNvPr id="584" name="Google Shape;584;p37"/>
          <p:cNvSpPr txBox="1"/>
          <p:nvPr/>
        </p:nvSpPr>
        <p:spPr>
          <a:xfrm>
            <a:off x="1046253" y="1879214"/>
            <a:ext cx="2025967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Первая чистка −30%</a:t>
            </a:r>
            <a:endParaRPr/>
          </a:p>
        </p:txBody>
      </p:sp>
      <p:sp>
        <p:nvSpPr>
          <p:cNvPr id="585" name="Google Shape;585;p37"/>
          <p:cNvSpPr txBox="1"/>
          <p:nvPr/>
        </p:nvSpPr>
        <p:spPr>
          <a:xfrm>
            <a:off x="909093" y="2498067"/>
            <a:ext cx="2333205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Стоматология рядом · запись за минуту</a:t>
            </a:r>
            <a:endParaRPr/>
          </a:p>
        </p:txBody>
      </p:sp>
      <p:sp>
        <p:nvSpPr>
          <p:cNvPr id="586" name="Google Shape;586;p37"/>
          <p:cNvSpPr txBox="1"/>
          <p:nvPr/>
        </p:nvSpPr>
        <p:spPr>
          <a:xfrm>
            <a:off x="814732" y="3412569"/>
            <a:ext cx="2271941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Записаться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829491" y="3934063"/>
            <a:ext cx="649775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заявок</a:t>
            </a:r>
            <a:endParaRPr/>
          </a:p>
        </p:txBody>
      </p:sp>
      <p:sp>
        <p:nvSpPr>
          <p:cNvPr id="588" name="Google Shape;588;p37"/>
          <p:cNvSpPr txBox="1"/>
          <p:nvPr/>
        </p:nvSpPr>
        <p:spPr>
          <a:xfrm>
            <a:off x="1996371" y="3934063"/>
            <a:ext cx="649877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· цена заявки</a:t>
            </a:r>
            <a:endParaRPr/>
          </a:p>
        </p:txBody>
      </p:sp>
      <p:sp>
        <p:nvSpPr>
          <p:cNvPr id="589" name="Google Shape;589;p37"/>
          <p:cNvSpPr txBox="1"/>
          <p:nvPr/>
        </p:nvSpPr>
        <p:spPr>
          <a:xfrm>
            <a:off x="1180963" y="5047161"/>
            <a:ext cx="1724101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🎯 AI-таргет</a:t>
            </a:r>
            <a:endParaRPr/>
          </a:p>
        </p:txBody>
      </p:sp>
      <p:sp>
        <p:nvSpPr>
          <p:cNvPr id="590" name="Google Shape;590;p37"/>
          <p:cNvSpPr txBox="1"/>
          <p:nvPr/>
        </p:nvSpPr>
        <p:spPr>
          <a:xfrm>
            <a:off x="875211" y="5553040"/>
            <a:ext cx="2409101" cy="1340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запускает рекламу, считает, что работает, и отключает то, что сливает бюджет</a:t>
            </a:r>
            <a:endParaRPr/>
          </a:p>
        </p:txBody>
      </p:sp>
      <p:sp>
        <p:nvSpPr>
          <p:cNvPr id="591" name="Google Shape;591;p37"/>
          <p:cNvSpPr txBox="1"/>
          <p:nvPr/>
        </p:nvSpPr>
        <p:spPr>
          <a:xfrm>
            <a:off x="875211" y="7150485"/>
            <a:ext cx="2409101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$300–$800 · в месяц</a:t>
            </a:r>
            <a:endParaRPr/>
          </a:p>
        </p:txBody>
      </p:sp>
      <p:sp>
        <p:nvSpPr>
          <p:cNvPr id="592" name="Google Shape;592;p37"/>
          <p:cNvSpPr txBox="1"/>
          <p:nvPr/>
        </p:nvSpPr>
        <p:spPr>
          <a:xfrm>
            <a:off x="3898752" y="1582034"/>
            <a:ext cx="1711299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 рядом с домом</a:t>
            </a:r>
            <a:endParaRPr/>
          </a:p>
        </p:txBody>
      </p:sp>
      <p:sp>
        <p:nvSpPr>
          <p:cNvPr id="593" name="Google Shape;593;p37"/>
          <p:cNvSpPr txBox="1"/>
          <p:nvPr/>
        </p:nvSpPr>
        <p:spPr>
          <a:xfrm>
            <a:off x="3685868" y="2884421"/>
            <a:ext cx="1984819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Ваш клиент</a:t>
            </a:r>
            <a:endParaRPr/>
          </a:p>
        </p:txBody>
      </p:sp>
      <p:sp>
        <p:nvSpPr>
          <p:cNvPr id="594" name="Google Shape;594;p37"/>
          <p:cNvSpPr txBox="1"/>
          <p:nvPr/>
        </p:nvSpPr>
        <p:spPr>
          <a:xfrm>
            <a:off x="3548708" y="3271511"/>
            <a:ext cx="2292057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⭐ 4,9 · первый в выдаче</a:t>
            </a:r>
            <a:endParaRPr/>
          </a:p>
        </p:txBody>
      </p:sp>
      <p:sp>
        <p:nvSpPr>
          <p:cNvPr id="595" name="Google Shape;595;p37"/>
          <p:cNvSpPr txBox="1"/>
          <p:nvPr/>
        </p:nvSpPr>
        <p:spPr>
          <a:xfrm>
            <a:off x="3542177" y="4434717"/>
            <a:ext cx="2306688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ваш клиент</a:t>
            </a:r>
            <a:endParaRPr/>
          </a:p>
        </p:txBody>
      </p:sp>
      <p:sp>
        <p:nvSpPr>
          <p:cNvPr id="596" name="Google Shape;596;p37"/>
          <p:cNvSpPr txBox="1"/>
          <p:nvPr/>
        </p:nvSpPr>
        <p:spPr>
          <a:xfrm>
            <a:off x="3947738" y="5244226"/>
            <a:ext cx="1398231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🧭 AI-SEO</a:t>
            </a:r>
            <a:endParaRPr/>
          </a:p>
        </p:txBody>
      </p:sp>
      <p:sp>
        <p:nvSpPr>
          <p:cNvPr id="597" name="Google Shape;597;p37"/>
          <p:cNvSpPr txBox="1"/>
          <p:nvPr/>
        </p:nvSpPr>
        <p:spPr>
          <a:xfrm>
            <a:off x="3496457" y="5750106"/>
            <a:ext cx="2409101" cy="1374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бизнес находят в поиске, на картах и в ответах нейросетей — без платной рекламы</a:t>
            </a:r>
            <a:endParaRPr/>
          </a:p>
        </p:txBody>
      </p:sp>
      <p:sp>
        <p:nvSpPr>
          <p:cNvPr id="598" name="Google Shape;598;p37"/>
          <p:cNvSpPr txBox="1"/>
          <p:nvPr/>
        </p:nvSpPr>
        <p:spPr>
          <a:xfrm>
            <a:off x="3747203" y="7382249"/>
            <a:ext cx="1847316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 · в месяц</a:t>
            </a:r>
            <a:endParaRPr/>
          </a:p>
        </p:txBody>
      </p:sp>
      <p:sp>
        <p:nvSpPr>
          <p:cNvPr id="599" name="Google Shape;599;p37"/>
          <p:cNvSpPr txBox="1"/>
          <p:nvPr/>
        </p:nvSpPr>
        <p:spPr>
          <a:xfrm>
            <a:off x="6282213" y="2294062"/>
            <a:ext cx="2040712" cy="64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Написал владельцу:</a:t>
            </a:r>
            <a:endParaRPr/>
          </a:p>
        </p:txBody>
      </p:sp>
      <p:sp>
        <p:nvSpPr>
          <p:cNvPr id="600" name="Google Shape;600;p37"/>
          <p:cNvSpPr txBox="1"/>
          <p:nvPr/>
        </p:nvSpPr>
        <p:spPr>
          <a:xfrm>
            <a:off x="6333648" y="4379118"/>
            <a:ext cx="1925497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🏹 AI-охотник</a:t>
            </a:r>
            <a:endParaRPr/>
          </a:p>
        </p:txBody>
      </p:sp>
      <p:sp>
        <p:nvSpPr>
          <p:cNvPr id="601" name="Google Shape;601;p37"/>
          <p:cNvSpPr txBox="1"/>
          <p:nvPr/>
        </p:nvSpPr>
        <p:spPr>
          <a:xfrm>
            <a:off x="6117703" y="4884998"/>
            <a:ext cx="2409215" cy="1776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находит на картах, читает отзывы и пишет каждому про его боль</a:t>
            </a:r>
            <a:endParaRPr/>
          </a:p>
        </p:txBody>
      </p:sp>
      <p:sp>
        <p:nvSpPr>
          <p:cNvPr id="602" name="Google Shape;602;p37"/>
          <p:cNvSpPr txBox="1"/>
          <p:nvPr/>
        </p:nvSpPr>
        <p:spPr>
          <a:xfrm>
            <a:off x="6117703" y="6918721"/>
            <a:ext cx="2409215" cy="876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готовый — в подарок первым 20 на Silver и Gold</a:t>
            </a:r>
            <a:endParaRPr/>
          </a:p>
        </p:txBody>
      </p:sp>
      <p:sp>
        <p:nvSpPr>
          <p:cNvPr id="603" name="Google Shape;603;p37"/>
          <p:cNvSpPr txBox="1"/>
          <p:nvPr/>
        </p:nvSpPr>
        <p:spPr>
          <a:xfrm>
            <a:off x="2006199" y="8117953"/>
            <a:ext cx="5131498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12 задач внутри · набор Gold: потенциал $5.000+ в месяц</a:t>
            </a:r>
            <a:endParaRPr/>
          </a:p>
        </p:txBody>
      </p:sp>
      <p:sp>
        <p:nvSpPr>
          <p:cNvPr id="604" name="Google Shape;604;p37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605" name="Google Shape;605;p37"/>
          <p:cNvSpPr/>
          <p:nvPr/>
        </p:nvSpPr>
        <p:spPr>
          <a:xfrm>
            <a:off x="3265725" y="1419025"/>
            <a:ext cx="5481600" cy="66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5.jpg" id="611" name="Google Shape;6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8"/>
          <p:cNvSpPr txBox="1"/>
          <p:nvPr/>
        </p:nvSpPr>
        <p:spPr>
          <a:xfrm>
            <a:off x="1923693" y="343206"/>
            <a:ext cx="5296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4 · ЧТО ПОЛУЧАЕТЕ</a:t>
            </a:r>
            <a:endParaRPr/>
          </a:p>
        </p:txBody>
      </p:sp>
      <p:sp>
        <p:nvSpPr>
          <p:cNvPr id="613" name="Google Shape;613;p38"/>
          <p:cNvSpPr txBox="1"/>
          <p:nvPr/>
        </p:nvSpPr>
        <p:spPr>
          <a:xfrm>
            <a:off x="110105" y="765095"/>
            <a:ext cx="892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Клиентов приводят агенты</a:t>
            </a:r>
            <a:endParaRPr/>
          </a:p>
        </p:txBody>
      </p:sp>
      <p:sp>
        <p:nvSpPr>
          <p:cNvPr id="614" name="Google Shape;614;p38"/>
          <p:cNvSpPr txBox="1"/>
          <p:nvPr/>
        </p:nvSpPr>
        <p:spPr>
          <a:xfrm>
            <a:off x="1046253" y="1879214"/>
            <a:ext cx="2025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Первая чистка −30%</a:t>
            </a:r>
            <a:endParaRPr/>
          </a:p>
        </p:txBody>
      </p:sp>
      <p:sp>
        <p:nvSpPr>
          <p:cNvPr id="615" name="Google Shape;615;p38"/>
          <p:cNvSpPr txBox="1"/>
          <p:nvPr/>
        </p:nvSpPr>
        <p:spPr>
          <a:xfrm>
            <a:off x="909093" y="2498067"/>
            <a:ext cx="23331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Стоматология рядом · запись за минуту</a:t>
            </a:r>
            <a:endParaRPr/>
          </a:p>
        </p:txBody>
      </p:sp>
      <p:sp>
        <p:nvSpPr>
          <p:cNvPr id="616" name="Google Shape;616;p38"/>
          <p:cNvSpPr txBox="1"/>
          <p:nvPr/>
        </p:nvSpPr>
        <p:spPr>
          <a:xfrm>
            <a:off x="814732" y="3412569"/>
            <a:ext cx="2271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Записаться</a:t>
            </a:r>
            <a:endParaRPr/>
          </a:p>
        </p:txBody>
      </p:sp>
      <p:sp>
        <p:nvSpPr>
          <p:cNvPr id="617" name="Google Shape;617;p38"/>
          <p:cNvSpPr txBox="1"/>
          <p:nvPr/>
        </p:nvSpPr>
        <p:spPr>
          <a:xfrm>
            <a:off x="829491" y="3934063"/>
            <a:ext cx="6498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заявок</a:t>
            </a:r>
            <a:endParaRPr/>
          </a:p>
        </p:txBody>
      </p:sp>
      <p:sp>
        <p:nvSpPr>
          <p:cNvPr id="618" name="Google Shape;618;p38"/>
          <p:cNvSpPr txBox="1"/>
          <p:nvPr/>
        </p:nvSpPr>
        <p:spPr>
          <a:xfrm>
            <a:off x="1996371" y="3934063"/>
            <a:ext cx="6498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· цена заявки</a:t>
            </a:r>
            <a:endParaRPr/>
          </a:p>
        </p:txBody>
      </p:sp>
      <p:sp>
        <p:nvSpPr>
          <p:cNvPr id="619" name="Google Shape;619;p38"/>
          <p:cNvSpPr txBox="1"/>
          <p:nvPr/>
        </p:nvSpPr>
        <p:spPr>
          <a:xfrm>
            <a:off x="1180963" y="5047161"/>
            <a:ext cx="17241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🎯 AI-таргет</a:t>
            </a:r>
            <a:endParaRPr/>
          </a:p>
        </p:txBody>
      </p:sp>
      <p:sp>
        <p:nvSpPr>
          <p:cNvPr id="620" name="Google Shape;620;p38"/>
          <p:cNvSpPr txBox="1"/>
          <p:nvPr/>
        </p:nvSpPr>
        <p:spPr>
          <a:xfrm>
            <a:off x="875211" y="5553040"/>
            <a:ext cx="2409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запускает рекламу, считает, что работает, и отключает то, что сливает бюджет</a:t>
            </a:r>
            <a:endParaRPr/>
          </a:p>
        </p:txBody>
      </p:sp>
      <p:sp>
        <p:nvSpPr>
          <p:cNvPr id="621" name="Google Shape;621;p38"/>
          <p:cNvSpPr txBox="1"/>
          <p:nvPr/>
        </p:nvSpPr>
        <p:spPr>
          <a:xfrm>
            <a:off x="875211" y="7150485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$300–$800 · в месяц</a:t>
            </a:r>
            <a:endParaRPr/>
          </a:p>
        </p:txBody>
      </p:sp>
      <p:sp>
        <p:nvSpPr>
          <p:cNvPr id="622" name="Google Shape;622;p38"/>
          <p:cNvSpPr txBox="1"/>
          <p:nvPr/>
        </p:nvSpPr>
        <p:spPr>
          <a:xfrm>
            <a:off x="3898752" y="1582034"/>
            <a:ext cx="17112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 рядом с домом</a:t>
            </a:r>
            <a:endParaRPr/>
          </a:p>
        </p:txBody>
      </p:sp>
      <p:sp>
        <p:nvSpPr>
          <p:cNvPr id="623" name="Google Shape;623;p38"/>
          <p:cNvSpPr txBox="1"/>
          <p:nvPr/>
        </p:nvSpPr>
        <p:spPr>
          <a:xfrm>
            <a:off x="3685868" y="2884421"/>
            <a:ext cx="1984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Ваш клиент</a:t>
            </a:r>
            <a:endParaRPr/>
          </a:p>
        </p:txBody>
      </p:sp>
      <p:sp>
        <p:nvSpPr>
          <p:cNvPr id="624" name="Google Shape;624;p38"/>
          <p:cNvSpPr txBox="1"/>
          <p:nvPr/>
        </p:nvSpPr>
        <p:spPr>
          <a:xfrm>
            <a:off x="3548708" y="3271511"/>
            <a:ext cx="2292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⭐ 4,9 · первый в выдаче</a:t>
            </a:r>
            <a:endParaRPr/>
          </a:p>
        </p:txBody>
      </p:sp>
      <p:sp>
        <p:nvSpPr>
          <p:cNvPr id="625" name="Google Shape;625;p38"/>
          <p:cNvSpPr txBox="1"/>
          <p:nvPr/>
        </p:nvSpPr>
        <p:spPr>
          <a:xfrm>
            <a:off x="3542177" y="4434717"/>
            <a:ext cx="2306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ваш клиент</a:t>
            </a:r>
            <a:endParaRPr/>
          </a:p>
        </p:txBody>
      </p:sp>
      <p:sp>
        <p:nvSpPr>
          <p:cNvPr id="626" name="Google Shape;626;p38"/>
          <p:cNvSpPr txBox="1"/>
          <p:nvPr/>
        </p:nvSpPr>
        <p:spPr>
          <a:xfrm>
            <a:off x="3947738" y="5244226"/>
            <a:ext cx="1398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🧭 AI-SEO</a:t>
            </a:r>
            <a:endParaRPr/>
          </a:p>
        </p:txBody>
      </p:sp>
      <p:sp>
        <p:nvSpPr>
          <p:cNvPr id="627" name="Google Shape;627;p38"/>
          <p:cNvSpPr txBox="1"/>
          <p:nvPr/>
        </p:nvSpPr>
        <p:spPr>
          <a:xfrm>
            <a:off x="3496457" y="5750106"/>
            <a:ext cx="24090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бизнес находят в поиске, на картах и в ответах нейросетей — без платной рекламы</a:t>
            </a:r>
            <a:endParaRPr/>
          </a:p>
        </p:txBody>
      </p:sp>
      <p:sp>
        <p:nvSpPr>
          <p:cNvPr id="628" name="Google Shape;628;p38"/>
          <p:cNvSpPr txBox="1"/>
          <p:nvPr/>
        </p:nvSpPr>
        <p:spPr>
          <a:xfrm>
            <a:off x="3747203" y="7382249"/>
            <a:ext cx="1847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 · в месяц</a:t>
            </a:r>
            <a:endParaRPr/>
          </a:p>
        </p:txBody>
      </p:sp>
      <p:sp>
        <p:nvSpPr>
          <p:cNvPr id="629" name="Google Shape;629;p38"/>
          <p:cNvSpPr txBox="1"/>
          <p:nvPr/>
        </p:nvSpPr>
        <p:spPr>
          <a:xfrm>
            <a:off x="6282213" y="2294062"/>
            <a:ext cx="204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Написал владельцу:</a:t>
            </a:r>
            <a:endParaRPr/>
          </a:p>
        </p:txBody>
      </p:sp>
      <p:sp>
        <p:nvSpPr>
          <p:cNvPr id="630" name="Google Shape;630;p38"/>
          <p:cNvSpPr txBox="1"/>
          <p:nvPr/>
        </p:nvSpPr>
        <p:spPr>
          <a:xfrm>
            <a:off x="6333648" y="4379118"/>
            <a:ext cx="1925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🏹 AI-охотник</a:t>
            </a:r>
            <a:endParaRPr/>
          </a:p>
        </p:txBody>
      </p:sp>
      <p:sp>
        <p:nvSpPr>
          <p:cNvPr id="631" name="Google Shape;631;p38"/>
          <p:cNvSpPr txBox="1"/>
          <p:nvPr/>
        </p:nvSpPr>
        <p:spPr>
          <a:xfrm>
            <a:off x="6117703" y="4884998"/>
            <a:ext cx="24093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находит на картах, читает отзывы и пишет каждому про его боль</a:t>
            </a:r>
            <a:endParaRPr/>
          </a:p>
        </p:txBody>
      </p:sp>
      <p:sp>
        <p:nvSpPr>
          <p:cNvPr id="632" name="Google Shape;632;p38"/>
          <p:cNvSpPr txBox="1"/>
          <p:nvPr/>
        </p:nvSpPr>
        <p:spPr>
          <a:xfrm>
            <a:off x="6117703" y="6918721"/>
            <a:ext cx="2409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готовый — в подарок первым 20 на Silver и Gold</a:t>
            </a:r>
            <a:endParaRPr/>
          </a:p>
        </p:txBody>
      </p:sp>
      <p:sp>
        <p:nvSpPr>
          <p:cNvPr id="633" name="Google Shape;633;p38"/>
          <p:cNvSpPr txBox="1"/>
          <p:nvPr/>
        </p:nvSpPr>
        <p:spPr>
          <a:xfrm>
            <a:off x="2006199" y="8117953"/>
            <a:ext cx="51315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12 задач внутри · набор Gold: потенциал $5.000+ в месяц</a:t>
            </a:r>
            <a:endParaRPr/>
          </a:p>
        </p:txBody>
      </p:sp>
      <p:sp>
        <p:nvSpPr>
          <p:cNvPr id="634" name="Google Shape;634;p38"/>
          <p:cNvSpPr txBox="1"/>
          <p:nvPr/>
        </p:nvSpPr>
        <p:spPr>
          <a:xfrm>
            <a:off x="3067087" y="8825286"/>
            <a:ext cx="3009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635" name="Google Shape;635;p38"/>
          <p:cNvSpPr/>
          <p:nvPr/>
        </p:nvSpPr>
        <p:spPr>
          <a:xfrm>
            <a:off x="5737725" y="1419025"/>
            <a:ext cx="3009600" cy="66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274600" y="1428500"/>
            <a:ext cx="3009600" cy="66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5.jpg" id="642" name="Google Shape;6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9"/>
          <p:cNvSpPr txBox="1"/>
          <p:nvPr/>
        </p:nvSpPr>
        <p:spPr>
          <a:xfrm>
            <a:off x="1923693" y="343206"/>
            <a:ext cx="52965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4 · ЧТО ПОЛУЧАЕТЕ</a:t>
            </a:r>
            <a:endParaRPr/>
          </a:p>
        </p:txBody>
      </p:sp>
      <p:sp>
        <p:nvSpPr>
          <p:cNvPr id="644" name="Google Shape;644;p39"/>
          <p:cNvSpPr txBox="1"/>
          <p:nvPr/>
        </p:nvSpPr>
        <p:spPr>
          <a:xfrm>
            <a:off x="110105" y="765095"/>
            <a:ext cx="892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Клиентов приводят агенты</a:t>
            </a:r>
            <a:endParaRPr/>
          </a:p>
        </p:txBody>
      </p:sp>
      <p:sp>
        <p:nvSpPr>
          <p:cNvPr id="645" name="Google Shape;645;p39"/>
          <p:cNvSpPr txBox="1"/>
          <p:nvPr/>
        </p:nvSpPr>
        <p:spPr>
          <a:xfrm>
            <a:off x="1046253" y="1879214"/>
            <a:ext cx="2025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Первая чистка −30%</a:t>
            </a:r>
            <a:endParaRPr/>
          </a:p>
        </p:txBody>
      </p:sp>
      <p:sp>
        <p:nvSpPr>
          <p:cNvPr id="646" name="Google Shape;646;p39"/>
          <p:cNvSpPr txBox="1"/>
          <p:nvPr/>
        </p:nvSpPr>
        <p:spPr>
          <a:xfrm>
            <a:off x="909093" y="2498067"/>
            <a:ext cx="23331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Стоматология рядом · запись за минуту</a:t>
            </a:r>
            <a:endParaRPr/>
          </a:p>
        </p:txBody>
      </p:sp>
      <p:sp>
        <p:nvSpPr>
          <p:cNvPr id="647" name="Google Shape;647;p39"/>
          <p:cNvSpPr txBox="1"/>
          <p:nvPr/>
        </p:nvSpPr>
        <p:spPr>
          <a:xfrm>
            <a:off x="814732" y="3412569"/>
            <a:ext cx="2271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Записаться</a:t>
            </a:r>
            <a:endParaRPr/>
          </a:p>
        </p:txBody>
      </p:sp>
      <p:sp>
        <p:nvSpPr>
          <p:cNvPr id="648" name="Google Shape;648;p39"/>
          <p:cNvSpPr txBox="1"/>
          <p:nvPr/>
        </p:nvSpPr>
        <p:spPr>
          <a:xfrm>
            <a:off x="829491" y="3934063"/>
            <a:ext cx="6498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заявок</a:t>
            </a:r>
            <a:endParaRPr/>
          </a:p>
        </p:txBody>
      </p:sp>
      <p:sp>
        <p:nvSpPr>
          <p:cNvPr id="649" name="Google Shape;649;p39"/>
          <p:cNvSpPr txBox="1"/>
          <p:nvPr/>
        </p:nvSpPr>
        <p:spPr>
          <a:xfrm>
            <a:off x="1996371" y="3934063"/>
            <a:ext cx="6498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· цена заявки</a:t>
            </a:r>
            <a:endParaRPr/>
          </a:p>
        </p:txBody>
      </p:sp>
      <p:sp>
        <p:nvSpPr>
          <p:cNvPr id="650" name="Google Shape;650;p39"/>
          <p:cNvSpPr txBox="1"/>
          <p:nvPr/>
        </p:nvSpPr>
        <p:spPr>
          <a:xfrm>
            <a:off x="1180963" y="5047161"/>
            <a:ext cx="17241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🎯 AI-таргет</a:t>
            </a:r>
            <a:endParaRPr/>
          </a:p>
        </p:txBody>
      </p:sp>
      <p:sp>
        <p:nvSpPr>
          <p:cNvPr id="651" name="Google Shape;651;p39"/>
          <p:cNvSpPr txBox="1"/>
          <p:nvPr/>
        </p:nvSpPr>
        <p:spPr>
          <a:xfrm>
            <a:off x="875211" y="5553040"/>
            <a:ext cx="2409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запускает рекламу, считает, что работает, и отключает то, что сливает бюджет</a:t>
            </a:r>
            <a:endParaRPr/>
          </a:p>
        </p:txBody>
      </p:sp>
      <p:sp>
        <p:nvSpPr>
          <p:cNvPr id="652" name="Google Shape;652;p39"/>
          <p:cNvSpPr txBox="1"/>
          <p:nvPr/>
        </p:nvSpPr>
        <p:spPr>
          <a:xfrm>
            <a:off x="875211" y="7150485"/>
            <a:ext cx="2409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$300–$800 · в месяц</a:t>
            </a:r>
            <a:endParaRPr/>
          </a:p>
        </p:txBody>
      </p:sp>
      <p:sp>
        <p:nvSpPr>
          <p:cNvPr id="653" name="Google Shape;653;p39"/>
          <p:cNvSpPr txBox="1"/>
          <p:nvPr/>
        </p:nvSpPr>
        <p:spPr>
          <a:xfrm>
            <a:off x="3898752" y="1582034"/>
            <a:ext cx="17112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стоматолог рядом с домом</a:t>
            </a:r>
            <a:endParaRPr/>
          </a:p>
        </p:txBody>
      </p:sp>
      <p:sp>
        <p:nvSpPr>
          <p:cNvPr id="654" name="Google Shape;654;p39"/>
          <p:cNvSpPr txBox="1"/>
          <p:nvPr/>
        </p:nvSpPr>
        <p:spPr>
          <a:xfrm>
            <a:off x="3685868" y="2884421"/>
            <a:ext cx="1984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Ваш клиент</a:t>
            </a:r>
            <a:endParaRPr/>
          </a:p>
        </p:txBody>
      </p:sp>
      <p:sp>
        <p:nvSpPr>
          <p:cNvPr id="655" name="Google Shape;655;p39"/>
          <p:cNvSpPr txBox="1"/>
          <p:nvPr/>
        </p:nvSpPr>
        <p:spPr>
          <a:xfrm>
            <a:off x="3548708" y="3271511"/>
            <a:ext cx="2292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⭐ 4,9 · первый в выдаче</a:t>
            </a:r>
            <a:endParaRPr/>
          </a:p>
        </p:txBody>
      </p:sp>
      <p:sp>
        <p:nvSpPr>
          <p:cNvPr id="656" name="Google Shape;656;p39"/>
          <p:cNvSpPr txBox="1"/>
          <p:nvPr/>
        </p:nvSpPr>
        <p:spPr>
          <a:xfrm>
            <a:off x="3542177" y="4434717"/>
            <a:ext cx="2306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ваш клиент</a:t>
            </a:r>
            <a:endParaRPr/>
          </a:p>
        </p:txBody>
      </p:sp>
      <p:sp>
        <p:nvSpPr>
          <p:cNvPr id="657" name="Google Shape;657;p39"/>
          <p:cNvSpPr txBox="1"/>
          <p:nvPr/>
        </p:nvSpPr>
        <p:spPr>
          <a:xfrm>
            <a:off x="3947738" y="5244226"/>
            <a:ext cx="1398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🧭 AI-SEO</a:t>
            </a:r>
            <a:endParaRPr/>
          </a:p>
        </p:txBody>
      </p:sp>
      <p:sp>
        <p:nvSpPr>
          <p:cNvPr id="658" name="Google Shape;658;p39"/>
          <p:cNvSpPr txBox="1"/>
          <p:nvPr/>
        </p:nvSpPr>
        <p:spPr>
          <a:xfrm>
            <a:off x="3496457" y="5750106"/>
            <a:ext cx="24090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бизнес находят в поиске, на картах и в ответах нейросетей — без платной рекламы</a:t>
            </a:r>
            <a:endParaRPr/>
          </a:p>
        </p:txBody>
      </p:sp>
      <p:sp>
        <p:nvSpPr>
          <p:cNvPr id="659" name="Google Shape;659;p39"/>
          <p:cNvSpPr txBox="1"/>
          <p:nvPr/>
        </p:nvSpPr>
        <p:spPr>
          <a:xfrm>
            <a:off x="3747203" y="7382249"/>
            <a:ext cx="1847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 · в месяц</a:t>
            </a:r>
            <a:endParaRPr/>
          </a:p>
        </p:txBody>
      </p:sp>
      <p:sp>
        <p:nvSpPr>
          <p:cNvPr id="660" name="Google Shape;660;p39"/>
          <p:cNvSpPr txBox="1"/>
          <p:nvPr/>
        </p:nvSpPr>
        <p:spPr>
          <a:xfrm>
            <a:off x="6282213" y="2294062"/>
            <a:ext cx="204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Написал владельцу:</a:t>
            </a:r>
            <a:endParaRPr/>
          </a:p>
        </p:txBody>
      </p:sp>
      <p:sp>
        <p:nvSpPr>
          <p:cNvPr id="661" name="Google Shape;661;p39"/>
          <p:cNvSpPr txBox="1"/>
          <p:nvPr/>
        </p:nvSpPr>
        <p:spPr>
          <a:xfrm>
            <a:off x="6333648" y="4379118"/>
            <a:ext cx="1925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🏹 AI-охотник</a:t>
            </a:r>
            <a:endParaRPr/>
          </a:p>
        </p:txBody>
      </p:sp>
      <p:sp>
        <p:nvSpPr>
          <p:cNvPr id="662" name="Google Shape;662;p39"/>
          <p:cNvSpPr txBox="1"/>
          <p:nvPr/>
        </p:nvSpPr>
        <p:spPr>
          <a:xfrm>
            <a:off x="6117703" y="4884998"/>
            <a:ext cx="24093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находит на картах, читает отзывы и пишет каждому про его боль</a:t>
            </a:r>
            <a:endParaRPr/>
          </a:p>
        </p:txBody>
      </p:sp>
      <p:sp>
        <p:nvSpPr>
          <p:cNvPr id="663" name="Google Shape;663;p39"/>
          <p:cNvSpPr txBox="1"/>
          <p:nvPr/>
        </p:nvSpPr>
        <p:spPr>
          <a:xfrm>
            <a:off x="6117703" y="6918721"/>
            <a:ext cx="2409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готовый — в подарок первым 20 на Silver и Gold</a:t>
            </a:r>
            <a:endParaRPr/>
          </a:p>
        </p:txBody>
      </p:sp>
      <p:sp>
        <p:nvSpPr>
          <p:cNvPr id="664" name="Google Shape;664;p39"/>
          <p:cNvSpPr txBox="1"/>
          <p:nvPr/>
        </p:nvSpPr>
        <p:spPr>
          <a:xfrm>
            <a:off x="2006199" y="8117953"/>
            <a:ext cx="51315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12 задач внутри · набор Gold: потенциал $5.000+ в месяц</a:t>
            </a:r>
            <a:endParaRPr/>
          </a:p>
        </p:txBody>
      </p:sp>
      <p:sp>
        <p:nvSpPr>
          <p:cNvPr id="665" name="Google Shape;665;p39"/>
          <p:cNvSpPr txBox="1"/>
          <p:nvPr/>
        </p:nvSpPr>
        <p:spPr>
          <a:xfrm>
            <a:off x="3067087" y="8825286"/>
            <a:ext cx="3009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666" name="Google Shape;666;p39"/>
          <p:cNvSpPr/>
          <p:nvPr/>
        </p:nvSpPr>
        <p:spPr>
          <a:xfrm>
            <a:off x="2877138" y="1343425"/>
            <a:ext cx="3009600" cy="66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274600" y="1428500"/>
            <a:ext cx="3009600" cy="669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6.jpg" id="673" name="Google Shape;6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0"/>
          <p:cNvSpPr txBox="1"/>
          <p:nvPr/>
        </p:nvSpPr>
        <p:spPr>
          <a:xfrm>
            <a:off x="2215593" y="1727154"/>
            <a:ext cx="4712711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5 · НЕДЕЛИ 9–10</a:t>
            </a:r>
            <a:endParaRPr/>
          </a:p>
        </p:txBody>
      </p:sp>
      <p:sp>
        <p:nvSpPr>
          <p:cNvPr id="675" name="Google Shape;675;p40"/>
          <p:cNvSpPr txBox="1"/>
          <p:nvPr/>
        </p:nvSpPr>
        <p:spPr>
          <a:xfrm>
            <a:off x="685006" y="2149044"/>
            <a:ext cx="7773885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Продажи и масштаб: сделка закрывается без вас</a:t>
            </a:r>
            <a:endParaRPr/>
          </a:p>
        </p:txBody>
      </p:sp>
      <p:sp>
        <p:nvSpPr>
          <p:cNvPr id="676" name="Google Shape;676;p40"/>
          <p:cNvSpPr txBox="1"/>
          <p:nvPr/>
        </p:nvSpPr>
        <p:spPr>
          <a:xfrm>
            <a:off x="902561" y="3603205"/>
            <a:ext cx="4680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M11</a:t>
            </a:r>
            <a:endParaRPr/>
          </a:p>
        </p:txBody>
      </p:sp>
      <p:sp>
        <p:nvSpPr>
          <p:cNvPr id="677" name="Google Shape;677;p40"/>
          <p:cNvSpPr txBox="1"/>
          <p:nvPr/>
        </p:nvSpPr>
        <p:spPr>
          <a:xfrm>
            <a:off x="1392929" y="3308984"/>
            <a:ext cx="1860795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AI-продавец</a:t>
            </a:r>
            <a:endParaRPr/>
          </a:p>
        </p:txBody>
      </p:sp>
      <p:sp>
        <p:nvSpPr>
          <p:cNvPr id="678" name="Google Shape;678;p40"/>
          <p:cNvSpPr txBox="1"/>
          <p:nvPr/>
        </p:nvSpPr>
        <p:spPr>
          <a:xfrm>
            <a:off x="1392929" y="3610145"/>
            <a:ext cx="6599796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живёт в Telegram / WhatsApp / Instagram, отвечает голосом и текстом, снимает возражения до оплаты</a:t>
            </a:r>
            <a:endParaRPr/>
          </a:p>
        </p:txBody>
      </p:sp>
      <p:sp>
        <p:nvSpPr>
          <p:cNvPr id="679" name="Google Shape;679;p40"/>
          <p:cNvSpPr txBox="1"/>
          <p:nvPr/>
        </p:nvSpPr>
        <p:spPr>
          <a:xfrm>
            <a:off x="8137139" y="3603205"/>
            <a:ext cx="182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80" name="Google Shape;680;p40"/>
          <p:cNvSpPr txBox="1"/>
          <p:nvPr/>
        </p:nvSpPr>
        <p:spPr>
          <a:xfrm>
            <a:off x="902561" y="4706302"/>
            <a:ext cx="4680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M12</a:t>
            </a:r>
            <a:endParaRPr/>
          </a:p>
        </p:txBody>
      </p:sp>
      <p:sp>
        <p:nvSpPr>
          <p:cNvPr id="681" name="Google Shape;681;p40"/>
          <p:cNvSpPr txBox="1"/>
          <p:nvPr/>
        </p:nvSpPr>
        <p:spPr>
          <a:xfrm>
            <a:off x="1392929" y="4412082"/>
            <a:ext cx="3676206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Поиск клиентов и связки</a:t>
            </a:r>
            <a:endParaRPr/>
          </a:p>
        </p:txBody>
      </p:sp>
      <p:sp>
        <p:nvSpPr>
          <p:cNvPr id="682" name="Google Shape;682;p40"/>
          <p:cNvSpPr txBox="1"/>
          <p:nvPr/>
        </p:nvSpPr>
        <p:spPr>
          <a:xfrm>
            <a:off x="1392929" y="4713242"/>
            <a:ext cx="7179754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платные и бесплатные методы поиска клиентов · как упаковать себя · услуга без возвратов · продление клиента</a:t>
            </a:r>
            <a:endParaRPr/>
          </a:p>
        </p:txBody>
      </p:sp>
      <p:sp>
        <p:nvSpPr>
          <p:cNvPr id="683" name="Google Shape;683;p40"/>
          <p:cNvSpPr txBox="1"/>
          <p:nvPr/>
        </p:nvSpPr>
        <p:spPr>
          <a:xfrm>
            <a:off x="449897" y="5771843"/>
            <a:ext cx="35589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ЗАДАЧ В ЭТОМ БЛОКЕ</a:t>
            </a:r>
            <a:endParaRPr/>
          </a:p>
        </p:txBody>
      </p:sp>
      <p:sp>
        <p:nvSpPr>
          <p:cNvPr id="684" name="Google Shape;684;p40"/>
          <p:cNvSpPr txBox="1"/>
          <p:nvPr/>
        </p:nvSpPr>
        <p:spPr>
          <a:xfrm>
            <a:off x="6291359" y="5690200"/>
            <a:ext cx="2226376" cy="3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 задача</a:t>
            </a:r>
            <a:endParaRPr/>
          </a:p>
        </p:txBody>
      </p:sp>
      <p:sp>
        <p:nvSpPr>
          <p:cNvPr id="685" name="Google Shape;685;p40"/>
          <p:cNvSpPr txBox="1"/>
          <p:nvPr/>
        </p:nvSpPr>
        <p:spPr>
          <a:xfrm>
            <a:off x="3203590" y="6446417"/>
            <a:ext cx="2969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РЕЗУЛЬТАТ БЛОКА</a:t>
            </a:r>
            <a:endParaRPr/>
          </a:p>
        </p:txBody>
      </p:sp>
      <p:sp>
        <p:nvSpPr>
          <p:cNvPr id="686" name="Google Shape;686;p40"/>
          <p:cNvSpPr txBox="1"/>
          <p:nvPr/>
        </p:nvSpPr>
        <p:spPr>
          <a:xfrm>
            <a:off x="858274" y="6827792"/>
            <a:ext cx="7659928" cy="5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Сделка закрывается без вас, клиент остаётся и платит снова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7.jpg" id="692" name="Google Shape;6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1"/>
          <p:cNvSpPr txBox="1"/>
          <p:nvPr/>
        </p:nvSpPr>
        <p:spPr>
          <a:xfrm>
            <a:off x="1923693" y="1041558"/>
            <a:ext cx="529661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БЛОК 5 · ЧТО ПОЛУЧАЕТЕ</a:t>
            </a:r>
            <a:endParaRPr/>
          </a:p>
        </p:txBody>
      </p:sp>
      <p:sp>
        <p:nvSpPr>
          <p:cNvPr id="694" name="Google Shape;694;p41"/>
          <p:cNvSpPr txBox="1"/>
          <p:nvPr/>
        </p:nvSpPr>
        <p:spPr>
          <a:xfrm>
            <a:off x="514668" y="1463448"/>
            <a:ext cx="8114663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Сделку закрывает агент</a:t>
            </a:r>
            <a:endParaRPr/>
          </a:p>
        </p:txBody>
      </p:sp>
      <p:sp>
        <p:nvSpPr>
          <p:cNvPr id="695" name="Google Shape;695;p41"/>
          <p:cNvSpPr txBox="1"/>
          <p:nvPr/>
        </p:nvSpPr>
        <p:spPr>
          <a:xfrm>
            <a:off x="2018211" y="2232728"/>
            <a:ext cx="1813598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Сколько стоит?</a:t>
            </a:r>
            <a:endParaRPr/>
          </a:p>
        </p:txBody>
      </p:sp>
      <p:sp>
        <p:nvSpPr>
          <p:cNvPr id="696" name="Google Shape;696;p41"/>
          <p:cNvSpPr txBox="1"/>
          <p:nvPr/>
        </p:nvSpPr>
        <p:spPr>
          <a:xfrm>
            <a:off x="3427486" y="2894360"/>
            <a:ext cx="4132020" cy="411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Расскажу и покажу примеры — 2 минуты</a:t>
            </a:r>
            <a:endParaRPr/>
          </a:p>
        </p:txBody>
      </p:sp>
      <p:sp>
        <p:nvSpPr>
          <p:cNvPr id="697" name="Google Shape;697;p41"/>
          <p:cNvSpPr txBox="1"/>
          <p:nvPr/>
        </p:nvSpPr>
        <p:spPr>
          <a:xfrm>
            <a:off x="3605654" y="4614556"/>
            <a:ext cx="2164499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4F2EC"/>
                </a:solidFill>
                <a:latin typeface="Unbounded"/>
                <a:ea typeface="Unbounded"/>
                <a:cs typeface="Unbounded"/>
                <a:sym typeface="Unbounded"/>
              </a:rPr>
              <a:t>💬 AI-продавец</a:t>
            </a:r>
            <a:endParaRPr/>
          </a:p>
        </p:txBody>
      </p:sp>
      <p:sp>
        <p:nvSpPr>
          <p:cNvPr id="698" name="Google Shape;698;p41"/>
          <p:cNvSpPr txBox="1"/>
          <p:nvPr/>
        </p:nvSpPr>
        <p:spPr>
          <a:xfrm>
            <a:off x="2502047" y="5120435"/>
            <a:ext cx="4636693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отвечает на входящие заявки круглосуточно</a:t>
            </a:r>
            <a:endParaRPr/>
          </a:p>
        </p:txBody>
      </p:sp>
      <p:sp>
        <p:nvSpPr>
          <p:cNvPr id="699" name="Google Shape;699;p41"/>
          <p:cNvSpPr txBox="1"/>
          <p:nvPr/>
        </p:nvSpPr>
        <p:spPr>
          <a:xfrm>
            <a:off x="2502047" y="5739288"/>
            <a:ext cx="4636693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консультирует и снимает сомнения</a:t>
            </a:r>
            <a:endParaRPr/>
          </a:p>
        </p:txBody>
      </p:sp>
      <p:sp>
        <p:nvSpPr>
          <p:cNvPr id="700" name="Google Shape;700;p41"/>
          <p:cNvSpPr txBox="1"/>
          <p:nvPr/>
        </p:nvSpPr>
        <p:spPr>
          <a:xfrm>
            <a:off x="2502047" y="6358141"/>
            <a:ext cx="4636693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доводит до оплаты — без вас и без выходных</a:t>
            </a:r>
            <a:endParaRPr/>
          </a:p>
        </p:txBody>
      </p:sp>
      <p:sp>
        <p:nvSpPr>
          <p:cNvPr id="701" name="Google Shape;701;p41"/>
          <p:cNvSpPr txBox="1"/>
          <p:nvPr/>
        </p:nvSpPr>
        <p:spPr>
          <a:xfrm>
            <a:off x="2978535" y="7028531"/>
            <a:ext cx="3569246" cy="413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$500–$2.000 · сборка + ведение</a:t>
            </a:r>
            <a:endParaRPr/>
          </a:p>
        </p:txBody>
      </p:sp>
      <p:sp>
        <p:nvSpPr>
          <p:cNvPr id="702" name="Google Shape;702;p41"/>
          <p:cNvSpPr txBox="1"/>
          <p:nvPr/>
        </p:nvSpPr>
        <p:spPr>
          <a:xfrm>
            <a:off x="1459588" y="7764235"/>
            <a:ext cx="6224720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Набор Gold: потенциал $5.000+ в месяц</a:t>
            </a:r>
            <a:endParaRPr/>
          </a:p>
        </p:txBody>
      </p:sp>
      <p:sp>
        <p:nvSpPr>
          <p:cNvPr id="703" name="Google Shape;703;p41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8.jpg"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2"/>
          <p:cNvSpPr txBox="1"/>
          <p:nvPr/>
        </p:nvSpPr>
        <p:spPr>
          <a:xfrm>
            <a:off x="3520107" y="2625838"/>
            <a:ext cx="21036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10 НЕДЕЛЬ</a:t>
            </a:r>
            <a:endParaRPr/>
          </a:p>
        </p:txBody>
      </p:sp>
      <p:sp>
        <p:nvSpPr>
          <p:cNvPr id="711" name="Google Shape;711;p42"/>
          <p:cNvSpPr txBox="1"/>
          <p:nvPr/>
        </p:nvSpPr>
        <p:spPr>
          <a:xfrm>
            <a:off x="1887190" y="3126104"/>
            <a:ext cx="5369618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 что после?</a:t>
            </a:r>
            <a:endParaRPr/>
          </a:p>
        </p:txBody>
      </p:sp>
      <p:sp>
        <p:nvSpPr>
          <p:cNvPr id="712" name="Google Shape;712;p42"/>
          <p:cNvSpPr txBox="1"/>
          <p:nvPr/>
        </p:nvSpPr>
        <p:spPr>
          <a:xfrm>
            <a:off x="822239" y="4104696"/>
            <a:ext cx="2715759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Работающий агент</a:t>
            </a:r>
            <a:endParaRPr/>
          </a:p>
        </p:txBody>
      </p:sp>
      <p:sp>
        <p:nvSpPr>
          <p:cNvPr id="713" name="Google Shape;713;p42"/>
          <p:cNvSpPr txBox="1"/>
          <p:nvPr/>
        </p:nvSpPr>
        <p:spPr>
          <a:xfrm>
            <a:off x="3943245" y="4104696"/>
            <a:ext cx="1643168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Портфолио</a:t>
            </a:r>
            <a:endParaRPr/>
          </a:p>
        </p:txBody>
      </p:sp>
      <p:sp>
        <p:nvSpPr>
          <p:cNvPr id="714" name="Google Shape;714;p42"/>
          <p:cNvSpPr txBox="1"/>
          <p:nvPr/>
        </p:nvSpPr>
        <p:spPr>
          <a:xfrm>
            <a:off x="6061098" y="4104696"/>
            <a:ext cx="2191122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Первые сделки</a:t>
            </a:r>
            <a:endParaRPr/>
          </a:p>
        </p:txBody>
      </p:sp>
      <p:sp>
        <p:nvSpPr>
          <p:cNvPr id="715" name="Google Shape;715;p42"/>
          <p:cNvSpPr txBox="1"/>
          <p:nvPr/>
        </p:nvSpPr>
        <p:spPr>
          <a:xfrm>
            <a:off x="2301161" y="4783761"/>
            <a:ext cx="4907437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Понимание, где брать следующих</a:t>
            </a:r>
            <a:endParaRPr/>
          </a:p>
        </p:txBody>
      </p:sp>
      <p:sp>
        <p:nvSpPr>
          <p:cNvPr id="716" name="Google Shape;716;p42"/>
          <p:cNvSpPr txBox="1"/>
          <p:nvPr/>
        </p:nvSpPr>
        <p:spPr>
          <a:xfrm>
            <a:off x="1643182" y="5490380"/>
            <a:ext cx="5857532" cy="104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Дальше — углублять направление и поднимать чек или включать второе. Оно уже внутри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89.jpg" id="722" name="Google Shape;72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3"/>
          <p:cNvSpPr txBox="1"/>
          <p:nvPr/>
        </p:nvSpPr>
        <p:spPr>
          <a:xfrm>
            <a:off x="3148426" y="3808026"/>
            <a:ext cx="5995573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/>
          </a:p>
        </p:txBody>
      </p:sp>
      <p:sp>
        <p:nvSpPr>
          <p:cNvPr id="724" name="Google Shape;724;p43"/>
          <p:cNvSpPr txBox="1"/>
          <p:nvPr/>
        </p:nvSpPr>
        <p:spPr>
          <a:xfrm>
            <a:off x="731519" y="3117736"/>
            <a:ext cx="356808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 ИЗ 17</a:t>
            </a:r>
            <a:endParaRPr/>
          </a:p>
        </p:txBody>
      </p:sp>
      <p:sp>
        <p:nvSpPr>
          <p:cNvPr id="725" name="Google Shape;725;p43"/>
          <p:cNvSpPr txBox="1"/>
          <p:nvPr/>
        </p:nvSpPr>
        <p:spPr>
          <a:xfrm>
            <a:off x="731519" y="3544830"/>
            <a:ext cx="6941553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Полная система: 13 модулей · 10 недель</a:t>
            </a:r>
            <a:endParaRPr/>
          </a:p>
        </p:txBody>
      </p:sp>
      <p:sp>
        <p:nvSpPr>
          <p:cNvPr id="726" name="Google Shape;726;p43"/>
          <p:cNvSpPr txBox="1"/>
          <p:nvPr/>
        </p:nvSpPr>
        <p:spPr>
          <a:xfrm>
            <a:off x="731519" y="4864689"/>
            <a:ext cx="5803811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От первого помощника до сделки, которую закрывает агент. Контент, шаблоны, все обновления включены</a:t>
            </a:r>
            <a:endParaRPr/>
          </a:p>
        </p:txBody>
      </p:sp>
      <p:sp>
        <p:nvSpPr>
          <p:cNvPr id="727" name="Google Shape;727;p43"/>
          <p:cNvSpPr txBox="1"/>
          <p:nvPr/>
        </p:nvSpPr>
        <p:spPr>
          <a:xfrm>
            <a:off x="975734" y="672237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728" name="Google Shape;728;p43"/>
          <p:cNvSpPr txBox="1"/>
          <p:nvPr/>
        </p:nvSpPr>
        <p:spPr>
          <a:xfrm>
            <a:off x="2291408" y="6722370"/>
            <a:ext cx="11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$1.500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0.jpg" id="734" name="Google Shape;73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4"/>
          <p:cNvSpPr txBox="1"/>
          <p:nvPr/>
        </p:nvSpPr>
        <p:spPr>
          <a:xfrm>
            <a:off x="2787956" y="1160145"/>
            <a:ext cx="356808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2 ИЗ 17</a:t>
            </a:r>
            <a:endParaRPr/>
          </a:p>
        </p:txBody>
      </p:sp>
      <p:sp>
        <p:nvSpPr>
          <p:cNvPr id="736" name="Google Shape;736;p44"/>
          <p:cNvSpPr txBox="1"/>
          <p:nvPr/>
        </p:nvSpPr>
        <p:spPr>
          <a:xfrm>
            <a:off x="1910187" y="1582034"/>
            <a:ext cx="5323522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Готовые агенты под 7 трендовых услуг</a:t>
            </a:r>
            <a:endParaRPr/>
          </a:p>
        </p:txBody>
      </p:sp>
      <p:sp>
        <p:nvSpPr>
          <p:cNvPr id="737" name="Google Shape;737;p44"/>
          <p:cNvSpPr txBox="1"/>
          <p:nvPr/>
        </p:nvSpPr>
        <p:spPr>
          <a:xfrm>
            <a:off x="841227" y="2753201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38" name="Google Shape;738;p44"/>
          <p:cNvSpPr txBox="1"/>
          <p:nvPr/>
        </p:nvSpPr>
        <p:spPr>
          <a:xfrm>
            <a:off x="1247298" y="2703399"/>
            <a:ext cx="5455947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🌐 AI-сайты, которые приводят клиентов</a:t>
            </a:r>
            <a:endParaRPr/>
          </a:p>
        </p:txBody>
      </p:sp>
      <p:sp>
        <p:nvSpPr>
          <p:cNvPr id="739" name="Google Shape;739;p44"/>
          <p:cNvSpPr txBox="1"/>
          <p:nvPr/>
        </p:nvSpPr>
        <p:spPr>
          <a:xfrm>
            <a:off x="7631014" y="2722993"/>
            <a:ext cx="67175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740" name="Google Shape;740;p44"/>
          <p:cNvSpPr txBox="1"/>
          <p:nvPr/>
        </p:nvSpPr>
        <p:spPr>
          <a:xfrm>
            <a:off x="841227" y="3198460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41" name="Google Shape;741;p44"/>
          <p:cNvSpPr txBox="1"/>
          <p:nvPr/>
        </p:nvSpPr>
        <p:spPr>
          <a:xfrm>
            <a:off x="1247298" y="3148658"/>
            <a:ext cx="1673286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🎨 AI-дизайн</a:t>
            </a:r>
            <a:endParaRPr/>
          </a:p>
        </p:txBody>
      </p:sp>
      <p:sp>
        <p:nvSpPr>
          <p:cNvPr id="742" name="Google Shape;742;p44"/>
          <p:cNvSpPr txBox="1"/>
          <p:nvPr/>
        </p:nvSpPr>
        <p:spPr>
          <a:xfrm>
            <a:off x="7631014" y="3168253"/>
            <a:ext cx="67175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743" name="Google Shape;743;p44"/>
          <p:cNvSpPr txBox="1"/>
          <p:nvPr/>
        </p:nvSpPr>
        <p:spPr>
          <a:xfrm>
            <a:off x="841227" y="3643720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44" name="Google Shape;744;p44"/>
          <p:cNvSpPr txBox="1"/>
          <p:nvPr/>
        </p:nvSpPr>
        <p:spPr>
          <a:xfrm>
            <a:off x="1247298" y="3593918"/>
            <a:ext cx="3214720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🎬 Продающие AI-видео</a:t>
            </a:r>
            <a:endParaRPr/>
          </a:p>
        </p:txBody>
      </p:sp>
      <p:sp>
        <p:nvSpPr>
          <p:cNvPr id="745" name="Google Shape;745;p44"/>
          <p:cNvSpPr txBox="1"/>
          <p:nvPr/>
        </p:nvSpPr>
        <p:spPr>
          <a:xfrm>
            <a:off x="7631014" y="3613512"/>
            <a:ext cx="67175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746" name="Google Shape;746;p44"/>
          <p:cNvSpPr txBox="1"/>
          <p:nvPr/>
        </p:nvSpPr>
        <p:spPr>
          <a:xfrm>
            <a:off x="841227" y="4088980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47" name="Google Shape;747;p44"/>
          <p:cNvSpPr txBox="1"/>
          <p:nvPr/>
        </p:nvSpPr>
        <p:spPr>
          <a:xfrm>
            <a:off x="1247298" y="4039178"/>
            <a:ext cx="4299663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✍️ Контент-завод с AI-аватаром</a:t>
            </a:r>
            <a:endParaRPr/>
          </a:p>
        </p:txBody>
      </p:sp>
      <p:sp>
        <p:nvSpPr>
          <p:cNvPr id="748" name="Google Shape;748;p44"/>
          <p:cNvSpPr txBox="1"/>
          <p:nvPr/>
        </p:nvSpPr>
        <p:spPr>
          <a:xfrm>
            <a:off x="7631014" y="4058772"/>
            <a:ext cx="67175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$700</a:t>
            </a:r>
            <a:endParaRPr/>
          </a:p>
        </p:txBody>
      </p:sp>
      <p:sp>
        <p:nvSpPr>
          <p:cNvPr id="749" name="Google Shape;749;p44"/>
          <p:cNvSpPr txBox="1"/>
          <p:nvPr/>
        </p:nvSpPr>
        <p:spPr>
          <a:xfrm>
            <a:off x="841227" y="4534240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50" name="Google Shape;750;p44"/>
          <p:cNvSpPr txBox="1"/>
          <p:nvPr/>
        </p:nvSpPr>
        <p:spPr>
          <a:xfrm>
            <a:off x="1247298" y="4484438"/>
            <a:ext cx="4225687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🎯 AI-таргет (платная реклама)</a:t>
            </a:r>
            <a:endParaRPr/>
          </a:p>
        </p:txBody>
      </p:sp>
      <p:sp>
        <p:nvSpPr>
          <p:cNvPr id="751" name="Google Shape;751;p44"/>
          <p:cNvSpPr txBox="1"/>
          <p:nvPr/>
        </p:nvSpPr>
        <p:spPr>
          <a:xfrm>
            <a:off x="7295275" y="4504032"/>
            <a:ext cx="100749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752" name="Google Shape;752;p44"/>
          <p:cNvSpPr txBox="1"/>
          <p:nvPr/>
        </p:nvSpPr>
        <p:spPr>
          <a:xfrm>
            <a:off x="841227" y="4979499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753" name="Google Shape;753;p44"/>
          <p:cNvSpPr txBox="1"/>
          <p:nvPr/>
        </p:nvSpPr>
        <p:spPr>
          <a:xfrm>
            <a:off x="1247298" y="4929697"/>
            <a:ext cx="4867743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🧭 AI-SEO (видимость в нейросетях)</a:t>
            </a:r>
            <a:endParaRPr/>
          </a:p>
        </p:txBody>
      </p:sp>
      <p:sp>
        <p:nvSpPr>
          <p:cNvPr id="754" name="Google Shape;754;p44"/>
          <p:cNvSpPr txBox="1"/>
          <p:nvPr/>
        </p:nvSpPr>
        <p:spPr>
          <a:xfrm>
            <a:off x="7295275" y="4949292"/>
            <a:ext cx="100749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755" name="Google Shape;755;p44"/>
          <p:cNvSpPr txBox="1"/>
          <p:nvPr/>
        </p:nvSpPr>
        <p:spPr>
          <a:xfrm>
            <a:off x="841227" y="5424759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756" name="Google Shape;756;p44"/>
          <p:cNvSpPr txBox="1"/>
          <p:nvPr/>
        </p:nvSpPr>
        <p:spPr>
          <a:xfrm>
            <a:off x="1247298" y="5374957"/>
            <a:ext cx="2028318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💬 AI-продавец</a:t>
            </a:r>
            <a:endParaRPr/>
          </a:p>
        </p:txBody>
      </p:sp>
      <p:sp>
        <p:nvSpPr>
          <p:cNvPr id="757" name="Google Shape;757;p44"/>
          <p:cNvSpPr txBox="1"/>
          <p:nvPr/>
        </p:nvSpPr>
        <p:spPr>
          <a:xfrm>
            <a:off x="7295275" y="5394551"/>
            <a:ext cx="1007497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758" name="Google Shape;758;p44"/>
          <p:cNvSpPr txBox="1"/>
          <p:nvPr/>
        </p:nvSpPr>
        <p:spPr>
          <a:xfrm>
            <a:off x="1247298" y="5996157"/>
            <a:ext cx="2164890" cy="346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Ценность</a:t>
            </a:r>
            <a:endParaRPr/>
          </a:p>
        </p:txBody>
      </p:sp>
      <p:sp>
        <p:nvSpPr>
          <p:cNvPr id="759" name="Google Shape;759;p44"/>
          <p:cNvSpPr txBox="1"/>
          <p:nvPr/>
        </p:nvSpPr>
        <p:spPr>
          <a:xfrm>
            <a:off x="5987152" y="5901860"/>
            <a:ext cx="2315620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$5.200</a:t>
            </a:r>
            <a:endParaRPr/>
          </a:p>
        </p:txBody>
      </p:sp>
      <p:sp>
        <p:nvSpPr>
          <p:cNvPr id="760" name="Google Shape;760;p44"/>
          <p:cNvSpPr txBox="1"/>
          <p:nvPr/>
        </p:nvSpPr>
        <p:spPr>
          <a:xfrm>
            <a:off x="3073461" y="6825342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761" name="Google Shape;761;p44"/>
          <p:cNvSpPr txBox="1"/>
          <p:nvPr/>
        </p:nvSpPr>
        <p:spPr>
          <a:xfrm>
            <a:off x="4523167" y="6746965"/>
            <a:ext cx="1509372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$6.700</a:t>
            </a:r>
            <a:endParaRPr/>
          </a:p>
        </p:txBody>
      </p:sp>
      <p:sp>
        <p:nvSpPr>
          <p:cNvPr id="762" name="Google Shape;762;p44"/>
          <p:cNvSpPr txBox="1"/>
          <p:nvPr/>
        </p:nvSpPr>
        <p:spPr>
          <a:xfrm>
            <a:off x="1789950" y="7300810"/>
            <a:ext cx="5563895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Каждую услугу делает свой агент. Собрать такого у разработчика — от $400 за штуку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1.jpg" id="768" name="Google Shape;7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439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5"/>
          <p:cNvSpPr txBox="1"/>
          <p:nvPr/>
        </p:nvSpPr>
        <p:spPr>
          <a:xfrm>
            <a:off x="1591015" y="920625"/>
            <a:ext cx="356808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3 ИЗ 17</a:t>
            </a:r>
            <a:endParaRPr/>
          </a:p>
        </p:txBody>
      </p:sp>
      <p:sp>
        <p:nvSpPr>
          <p:cNvPr id="770" name="Google Shape;770;p45"/>
          <p:cNvSpPr txBox="1"/>
          <p:nvPr/>
        </p:nvSpPr>
        <p:spPr>
          <a:xfrm>
            <a:off x="1591015" y="1159634"/>
            <a:ext cx="7515682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46 готовых задач под ваши услуги</a:t>
            </a:r>
            <a:endParaRPr/>
          </a:p>
        </p:txBody>
      </p:sp>
      <p:sp>
        <p:nvSpPr>
          <p:cNvPr id="771" name="Google Shape;771;p45"/>
          <p:cNvSpPr txBox="1"/>
          <p:nvPr/>
        </p:nvSpPr>
        <p:spPr>
          <a:xfrm>
            <a:off x="731519" y="2174557"/>
            <a:ext cx="7366520" cy="70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Тексты, картинки, видео, письма, разборы, отчёты — на любой шаг есть готовый исполнитель</a:t>
            </a:r>
            <a:endParaRPr/>
          </a:p>
        </p:txBody>
      </p:sp>
      <p:sp>
        <p:nvSpPr>
          <p:cNvPr id="772" name="Google Shape;772;p45"/>
          <p:cNvSpPr txBox="1"/>
          <p:nvPr/>
        </p:nvSpPr>
        <p:spPr>
          <a:xfrm>
            <a:off x="4985766" y="3071914"/>
            <a:ext cx="4158233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живой сайт · клик по полоске — вернуть клавиши</a:t>
            </a:r>
            <a:endParaRPr/>
          </a:p>
        </p:txBody>
      </p:sp>
      <p:sp>
        <p:nvSpPr>
          <p:cNvPr id="773" name="Google Shape;773;p45"/>
          <p:cNvSpPr txBox="1"/>
          <p:nvPr/>
        </p:nvSpPr>
        <p:spPr>
          <a:xfrm>
            <a:off x="975734" y="7858839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774" name="Google Shape;774;p45"/>
          <p:cNvSpPr txBox="1"/>
          <p:nvPr/>
        </p:nvSpPr>
        <p:spPr>
          <a:xfrm>
            <a:off x="2291408" y="7858839"/>
            <a:ext cx="11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$4.800</a:t>
            </a:r>
            <a:endParaRPr/>
          </a:p>
        </p:txBody>
      </p:sp>
      <p:sp>
        <p:nvSpPr>
          <p:cNvPr id="775" name="Google Shape;775;p45"/>
          <p:cNvSpPr txBox="1"/>
          <p:nvPr/>
        </p:nvSpPr>
        <p:spPr>
          <a:xfrm>
            <a:off x="5642031" y="7809853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776" name="Google Shape;776;p45"/>
          <p:cNvSpPr txBox="1"/>
          <p:nvPr/>
        </p:nvSpPr>
        <p:spPr>
          <a:xfrm>
            <a:off x="7053840" y="7731476"/>
            <a:ext cx="1615132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$11.500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2.jpg" id="782" name="Google Shape;78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6"/>
          <p:cNvSpPr txBox="1"/>
          <p:nvPr/>
        </p:nvSpPr>
        <p:spPr>
          <a:xfrm>
            <a:off x="1591015" y="1881255"/>
            <a:ext cx="550688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4 ИЗ 17 · БОНУС</a:t>
            </a:r>
            <a:endParaRPr/>
          </a:p>
        </p:txBody>
      </p:sp>
      <p:sp>
        <p:nvSpPr>
          <p:cNvPr id="784" name="Google Shape;784;p46"/>
          <p:cNvSpPr txBox="1"/>
          <p:nvPr/>
        </p:nvSpPr>
        <p:spPr>
          <a:xfrm>
            <a:off x="1591015" y="2120265"/>
            <a:ext cx="7429614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База шаблонов сайтов под разные ниши</a:t>
            </a:r>
            <a:endParaRPr/>
          </a:p>
        </p:txBody>
      </p:sp>
      <p:sp>
        <p:nvSpPr>
          <p:cNvPr id="785" name="Google Shape;785;p46"/>
          <p:cNvSpPr txBox="1"/>
          <p:nvPr/>
        </p:nvSpPr>
        <p:spPr>
          <a:xfrm>
            <a:off x="731519" y="3135187"/>
            <a:ext cx="7331087" cy="70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Берёте шаблон под нишу клиента — агент подставляет его продукт и цены</a:t>
            </a:r>
            <a:endParaRPr/>
          </a:p>
        </p:txBody>
      </p:sp>
      <p:sp>
        <p:nvSpPr>
          <p:cNvPr id="786" name="Google Shape;786;p46"/>
          <p:cNvSpPr txBox="1"/>
          <p:nvPr/>
        </p:nvSpPr>
        <p:spPr>
          <a:xfrm>
            <a:off x="975734" y="6898311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787" name="Google Shape;787;p46"/>
          <p:cNvSpPr txBox="1"/>
          <p:nvPr/>
        </p:nvSpPr>
        <p:spPr>
          <a:xfrm>
            <a:off x="2291408" y="6898311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$600</a:t>
            </a:r>
            <a:endParaRPr/>
          </a:p>
        </p:txBody>
      </p:sp>
      <p:sp>
        <p:nvSpPr>
          <p:cNvPr id="788" name="Google Shape;788;p46"/>
          <p:cNvSpPr txBox="1"/>
          <p:nvPr/>
        </p:nvSpPr>
        <p:spPr>
          <a:xfrm>
            <a:off x="5653257" y="6849325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789" name="Google Shape;789;p46"/>
          <p:cNvSpPr txBox="1"/>
          <p:nvPr/>
        </p:nvSpPr>
        <p:spPr>
          <a:xfrm>
            <a:off x="7065066" y="6770948"/>
            <a:ext cx="1599865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$12.100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3.jpg" id="795" name="Google Shape;7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7"/>
          <p:cNvSpPr txBox="1"/>
          <p:nvPr/>
        </p:nvSpPr>
        <p:spPr>
          <a:xfrm>
            <a:off x="1981317" y="4035912"/>
            <a:ext cx="7162682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05</a:t>
            </a:r>
            <a:endParaRPr/>
          </a:p>
        </p:txBody>
      </p:sp>
      <p:sp>
        <p:nvSpPr>
          <p:cNvPr id="797" name="Google Shape;797;p47"/>
          <p:cNvSpPr txBox="1"/>
          <p:nvPr/>
        </p:nvSpPr>
        <p:spPr>
          <a:xfrm>
            <a:off x="731519" y="2889850"/>
            <a:ext cx="7645755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5 ИЗ 17 · ЗАКРЫВАЕТ «А ВДРУГ НЕ СРАБОТАЕТ»</a:t>
            </a:r>
            <a:endParaRPr/>
          </a:p>
        </p:txBody>
      </p:sp>
      <p:sp>
        <p:nvSpPr>
          <p:cNvPr id="798" name="Google Shape;798;p47"/>
          <p:cNvSpPr txBox="1"/>
          <p:nvPr/>
        </p:nvSpPr>
        <p:spPr>
          <a:xfrm>
            <a:off x="731519" y="3552076"/>
            <a:ext cx="714557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Готовая база кейсов под все услуги</a:t>
            </a:r>
            <a:endParaRPr/>
          </a:p>
        </p:txBody>
      </p:sp>
      <p:sp>
        <p:nvSpPr>
          <p:cNvPr id="799" name="Google Shape;799;p47"/>
          <p:cNvSpPr txBox="1"/>
          <p:nvPr/>
        </p:nvSpPr>
        <p:spPr>
          <a:xfrm>
            <a:off x="731519" y="4871935"/>
            <a:ext cx="6143396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Есть что показать в первом разговоре, даже если своих работ ещё нет</a:t>
            </a:r>
            <a:endParaRPr/>
          </a:p>
        </p:txBody>
      </p:sp>
      <p:sp>
        <p:nvSpPr>
          <p:cNvPr id="800" name="Google Shape;800;p47"/>
          <p:cNvSpPr txBox="1"/>
          <p:nvPr/>
        </p:nvSpPr>
        <p:spPr>
          <a:xfrm>
            <a:off x="975734" y="6314156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01" name="Google Shape;801;p47"/>
          <p:cNvSpPr txBox="1"/>
          <p:nvPr/>
        </p:nvSpPr>
        <p:spPr>
          <a:xfrm>
            <a:off x="2291408" y="6314156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$400</a:t>
            </a:r>
            <a:endParaRPr/>
          </a:p>
        </p:txBody>
      </p:sp>
      <p:sp>
        <p:nvSpPr>
          <p:cNvPr id="802" name="Google Shape;802;p47"/>
          <p:cNvSpPr txBox="1"/>
          <p:nvPr/>
        </p:nvSpPr>
        <p:spPr>
          <a:xfrm>
            <a:off x="902561" y="7028633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03" name="Google Shape;803;p47"/>
          <p:cNvSpPr txBox="1"/>
          <p:nvPr/>
        </p:nvSpPr>
        <p:spPr>
          <a:xfrm>
            <a:off x="2314370" y="6950256"/>
            <a:ext cx="1716312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$12.500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4.jpg" id="809" name="Google Shape;80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8"/>
          <p:cNvSpPr txBox="1"/>
          <p:nvPr/>
        </p:nvSpPr>
        <p:spPr>
          <a:xfrm>
            <a:off x="1769935" y="4035912"/>
            <a:ext cx="7374064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06</a:t>
            </a:r>
            <a:endParaRPr/>
          </a:p>
        </p:txBody>
      </p:sp>
      <p:sp>
        <p:nvSpPr>
          <p:cNvPr id="811" name="Google Shape;811;p48"/>
          <p:cNvSpPr txBox="1"/>
          <p:nvPr/>
        </p:nvSpPr>
        <p:spPr>
          <a:xfrm>
            <a:off x="731519" y="2889850"/>
            <a:ext cx="8039061" cy="496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6 ИЗ 17 · ЗАКРЫВАЕТ «НЕТ ДЕНЕГ НА НЕЙРОСЕТИ»</a:t>
            </a:r>
            <a:endParaRPr/>
          </a:p>
        </p:txBody>
      </p:sp>
      <p:sp>
        <p:nvSpPr>
          <p:cNvPr id="812" name="Google Shape;812;p48"/>
          <p:cNvSpPr txBox="1"/>
          <p:nvPr/>
        </p:nvSpPr>
        <p:spPr>
          <a:xfrm>
            <a:off x="731519" y="3552076"/>
            <a:ext cx="755923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Нейросети и сервисы со скидкой до −75%</a:t>
            </a:r>
            <a:endParaRPr/>
          </a:p>
        </p:txBody>
      </p:sp>
      <p:sp>
        <p:nvSpPr>
          <p:cNvPr id="813" name="Google Shape;813;p48"/>
          <p:cNvSpPr txBox="1"/>
          <p:nvPr/>
        </p:nvSpPr>
        <p:spPr>
          <a:xfrm>
            <a:off x="731519" y="4871935"/>
            <a:ext cx="5239854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Доступы, на которых экономите каждый месяц, пока пользуетесь</a:t>
            </a:r>
            <a:endParaRPr/>
          </a:p>
        </p:txBody>
      </p:sp>
      <p:sp>
        <p:nvSpPr>
          <p:cNvPr id="814" name="Google Shape;814;p48"/>
          <p:cNvSpPr txBox="1"/>
          <p:nvPr/>
        </p:nvSpPr>
        <p:spPr>
          <a:xfrm>
            <a:off x="975734" y="6314156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15" name="Google Shape;815;p48"/>
          <p:cNvSpPr txBox="1"/>
          <p:nvPr/>
        </p:nvSpPr>
        <p:spPr>
          <a:xfrm>
            <a:off x="2291408" y="6314156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$900</a:t>
            </a:r>
            <a:endParaRPr/>
          </a:p>
        </p:txBody>
      </p:sp>
      <p:sp>
        <p:nvSpPr>
          <p:cNvPr id="816" name="Google Shape;816;p48"/>
          <p:cNvSpPr txBox="1"/>
          <p:nvPr/>
        </p:nvSpPr>
        <p:spPr>
          <a:xfrm>
            <a:off x="902561" y="7028633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17" name="Google Shape;817;p48"/>
          <p:cNvSpPr txBox="1"/>
          <p:nvPr/>
        </p:nvSpPr>
        <p:spPr>
          <a:xfrm>
            <a:off x="2314370" y="6950256"/>
            <a:ext cx="1738241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$13.400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5.jpg" id="823" name="Google Shape;8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9"/>
          <p:cNvSpPr txBox="1"/>
          <p:nvPr/>
        </p:nvSpPr>
        <p:spPr>
          <a:xfrm>
            <a:off x="2197001" y="3918346"/>
            <a:ext cx="6946998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07</a:t>
            </a:r>
            <a:endParaRPr/>
          </a:p>
        </p:txBody>
      </p:sp>
      <p:sp>
        <p:nvSpPr>
          <p:cNvPr id="825" name="Google Shape;825;p49"/>
          <p:cNvSpPr txBox="1"/>
          <p:nvPr/>
        </p:nvSpPr>
        <p:spPr>
          <a:xfrm>
            <a:off x="731519" y="3007416"/>
            <a:ext cx="356808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7 ИЗ 17</a:t>
            </a:r>
            <a:endParaRPr/>
          </a:p>
        </p:txBody>
      </p:sp>
      <p:sp>
        <p:nvSpPr>
          <p:cNvPr id="826" name="Google Shape;826;p49"/>
          <p:cNvSpPr txBox="1"/>
          <p:nvPr/>
        </p:nvSpPr>
        <p:spPr>
          <a:xfrm>
            <a:off x="731519" y="3434510"/>
            <a:ext cx="5777179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Живые разборы ваших задач</a:t>
            </a:r>
            <a:endParaRPr/>
          </a:p>
        </p:txBody>
      </p:sp>
      <p:sp>
        <p:nvSpPr>
          <p:cNvPr id="827" name="Google Shape;827;p49"/>
          <p:cNvSpPr txBox="1"/>
          <p:nvPr/>
        </p:nvSpPr>
        <p:spPr>
          <a:xfrm>
            <a:off x="731519" y="4754369"/>
            <a:ext cx="5966231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Раз в неделю: приносите свой случай — уходите с решением</a:t>
            </a:r>
            <a:endParaRPr/>
          </a:p>
        </p:txBody>
      </p:sp>
      <p:sp>
        <p:nvSpPr>
          <p:cNvPr id="828" name="Google Shape;828;p49"/>
          <p:cNvSpPr txBox="1"/>
          <p:nvPr/>
        </p:nvSpPr>
        <p:spPr>
          <a:xfrm>
            <a:off x="975734" y="619659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29" name="Google Shape;829;p49"/>
          <p:cNvSpPr txBox="1"/>
          <p:nvPr/>
        </p:nvSpPr>
        <p:spPr>
          <a:xfrm>
            <a:off x="2291408" y="6196590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$900</a:t>
            </a:r>
            <a:endParaRPr/>
          </a:p>
        </p:txBody>
      </p:sp>
      <p:sp>
        <p:nvSpPr>
          <p:cNvPr id="830" name="Google Shape;830;p49"/>
          <p:cNvSpPr txBox="1"/>
          <p:nvPr/>
        </p:nvSpPr>
        <p:spPr>
          <a:xfrm>
            <a:off x="902561" y="691106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31" name="Google Shape;831;p49"/>
          <p:cNvSpPr txBox="1"/>
          <p:nvPr/>
        </p:nvSpPr>
        <p:spPr>
          <a:xfrm>
            <a:off x="2314370" y="6832690"/>
            <a:ext cx="1738241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$14.300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6.jpg" id="837" name="Google Shape;83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0"/>
          <p:cNvSpPr txBox="1"/>
          <p:nvPr/>
        </p:nvSpPr>
        <p:spPr>
          <a:xfrm>
            <a:off x="1600885" y="3918346"/>
            <a:ext cx="7543114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08</a:t>
            </a:r>
            <a:endParaRPr/>
          </a:p>
        </p:txBody>
      </p:sp>
      <p:sp>
        <p:nvSpPr>
          <p:cNvPr id="839" name="Google Shape;839;p50"/>
          <p:cNvSpPr txBox="1"/>
          <p:nvPr/>
        </p:nvSpPr>
        <p:spPr>
          <a:xfrm>
            <a:off x="731519" y="3007416"/>
            <a:ext cx="550688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8 ИЗ 17 · БОНУС</a:t>
            </a:r>
            <a:endParaRPr/>
          </a:p>
        </p:txBody>
      </p:sp>
      <p:sp>
        <p:nvSpPr>
          <p:cNvPr id="840" name="Google Shape;840;p50"/>
          <p:cNvSpPr txBox="1"/>
          <p:nvPr/>
        </p:nvSpPr>
        <p:spPr>
          <a:xfrm>
            <a:off x="731519" y="3434510"/>
            <a:ext cx="728856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Шаблоны договоров и приём оплаты</a:t>
            </a:r>
            <a:endParaRPr/>
          </a:p>
        </p:txBody>
      </p:sp>
      <p:sp>
        <p:nvSpPr>
          <p:cNvPr id="841" name="Google Shape;841;p50"/>
          <p:cNvSpPr txBox="1"/>
          <p:nvPr/>
        </p:nvSpPr>
        <p:spPr>
          <a:xfrm>
            <a:off x="731519" y="4754369"/>
            <a:ext cx="5321922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Как принять деньги и не остаться без них</a:t>
            </a:r>
            <a:endParaRPr/>
          </a:p>
        </p:txBody>
      </p:sp>
      <p:sp>
        <p:nvSpPr>
          <p:cNvPr id="842" name="Google Shape;842;p50"/>
          <p:cNvSpPr txBox="1"/>
          <p:nvPr/>
        </p:nvSpPr>
        <p:spPr>
          <a:xfrm>
            <a:off x="975734" y="619659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43" name="Google Shape;843;p50"/>
          <p:cNvSpPr txBox="1"/>
          <p:nvPr/>
        </p:nvSpPr>
        <p:spPr>
          <a:xfrm>
            <a:off x="2291408" y="6196590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$350</a:t>
            </a:r>
            <a:endParaRPr/>
          </a:p>
        </p:txBody>
      </p:sp>
      <p:sp>
        <p:nvSpPr>
          <p:cNvPr id="844" name="Google Shape;844;p50"/>
          <p:cNvSpPr txBox="1"/>
          <p:nvPr/>
        </p:nvSpPr>
        <p:spPr>
          <a:xfrm>
            <a:off x="902561" y="691106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45" name="Google Shape;845;p50"/>
          <p:cNvSpPr txBox="1"/>
          <p:nvPr/>
        </p:nvSpPr>
        <p:spPr>
          <a:xfrm>
            <a:off x="2314370" y="6832690"/>
            <a:ext cx="1705347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$14.650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7.jpg" id="851" name="Google Shape;85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51"/>
          <p:cNvSpPr txBox="1"/>
          <p:nvPr/>
        </p:nvSpPr>
        <p:spPr>
          <a:xfrm>
            <a:off x="1769935" y="3918346"/>
            <a:ext cx="7374064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09</a:t>
            </a:r>
            <a:endParaRPr/>
          </a:p>
        </p:txBody>
      </p:sp>
      <p:sp>
        <p:nvSpPr>
          <p:cNvPr id="853" name="Google Shape;853;p51"/>
          <p:cNvSpPr txBox="1"/>
          <p:nvPr/>
        </p:nvSpPr>
        <p:spPr>
          <a:xfrm>
            <a:off x="731519" y="3007416"/>
            <a:ext cx="550688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9 ИЗ 17 · БОНУС</a:t>
            </a:r>
            <a:endParaRPr/>
          </a:p>
        </p:txBody>
      </p:sp>
      <p:sp>
        <p:nvSpPr>
          <p:cNvPr id="854" name="Google Shape;854;p51"/>
          <p:cNvSpPr txBox="1"/>
          <p:nvPr/>
        </p:nvSpPr>
        <p:spPr>
          <a:xfrm>
            <a:off x="731519" y="3434510"/>
            <a:ext cx="7335202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Обновления агентов, пока пользуетесь</a:t>
            </a:r>
            <a:endParaRPr/>
          </a:p>
        </p:txBody>
      </p:sp>
      <p:sp>
        <p:nvSpPr>
          <p:cNvPr id="855" name="Google Shape;855;p51"/>
          <p:cNvSpPr txBox="1"/>
          <p:nvPr/>
        </p:nvSpPr>
        <p:spPr>
          <a:xfrm>
            <a:off x="731519" y="4754369"/>
            <a:ext cx="5656478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Модели меняются каждый месяц — агенты обновляются вместе с ними</a:t>
            </a:r>
            <a:endParaRPr/>
          </a:p>
        </p:txBody>
      </p:sp>
      <p:sp>
        <p:nvSpPr>
          <p:cNvPr id="856" name="Google Shape;856;p51"/>
          <p:cNvSpPr txBox="1"/>
          <p:nvPr/>
        </p:nvSpPr>
        <p:spPr>
          <a:xfrm>
            <a:off x="975734" y="619659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57" name="Google Shape;857;p51"/>
          <p:cNvSpPr txBox="1"/>
          <p:nvPr/>
        </p:nvSpPr>
        <p:spPr>
          <a:xfrm>
            <a:off x="2291408" y="6196590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$500</a:t>
            </a:r>
            <a:endParaRPr/>
          </a:p>
        </p:txBody>
      </p:sp>
      <p:sp>
        <p:nvSpPr>
          <p:cNvPr id="858" name="Google Shape;858;p51"/>
          <p:cNvSpPr txBox="1"/>
          <p:nvPr/>
        </p:nvSpPr>
        <p:spPr>
          <a:xfrm>
            <a:off x="902561" y="691106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59" name="Google Shape;859;p51"/>
          <p:cNvSpPr txBox="1"/>
          <p:nvPr/>
        </p:nvSpPr>
        <p:spPr>
          <a:xfrm>
            <a:off x="2314370" y="6832690"/>
            <a:ext cx="1549761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$15.150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8.jpg" id="865" name="Google Shape;8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52"/>
          <p:cNvSpPr txBox="1"/>
          <p:nvPr/>
        </p:nvSpPr>
        <p:spPr>
          <a:xfrm>
            <a:off x="3148426" y="3918346"/>
            <a:ext cx="5995573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10</a:t>
            </a:r>
            <a:endParaRPr/>
          </a:p>
        </p:txBody>
      </p:sp>
      <p:sp>
        <p:nvSpPr>
          <p:cNvPr id="867" name="Google Shape;867;p52"/>
          <p:cNvSpPr txBox="1"/>
          <p:nvPr/>
        </p:nvSpPr>
        <p:spPr>
          <a:xfrm>
            <a:off x="0" y="3007416"/>
            <a:ext cx="9143999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10 ИЗ 17 · ЗАКРЫВАЕТ «А Я НЕ СМОГУ»</a:t>
            </a:r>
            <a:endParaRPr/>
          </a:p>
        </p:txBody>
      </p:sp>
      <p:sp>
        <p:nvSpPr>
          <p:cNvPr id="868" name="Google Shape;868;p52"/>
          <p:cNvSpPr txBox="1"/>
          <p:nvPr/>
        </p:nvSpPr>
        <p:spPr>
          <a:xfrm>
            <a:off x="731519" y="3434510"/>
            <a:ext cx="7692047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Куратор, который проверяет ваши шаги</a:t>
            </a:r>
            <a:endParaRPr/>
          </a:p>
        </p:txBody>
      </p:sp>
      <p:sp>
        <p:nvSpPr>
          <p:cNvPr id="869" name="Google Shape;869;p52"/>
          <p:cNvSpPr txBox="1"/>
          <p:nvPr/>
        </p:nvSpPr>
        <p:spPr>
          <a:xfrm>
            <a:off x="731519" y="4754369"/>
            <a:ext cx="5237226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Ошибку заметят раньше, чем она будет стоить денег</a:t>
            </a:r>
            <a:endParaRPr/>
          </a:p>
        </p:txBody>
      </p:sp>
      <p:sp>
        <p:nvSpPr>
          <p:cNvPr id="870" name="Google Shape;870;p52"/>
          <p:cNvSpPr txBox="1"/>
          <p:nvPr/>
        </p:nvSpPr>
        <p:spPr>
          <a:xfrm>
            <a:off x="975734" y="619659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71" name="Google Shape;871;p52"/>
          <p:cNvSpPr txBox="1"/>
          <p:nvPr/>
        </p:nvSpPr>
        <p:spPr>
          <a:xfrm>
            <a:off x="2291408" y="6196590"/>
            <a:ext cx="11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$1.100</a:t>
            </a:r>
            <a:endParaRPr/>
          </a:p>
        </p:txBody>
      </p:sp>
      <p:sp>
        <p:nvSpPr>
          <p:cNvPr id="872" name="Google Shape;872;p52"/>
          <p:cNvSpPr txBox="1"/>
          <p:nvPr/>
        </p:nvSpPr>
        <p:spPr>
          <a:xfrm>
            <a:off x="902561" y="691106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73" name="Google Shape;873;p52"/>
          <p:cNvSpPr txBox="1"/>
          <p:nvPr/>
        </p:nvSpPr>
        <p:spPr>
          <a:xfrm>
            <a:off x="2314370" y="6832690"/>
            <a:ext cx="1694383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$16.250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99.jpg" id="879" name="Google Shape;87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3"/>
          <p:cNvSpPr txBox="1"/>
          <p:nvPr/>
        </p:nvSpPr>
        <p:spPr>
          <a:xfrm>
            <a:off x="4814218" y="3918346"/>
            <a:ext cx="432978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11</a:t>
            </a:r>
            <a:endParaRPr/>
          </a:p>
        </p:txBody>
      </p:sp>
      <p:sp>
        <p:nvSpPr>
          <p:cNvPr id="881" name="Google Shape;881;p53"/>
          <p:cNvSpPr txBox="1"/>
          <p:nvPr/>
        </p:nvSpPr>
        <p:spPr>
          <a:xfrm>
            <a:off x="731519" y="3007416"/>
            <a:ext cx="379251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11 ИЗ 17</a:t>
            </a:r>
            <a:endParaRPr/>
          </a:p>
        </p:txBody>
      </p:sp>
      <p:sp>
        <p:nvSpPr>
          <p:cNvPr id="882" name="Google Shape;882;p53"/>
          <p:cNvSpPr txBox="1"/>
          <p:nvPr/>
        </p:nvSpPr>
        <p:spPr>
          <a:xfrm>
            <a:off x="667512" y="3434510"/>
            <a:ext cx="847648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Закрытый чат и рейтинг в игровой форме</a:t>
            </a:r>
            <a:endParaRPr/>
          </a:p>
        </p:txBody>
      </p:sp>
      <p:sp>
        <p:nvSpPr>
          <p:cNvPr id="883" name="Google Shape;883;p53"/>
          <p:cNvSpPr txBox="1"/>
          <p:nvPr/>
        </p:nvSpPr>
        <p:spPr>
          <a:xfrm>
            <a:off x="731519" y="4754369"/>
            <a:ext cx="6032868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Вопрос в 23:00 — ответ в 23:05. И таблица, где видно, кто на каком шаге</a:t>
            </a:r>
            <a:endParaRPr/>
          </a:p>
        </p:txBody>
      </p:sp>
      <p:sp>
        <p:nvSpPr>
          <p:cNvPr id="884" name="Google Shape;884;p53"/>
          <p:cNvSpPr txBox="1"/>
          <p:nvPr/>
        </p:nvSpPr>
        <p:spPr>
          <a:xfrm>
            <a:off x="975734" y="6196590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85" name="Google Shape;885;p53"/>
          <p:cNvSpPr txBox="1"/>
          <p:nvPr/>
        </p:nvSpPr>
        <p:spPr>
          <a:xfrm>
            <a:off x="2291408" y="6196590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$300</a:t>
            </a:r>
            <a:endParaRPr/>
          </a:p>
        </p:txBody>
      </p:sp>
      <p:sp>
        <p:nvSpPr>
          <p:cNvPr id="886" name="Google Shape;886;p53"/>
          <p:cNvSpPr txBox="1"/>
          <p:nvPr/>
        </p:nvSpPr>
        <p:spPr>
          <a:xfrm>
            <a:off x="902561" y="691106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887" name="Google Shape;887;p53"/>
          <p:cNvSpPr txBox="1"/>
          <p:nvPr/>
        </p:nvSpPr>
        <p:spPr>
          <a:xfrm>
            <a:off x="2314370" y="6832690"/>
            <a:ext cx="1682308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$16.550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0.jpg" id="893" name="Google Shape;8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54"/>
          <p:cNvSpPr txBox="1"/>
          <p:nvPr/>
        </p:nvSpPr>
        <p:spPr>
          <a:xfrm>
            <a:off x="3490828" y="4392691"/>
            <a:ext cx="565317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12</a:t>
            </a:r>
            <a:endParaRPr/>
          </a:p>
        </p:txBody>
      </p:sp>
      <p:sp>
        <p:nvSpPr>
          <p:cNvPr id="895" name="Google Shape;895;p54"/>
          <p:cNvSpPr txBox="1"/>
          <p:nvPr/>
        </p:nvSpPr>
        <p:spPr>
          <a:xfrm>
            <a:off x="731519" y="2533071"/>
            <a:ext cx="573131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12 ИЗ 17 · БОНУС</a:t>
            </a:r>
            <a:endParaRPr/>
          </a:p>
        </p:txBody>
      </p:sp>
      <p:sp>
        <p:nvSpPr>
          <p:cNvPr id="896" name="Google Shape;896;p54"/>
          <p:cNvSpPr txBox="1"/>
          <p:nvPr/>
        </p:nvSpPr>
        <p:spPr>
          <a:xfrm>
            <a:off x="731519" y="2960165"/>
            <a:ext cx="6795820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Доска объявлений: работа и клиенты для учеников</a:t>
            </a:r>
            <a:endParaRPr/>
          </a:p>
        </p:txBody>
      </p:sp>
      <p:sp>
        <p:nvSpPr>
          <p:cNvPr id="897" name="Google Shape;897;p54"/>
          <p:cNvSpPr txBox="1"/>
          <p:nvPr/>
        </p:nvSpPr>
        <p:spPr>
          <a:xfrm>
            <a:off x="731519" y="4813254"/>
            <a:ext cx="5928855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Регулярные предложения от заказчиков и партнёров — только для тех, кто в программе</a:t>
            </a:r>
            <a:endParaRPr/>
          </a:p>
        </p:txBody>
      </p:sp>
      <p:sp>
        <p:nvSpPr>
          <p:cNvPr id="898" name="Google Shape;898;p54"/>
          <p:cNvSpPr txBox="1"/>
          <p:nvPr/>
        </p:nvSpPr>
        <p:spPr>
          <a:xfrm>
            <a:off x="975734" y="6670935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899" name="Google Shape;899;p54"/>
          <p:cNvSpPr txBox="1"/>
          <p:nvPr/>
        </p:nvSpPr>
        <p:spPr>
          <a:xfrm>
            <a:off x="2291408" y="6670935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$600</a:t>
            </a:r>
            <a:endParaRPr/>
          </a:p>
        </p:txBody>
      </p:sp>
      <p:sp>
        <p:nvSpPr>
          <p:cNvPr id="900" name="Google Shape;900;p54"/>
          <p:cNvSpPr txBox="1"/>
          <p:nvPr/>
        </p:nvSpPr>
        <p:spPr>
          <a:xfrm>
            <a:off x="902561" y="7385412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01" name="Google Shape;901;p54"/>
          <p:cNvSpPr txBox="1"/>
          <p:nvPr/>
        </p:nvSpPr>
        <p:spPr>
          <a:xfrm>
            <a:off x="2314370" y="7307035"/>
            <a:ext cx="1501322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$17.150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1.jpg" id="907" name="Google Shape;90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55"/>
          <p:cNvSpPr txBox="1"/>
          <p:nvPr/>
        </p:nvSpPr>
        <p:spPr>
          <a:xfrm>
            <a:off x="3503597" y="4392691"/>
            <a:ext cx="5640402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13</a:t>
            </a:r>
            <a:endParaRPr/>
          </a:p>
        </p:txBody>
      </p:sp>
      <p:sp>
        <p:nvSpPr>
          <p:cNvPr id="909" name="Google Shape;909;p55"/>
          <p:cNvSpPr txBox="1"/>
          <p:nvPr/>
        </p:nvSpPr>
        <p:spPr>
          <a:xfrm>
            <a:off x="731519" y="2533071"/>
            <a:ext cx="379251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13 ИЗ 17</a:t>
            </a:r>
            <a:endParaRPr/>
          </a:p>
        </p:txBody>
      </p:sp>
      <p:sp>
        <p:nvSpPr>
          <p:cNvPr id="910" name="Google Shape;910;p55"/>
          <p:cNvSpPr txBox="1"/>
          <p:nvPr/>
        </p:nvSpPr>
        <p:spPr>
          <a:xfrm>
            <a:off x="731519" y="2960165"/>
            <a:ext cx="6539903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Настройки агента-продавца под ваши услуги</a:t>
            </a:r>
            <a:endParaRPr/>
          </a:p>
        </p:txBody>
      </p:sp>
      <p:sp>
        <p:nvSpPr>
          <p:cNvPr id="911" name="Google Shape;911;p55"/>
          <p:cNvSpPr txBox="1"/>
          <p:nvPr/>
        </p:nvSpPr>
        <p:spPr>
          <a:xfrm>
            <a:off x="731519" y="4813254"/>
            <a:ext cx="5062918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Как поставить его в Telegram, WhatsApp и Instagram, чтобы он продавал именно ваше</a:t>
            </a:r>
            <a:endParaRPr/>
          </a:p>
        </p:txBody>
      </p:sp>
      <p:sp>
        <p:nvSpPr>
          <p:cNvPr id="912" name="Google Shape;912;p55"/>
          <p:cNvSpPr txBox="1"/>
          <p:nvPr/>
        </p:nvSpPr>
        <p:spPr>
          <a:xfrm>
            <a:off x="975734" y="6670935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913" name="Google Shape;913;p55"/>
          <p:cNvSpPr txBox="1"/>
          <p:nvPr/>
        </p:nvSpPr>
        <p:spPr>
          <a:xfrm>
            <a:off x="2291408" y="6670935"/>
            <a:ext cx="11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$1.200</a:t>
            </a:r>
            <a:endParaRPr/>
          </a:p>
        </p:txBody>
      </p:sp>
      <p:sp>
        <p:nvSpPr>
          <p:cNvPr id="914" name="Google Shape;914;p55"/>
          <p:cNvSpPr txBox="1"/>
          <p:nvPr/>
        </p:nvSpPr>
        <p:spPr>
          <a:xfrm>
            <a:off x="902561" y="7385412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15" name="Google Shape;915;p55"/>
          <p:cNvSpPr txBox="1"/>
          <p:nvPr/>
        </p:nvSpPr>
        <p:spPr>
          <a:xfrm>
            <a:off x="2314370" y="7307035"/>
            <a:ext cx="1706319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$18.350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2.jpg" id="921" name="Google Shape;9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6"/>
          <p:cNvSpPr txBox="1"/>
          <p:nvPr/>
        </p:nvSpPr>
        <p:spPr>
          <a:xfrm>
            <a:off x="3347038" y="4659357"/>
            <a:ext cx="579696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14</a:t>
            </a:r>
            <a:endParaRPr/>
          </a:p>
        </p:txBody>
      </p:sp>
      <p:sp>
        <p:nvSpPr>
          <p:cNvPr id="923" name="Google Shape;923;p56"/>
          <p:cNvSpPr txBox="1"/>
          <p:nvPr/>
        </p:nvSpPr>
        <p:spPr>
          <a:xfrm>
            <a:off x="731519" y="2266507"/>
            <a:ext cx="379251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14 ИЗ 17</a:t>
            </a:r>
            <a:endParaRPr/>
          </a:p>
        </p:txBody>
      </p:sp>
      <p:sp>
        <p:nvSpPr>
          <p:cNvPr id="924" name="Google Shape;924;p56"/>
          <p:cNvSpPr txBox="1"/>
          <p:nvPr/>
        </p:nvSpPr>
        <p:spPr>
          <a:xfrm>
            <a:off x="731519" y="2693601"/>
            <a:ext cx="6078473" cy="2239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Скрипты продаж и шаблоны коммерческих предложений</a:t>
            </a:r>
            <a:endParaRPr/>
          </a:p>
        </p:txBody>
      </p:sp>
      <p:sp>
        <p:nvSpPr>
          <p:cNvPr id="925" name="Google Shape;925;p56"/>
          <p:cNvSpPr txBox="1"/>
          <p:nvPr/>
        </p:nvSpPr>
        <p:spPr>
          <a:xfrm>
            <a:off x="731519" y="5079920"/>
            <a:ext cx="6020752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От «здравствуйте» до «выставляю счёт», ответы на возражения и КП под каждую услугу</a:t>
            </a:r>
            <a:endParaRPr/>
          </a:p>
        </p:txBody>
      </p:sp>
      <p:sp>
        <p:nvSpPr>
          <p:cNvPr id="926" name="Google Shape;926;p56"/>
          <p:cNvSpPr txBox="1"/>
          <p:nvPr/>
        </p:nvSpPr>
        <p:spPr>
          <a:xfrm>
            <a:off x="975734" y="6937601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927" name="Google Shape;927;p56"/>
          <p:cNvSpPr txBox="1"/>
          <p:nvPr/>
        </p:nvSpPr>
        <p:spPr>
          <a:xfrm>
            <a:off x="2291408" y="6937601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$400</a:t>
            </a:r>
            <a:endParaRPr/>
          </a:p>
        </p:txBody>
      </p:sp>
      <p:sp>
        <p:nvSpPr>
          <p:cNvPr id="928" name="Google Shape;928;p56"/>
          <p:cNvSpPr txBox="1"/>
          <p:nvPr/>
        </p:nvSpPr>
        <p:spPr>
          <a:xfrm>
            <a:off x="902561" y="7652078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29" name="Google Shape;929;p56"/>
          <p:cNvSpPr txBox="1"/>
          <p:nvPr/>
        </p:nvSpPr>
        <p:spPr>
          <a:xfrm>
            <a:off x="2314370" y="7573701"/>
            <a:ext cx="1659684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$18.750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3.jpg" id="935" name="Google Shape;9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57"/>
          <p:cNvSpPr txBox="1"/>
          <p:nvPr/>
        </p:nvSpPr>
        <p:spPr>
          <a:xfrm>
            <a:off x="1591015" y="1584381"/>
            <a:ext cx="573131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15 ИЗ 17 · БОНУС</a:t>
            </a:r>
            <a:endParaRPr/>
          </a:p>
        </p:txBody>
      </p:sp>
      <p:sp>
        <p:nvSpPr>
          <p:cNvPr id="937" name="Google Shape;937;p57"/>
          <p:cNvSpPr txBox="1"/>
          <p:nvPr/>
        </p:nvSpPr>
        <p:spPr>
          <a:xfrm>
            <a:off x="1591015" y="1823391"/>
            <a:ext cx="6851141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Связки топовых локаций для поиска клиентов</a:t>
            </a:r>
            <a:endParaRPr/>
          </a:p>
        </p:txBody>
      </p:sp>
      <p:sp>
        <p:nvSpPr>
          <p:cNvPr id="938" name="Google Shape;938;p57"/>
          <p:cNvSpPr txBox="1"/>
          <p:nvPr/>
        </p:nvSpPr>
        <p:spPr>
          <a:xfrm>
            <a:off x="731519" y="2838313"/>
            <a:ext cx="6589394" cy="70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Города, где отвечают чаще. И города, куда лучше не заходить</a:t>
            </a:r>
            <a:endParaRPr/>
          </a:p>
        </p:txBody>
      </p:sp>
      <p:sp>
        <p:nvSpPr>
          <p:cNvPr id="939" name="Google Shape;939;p57"/>
          <p:cNvSpPr txBox="1"/>
          <p:nvPr/>
        </p:nvSpPr>
        <p:spPr>
          <a:xfrm>
            <a:off x="2639921" y="3880076"/>
            <a:ext cx="1094104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Анталья</a:t>
            </a:r>
            <a:endParaRPr/>
          </a:p>
        </p:txBody>
      </p:sp>
      <p:sp>
        <p:nvSpPr>
          <p:cNvPr id="940" name="Google Shape;940;p57"/>
          <p:cNvSpPr txBox="1"/>
          <p:nvPr/>
        </p:nvSpPr>
        <p:spPr>
          <a:xfrm>
            <a:off x="5661013" y="3853951"/>
            <a:ext cx="14698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лучший баланс</a:t>
            </a:r>
            <a:endParaRPr/>
          </a:p>
        </p:txBody>
      </p:sp>
      <p:sp>
        <p:nvSpPr>
          <p:cNvPr id="941" name="Google Shape;941;p57"/>
          <p:cNvSpPr txBox="1"/>
          <p:nvPr/>
        </p:nvSpPr>
        <p:spPr>
          <a:xfrm>
            <a:off x="2639921" y="4295434"/>
            <a:ext cx="964332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Тирана</a:t>
            </a:r>
            <a:endParaRPr/>
          </a:p>
        </p:txBody>
      </p:sp>
      <p:sp>
        <p:nvSpPr>
          <p:cNvPr id="942" name="Google Shape;942;p57"/>
          <p:cNvSpPr txBox="1"/>
          <p:nvPr/>
        </p:nvSpPr>
        <p:spPr>
          <a:xfrm>
            <a:off x="5240961" y="4269309"/>
            <a:ext cx="18456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пиковая конверсия</a:t>
            </a:r>
            <a:endParaRPr/>
          </a:p>
        </p:txBody>
      </p:sp>
      <p:sp>
        <p:nvSpPr>
          <p:cNvPr id="943" name="Google Shape;943;p57"/>
          <p:cNvSpPr txBox="1"/>
          <p:nvPr/>
        </p:nvSpPr>
        <p:spPr>
          <a:xfrm>
            <a:off x="2639921" y="4710792"/>
            <a:ext cx="1138101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Стамбул</a:t>
            </a:r>
            <a:endParaRPr/>
          </a:p>
        </p:txBody>
      </p:sp>
      <p:sp>
        <p:nvSpPr>
          <p:cNvPr id="944" name="Google Shape;944;p57"/>
          <p:cNvSpPr txBox="1"/>
          <p:nvPr/>
        </p:nvSpPr>
        <p:spPr>
          <a:xfrm>
            <a:off x="4515870" y="4684667"/>
            <a:ext cx="28317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вам пишут 50 агентств в день</a:t>
            </a:r>
            <a:endParaRPr/>
          </a:p>
        </p:txBody>
      </p:sp>
      <p:sp>
        <p:nvSpPr>
          <p:cNvPr id="945" name="Google Shape;945;p57"/>
          <p:cNvSpPr txBox="1"/>
          <p:nvPr/>
        </p:nvSpPr>
        <p:spPr>
          <a:xfrm>
            <a:off x="2639921" y="5126150"/>
            <a:ext cx="1113673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Ташкент</a:t>
            </a:r>
            <a:endParaRPr/>
          </a:p>
        </p:txBody>
      </p:sp>
      <p:sp>
        <p:nvSpPr>
          <p:cNvPr id="946" name="Google Shape;946;p57"/>
          <p:cNvSpPr txBox="1"/>
          <p:nvPr/>
        </p:nvSpPr>
        <p:spPr>
          <a:xfrm>
            <a:off x="5140438" y="5100025"/>
            <a:ext cx="19823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легче всего продать</a:t>
            </a:r>
            <a:endParaRPr/>
          </a:p>
        </p:txBody>
      </p:sp>
      <p:sp>
        <p:nvSpPr>
          <p:cNvPr id="947" name="Google Shape;947;p57"/>
          <p:cNvSpPr txBox="1"/>
          <p:nvPr/>
        </p:nvSpPr>
        <p:spPr>
          <a:xfrm>
            <a:off x="2639921" y="5541508"/>
            <a:ext cx="1126026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Тбилиси</a:t>
            </a:r>
            <a:endParaRPr/>
          </a:p>
        </p:txBody>
      </p:sp>
      <p:sp>
        <p:nvSpPr>
          <p:cNvPr id="948" name="Google Shape;948;p57"/>
          <p:cNvSpPr txBox="1"/>
          <p:nvPr/>
        </p:nvSpPr>
        <p:spPr>
          <a:xfrm>
            <a:off x="5609374" y="5515383"/>
            <a:ext cx="134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рынок мелкий</a:t>
            </a:r>
            <a:endParaRPr/>
          </a:p>
        </p:txBody>
      </p:sp>
      <p:sp>
        <p:nvSpPr>
          <p:cNvPr id="949" name="Google Shape;949;p57"/>
          <p:cNvSpPr txBox="1"/>
          <p:nvPr/>
        </p:nvSpPr>
        <p:spPr>
          <a:xfrm>
            <a:off x="2639921" y="5956866"/>
            <a:ext cx="1313119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Будапешт</a:t>
            </a:r>
            <a:endParaRPr/>
          </a:p>
        </p:txBody>
      </p:sp>
      <p:sp>
        <p:nvSpPr>
          <p:cNvPr id="950" name="Google Shape;950;p57"/>
          <p:cNvSpPr txBox="1"/>
          <p:nvPr/>
        </p:nvSpPr>
        <p:spPr>
          <a:xfrm>
            <a:off x="5415676" y="5930741"/>
            <a:ext cx="16080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уже всё продано</a:t>
            </a:r>
            <a:endParaRPr/>
          </a:p>
        </p:txBody>
      </p:sp>
      <p:sp>
        <p:nvSpPr>
          <p:cNvPr id="951" name="Google Shape;951;p57"/>
          <p:cNvSpPr txBox="1"/>
          <p:nvPr/>
        </p:nvSpPr>
        <p:spPr>
          <a:xfrm>
            <a:off x="2639921" y="6372224"/>
            <a:ext cx="845526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Дубай</a:t>
            </a:r>
            <a:endParaRPr/>
          </a:p>
        </p:txBody>
      </p:sp>
      <p:sp>
        <p:nvSpPr>
          <p:cNvPr id="952" name="Google Shape;952;p57"/>
          <p:cNvSpPr txBox="1"/>
          <p:nvPr/>
        </p:nvSpPr>
        <p:spPr>
          <a:xfrm>
            <a:off x="4602922" y="6346099"/>
            <a:ext cx="271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вы там пятисотый в очереди</a:t>
            </a:r>
            <a:endParaRPr/>
          </a:p>
        </p:txBody>
      </p:sp>
      <p:sp>
        <p:nvSpPr>
          <p:cNvPr id="953" name="Google Shape;953;p57"/>
          <p:cNvSpPr txBox="1"/>
          <p:nvPr/>
        </p:nvSpPr>
        <p:spPr>
          <a:xfrm>
            <a:off x="975734" y="7195082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954" name="Google Shape;954;p57"/>
          <p:cNvSpPr txBox="1"/>
          <p:nvPr/>
        </p:nvSpPr>
        <p:spPr>
          <a:xfrm>
            <a:off x="2291408" y="7195082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$500</a:t>
            </a:r>
            <a:endParaRPr/>
          </a:p>
        </p:txBody>
      </p:sp>
      <p:sp>
        <p:nvSpPr>
          <p:cNvPr id="955" name="Google Shape;955;p57"/>
          <p:cNvSpPr txBox="1"/>
          <p:nvPr/>
        </p:nvSpPr>
        <p:spPr>
          <a:xfrm>
            <a:off x="5583759" y="7146097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56" name="Google Shape;956;p57"/>
          <p:cNvSpPr txBox="1"/>
          <p:nvPr/>
        </p:nvSpPr>
        <p:spPr>
          <a:xfrm>
            <a:off x="6995568" y="7067720"/>
            <a:ext cx="1694383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$19.250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4.jpg" id="962" name="Google Shape;9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58"/>
          <p:cNvSpPr txBox="1"/>
          <p:nvPr/>
        </p:nvSpPr>
        <p:spPr>
          <a:xfrm>
            <a:off x="3435866" y="4126127"/>
            <a:ext cx="5708133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16</a:t>
            </a:r>
            <a:endParaRPr/>
          </a:p>
        </p:txBody>
      </p:sp>
      <p:sp>
        <p:nvSpPr>
          <p:cNvPr id="964" name="Google Shape;964;p58"/>
          <p:cNvSpPr txBox="1"/>
          <p:nvPr/>
        </p:nvSpPr>
        <p:spPr>
          <a:xfrm>
            <a:off x="731519" y="2799737"/>
            <a:ext cx="573131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16 ИЗ 17 · БОНУС</a:t>
            </a:r>
            <a:endParaRPr/>
          </a:p>
        </p:txBody>
      </p:sp>
      <p:sp>
        <p:nvSpPr>
          <p:cNvPr id="965" name="Google Shape;965;p58"/>
          <p:cNvSpPr txBox="1"/>
          <p:nvPr/>
        </p:nvSpPr>
        <p:spPr>
          <a:xfrm>
            <a:off x="731519" y="3226831"/>
            <a:ext cx="6865315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Каталог связок под каждую услугу</a:t>
            </a:r>
            <a:endParaRPr/>
          </a:p>
        </p:txBody>
      </p:sp>
      <p:sp>
        <p:nvSpPr>
          <p:cNvPr id="966" name="Google Shape;966;p58"/>
          <p:cNvSpPr txBox="1"/>
          <p:nvPr/>
        </p:nvSpPr>
        <p:spPr>
          <a:xfrm>
            <a:off x="731519" y="4546690"/>
            <a:ext cx="4868494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Что продавать, кому и как — и настройка агентов под связку, пошагово</a:t>
            </a:r>
            <a:endParaRPr/>
          </a:p>
        </p:txBody>
      </p:sp>
      <p:sp>
        <p:nvSpPr>
          <p:cNvPr id="967" name="Google Shape;967;p58"/>
          <p:cNvSpPr txBox="1"/>
          <p:nvPr/>
        </p:nvSpPr>
        <p:spPr>
          <a:xfrm>
            <a:off x="975734" y="6404371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968" name="Google Shape;968;p58"/>
          <p:cNvSpPr txBox="1"/>
          <p:nvPr/>
        </p:nvSpPr>
        <p:spPr>
          <a:xfrm>
            <a:off x="2291408" y="6404371"/>
            <a:ext cx="737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$600</a:t>
            </a:r>
            <a:endParaRPr/>
          </a:p>
        </p:txBody>
      </p:sp>
      <p:sp>
        <p:nvSpPr>
          <p:cNvPr id="969" name="Google Shape;969;p58"/>
          <p:cNvSpPr txBox="1"/>
          <p:nvPr/>
        </p:nvSpPr>
        <p:spPr>
          <a:xfrm>
            <a:off x="902561" y="7118848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70" name="Google Shape;970;p58"/>
          <p:cNvSpPr txBox="1"/>
          <p:nvPr/>
        </p:nvSpPr>
        <p:spPr>
          <a:xfrm>
            <a:off x="2314370" y="7040471"/>
            <a:ext cx="1711454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$19.850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5.jpg" id="976" name="Google Shape;97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59"/>
          <p:cNvSpPr txBox="1"/>
          <p:nvPr/>
        </p:nvSpPr>
        <p:spPr>
          <a:xfrm>
            <a:off x="3829066" y="4541588"/>
            <a:ext cx="5314933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48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17</a:t>
            </a:r>
            <a:endParaRPr/>
          </a:p>
        </p:txBody>
      </p:sp>
      <p:sp>
        <p:nvSpPr>
          <p:cNvPr id="978" name="Google Shape;978;p59"/>
          <p:cNvSpPr txBox="1"/>
          <p:nvPr/>
        </p:nvSpPr>
        <p:spPr>
          <a:xfrm>
            <a:off x="731519" y="2384277"/>
            <a:ext cx="7059837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ЭЛЕМЕНТ 17 ИЗ 17 · ТОЛЬКО GOLD</a:t>
            </a:r>
            <a:endParaRPr/>
          </a:p>
        </p:txBody>
      </p:sp>
      <p:sp>
        <p:nvSpPr>
          <p:cNvPr id="979" name="Google Shape;979;p59"/>
          <p:cNvSpPr txBox="1"/>
          <p:nvPr/>
        </p:nvSpPr>
        <p:spPr>
          <a:xfrm>
            <a:off x="731519" y="2811371"/>
            <a:ext cx="6090246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Групповые страт-сессии со мной</a:t>
            </a:r>
            <a:endParaRPr/>
          </a:p>
        </p:txBody>
      </p:sp>
      <p:sp>
        <p:nvSpPr>
          <p:cNvPr id="980" name="Google Shape;980;p59"/>
          <p:cNvSpPr txBox="1"/>
          <p:nvPr/>
        </p:nvSpPr>
        <p:spPr>
          <a:xfrm>
            <a:off x="731519" y="4131230"/>
            <a:ext cx="7205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Четыре живые сессии в малой группе</a:t>
            </a:r>
            <a:endParaRPr/>
          </a:p>
        </p:txBody>
      </p:sp>
      <p:sp>
        <p:nvSpPr>
          <p:cNvPr id="981" name="Google Shape;981;p59"/>
          <p:cNvSpPr txBox="1"/>
          <p:nvPr/>
        </p:nvSpPr>
        <p:spPr>
          <a:xfrm>
            <a:off x="731519" y="4546690"/>
            <a:ext cx="56175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Разбираем ваш проект: ниша, цена, первые клиенты, что чинить</a:t>
            </a:r>
            <a:endParaRPr/>
          </a:p>
        </p:txBody>
      </p:sp>
      <p:sp>
        <p:nvSpPr>
          <p:cNvPr id="982" name="Google Shape;982;p59"/>
          <p:cNvSpPr txBox="1"/>
          <p:nvPr/>
        </p:nvSpPr>
        <p:spPr>
          <a:xfrm>
            <a:off x="731519" y="5377610"/>
            <a:ext cx="55431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Между сессиями — ваши вопросы в чате набора</a:t>
            </a:r>
            <a:endParaRPr/>
          </a:p>
        </p:txBody>
      </p:sp>
      <p:sp>
        <p:nvSpPr>
          <p:cNvPr id="983" name="Google Shape;983;p59"/>
          <p:cNvSpPr txBox="1"/>
          <p:nvPr/>
        </p:nvSpPr>
        <p:spPr>
          <a:xfrm>
            <a:off x="975734" y="6819831"/>
            <a:ext cx="16152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984" name="Google Shape;984;p59"/>
          <p:cNvSpPr txBox="1"/>
          <p:nvPr/>
        </p:nvSpPr>
        <p:spPr>
          <a:xfrm>
            <a:off x="2291408" y="6819831"/>
            <a:ext cx="11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$1.500</a:t>
            </a:r>
            <a:endParaRPr/>
          </a:p>
        </p:txBody>
      </p:sp>
      <p:sp>
        <p:nvSpPr>
          <p:cNvPr id="985" name="Google Shape;985;p59"/>
          <p:cNvSpPr txBox="1"/>
          <p:nvPr/>
        </p:nvSpPr>
        <p:spPr>
          <a:xfrm>
            <a:off x="902561" y="7534309"/>
            <a:ext cx="17957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НАКОПЛЕНО</a:t>
            </a:r>
            <a:endParaRPr/>
          </a:p>
        </p:txBody>
      </p:sp>
      <p:sp>
        <p:nvSpPr>
          <p:cNvPr id="986" name="Google Shape;986;p59"/>
          <p:cNvSpPr txBox="1"/>
          <p:nvPr/>
        </p:nvSpPr>
        <p:spPr>
          <a:xfrm>
            <a:off x="2314370" y="7455931"/>
            <a:ext cx="1689109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$21.350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6.jpg" id="992" name="Google Shape;99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60"/>
          <p:cNvSpPr txBox="1"/>
          <p:nvPr/>
        </p:nvSpPr>
        <p:spPr>
          <a:xfrm>
            <a:off x="1037170" y="2665129"/>
            <a:ext cx="8064322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Почему нельзя войти когда угодно</a:t>
            </a:r>
            <a:endParaRPr/>
          </a:p>
        </p:txBody>
      </p:sp>
      <p:sp>
        <p:nvSpPr>
          <p:cNvPr id="994" name="Google Shape;994;p60"/>
          <p:cNvSpPr txBox="1"/>
          <p:nvPr/>
        </p:nvSpPr>
        <p:spPr>
          <a:xfrm>
            <a:off x="1037170" y="4207158"/>
            <a:ext cx="5823813" cy="1670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Поток ограничен людьми — беру столько, скольким успеваю помочь дойти до первого клиента. Стартуем одной датой</a:t>
            </a:r>
            <a:endParaRPr/>
          </a:p>
        </p:txBody>
      </p:sp>
      <p:sp>
        <p:nvSpPr>
          <p:cNvPr id="995" name="Google Shape;995;p60"/>
          <p:cNvSpPr txBox="1"/>
          <p:nvPr/>
        </p:nvSpPr>
        <p:spPr>
          <a:xfrm>
            <a:off x="1037170" y="6088414"/>
            <a:ext cx="6695783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Здесь нет таймера и «осталось три места»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3.jpg" id="1001" name="Google Shape;100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61"/>
          <p:cNvSpPr txBox="1"/>
          <p:nvPr/>
        </p:nvSpPr>
        <p:spPr>
          <a:xfrm>
            <a:off x="1294632" y="548640"/>
            <a:ext cx="6554646" cy="436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ПРИВЛЕЧЕНИЕ И ПРОДАЖИ · 7 АГЕНТОВ · 13 МОДУЛЕЙ · 10 НЕДЕЛЬ</a:t>
            </a:r>
            <a:endParaRPr/>
          </a:p>
        </p:txBody>
      </p:sp>
      <p:sp>
        <p:nvSpPr>
          <p:cNvPr id="1003" name="Google Shape;1003;p61"/>
          <p:cNvSpPr txBox="1"/>
          <p:nvPr/>
        </p:nvSpPr>
        <p:spPr>
          <a:xfrm>
            <a:off x="684424" y="1121499"/>
            <a:ext cx="7775150" cy="4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Набор «Gold»: всё целиком</a:t>
            </a:r>
            <a:endParaRPr/>
          </a:p>
        </p:txBody>
      </p:sp>
      <p:sp>
        <p:nvSpPr>
          <p:cNvPr id="1004" name="Google Shape;1004;p61"/>
          <p:cNvSpPr txBox="1"/>
          <p:nvPr/>
        </p:nvSpPr>
        <p:spPr>
          <a:xfrm>
            <a:off x="1303197" y="1741962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05" name="Google Shape;1005;p61"/>
          <p:cNvSpPr txBox="1"/>
          <p:nvPr/>
        </p:nvSpPr>
        <p:spPr>
          <a:xfrm>
            <a:off x="1622105" y="1703345"/>
            <a:ext cx="2961696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Полная система: 13 модулей</a:t>
            </a:r>
            <a:endParaRPr/>
          </a:p>
        </p:txBody>
      </p:sp>
      <p:sp>
        <p:nvSpPr>
          <p:cNvPr id="1006" name="Google Shape;1006;p61"/>
          <p:cNvSpPr txBox="1"/>
          <p:nvPr/>
        </p:nvSpPr>
        <p:spPr>
          <a:xfrm>
            <a:off x="7079503" y="1720429"/>
            <a:ext cx="76129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007" name="Google Shape;1007;p61"/>
          <p:cNvSpPr txBox="1"/>
          <p:nvPr/>
        </p:nvSpPr>
        <p:spPr>
          <a:xfrm>
            <a:off x="1303197" y="2032930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08" name="Google Shape;1008;p61"/>
          <p:cNvSpPr txBox="1"/>
          <p:nvPr/>
        </p:nvSpPr>
        <p:spPr>
          <a:xfrm>
            <a:off x="1622105" y="1994312"/>
            <a:ext cx="3103041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Агенты под 7 трендовых услуг</a:t>
            </a:r>
            <a:endParaRPr/>
          </a:p>
        </p:txBody>
      </p:sp>
      <p:sp>
        <p:nvSpPr>
          <p:cNvPr id="1009" name="Google Shape;1009;p61"/>
          <p:cNvSpPr txBox="1"/>
          <p:nvPr/>
        </p:nvSpPr>
        <p:spPr>
          <a:xfrm>
            <a:off x="7079503" y="2011396"/>
            <a:ext cx="76129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$5.200</a:t>
            </a:r>
            <a:endParaRPr/>
          </a:p>
        </p:txBody>
      </p:sp>
      <p:sp>
        <p:nvSpPr>
          <p:cNvPr id="1010" name="Google Shape;1010;p61"/>
          <p:cNvSpPr txBox="1"/>
          <p:nvPr/>
        </p:nvSpPr>
        <p:spPr>
          <a:xfrm>
            <a:off x="1749614" y="2258140"/>
            <a:ext cx="977309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🌐 AI-сайты</a:t>
            </a:r>
            <a:endParaRPr/>
          </a:p>
        </p:txBody>
      </p:sp>
      <p:sp>
        <p:nvSpPr>
          <p:cNvPr id="1011" name="Google Shape;1011;p61"/>
          <p:cNvSpPr txBox="1"/>
          <p:nvPr/>
        </p:nvSpPr>
        <p:spPr>
          <a:xfrm>
            <a:off x="7411323" y="2275225"/>
            <a:ext cx="4294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012" name="Google Shape;1012;p61"/>
          <p:cNvSpPr txBox="1"/>
          <p:nvPr/>
        </p:nvSpPr>
        <p:spPr>
          <a:xfrm>
            <a:off x="1749614" y="2466089"/>
            <a:ext cx="1073999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🎨 AI-дизайн</a:t>
            </a:r>
            <a:endParaRPr/>
          </a:p>
        </p:txBody>
      </p:sp>
      <p:sp>
        <p:nvSpPr>
          <p:cNvPr id="1013" name="Google Shape;1013;p61"/>
          <p:cNvSpPr txBox="1"/>
          <p:nvPr/>
        </p:nvSpPr>
        <p:spPr>
          <a:xfrm>
            <a:off x="7411323" y="2483173"/>
            <a:ext cx="4294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014" name="Google Shape;1014;p61"/>
          <p:cNvSpPr txBox="1"/>
          <p:nvPr/>
        </p:nvSpPr>
        <p:spPr>
          <a:xfrm>
            <a:off x="1749614" y="2674037"/>
            <a:ext cx="205965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🎬 Продающие AI-видео</a:t>
            </a:r>
            <a:endParaRPr/>
          </a:p>
        </p:txBody>
      </p:sp>
      <p:sp>
        <p:nvSpPr>
          <p:cNvPr id="1015" name="Google Shape;1015;p61"/>
          <p:cNvSpPr txBox="1"/>
          <p:nvPr/>
        </p:nvSpPr>
        <p:spPr>
          <a:xfrm>
            <a:off x="7411323" y="2691121"/>
            <a:ext cx="4294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016" name="Google Shape;1016;p61"/>
          <p:cNvSpPr txBox="1"/>
          <p:nvPr/>
        </p:nvSpPr>
        <p:spPr>
          <a:xfrm>
            <a:off x="1749614" y="2881985"/>
            <a:ext cx="2753310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✍️ Контент-завод с AI-аватаром</a:t>
            </a:r>
            <a:endParaRPr/>
          </a:p>
        </p:txBody>
      </p:sp>
      <p:sp>
        <p:nvSpPr>
          <p:cNvPr id="1017" name="Google Shape;1017;p61"/>
          <p:cNvSpPr txBox="1"/>
          <p:nvPr/>
        </p:nvSpPr>
        <p:spPr>
          <a:xfrm>
            <a:off x="7411323" y="2899070"/>
            <a:ext cx="4294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$700</a:t>
            </a:r>
            <a:endParaRPr/>
          </a:p>
        </p:txBody>
      </p:sp>
      <p:sp>
        <p:nvSpPr>
          <p:cNvPr id="1018" name="Google Shape;1018;p61"/>
          <p:cNvSpPr txBox="1"/>
          <p:nvPr/>
        </p:nvSpPr>
        <p:spPr>
          <a:xfrm>
            <a:off x="1749614" y="3089934"/>
            <a:ext cx="1034064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🎯 AI-таргет</a:t>
            </a:r>
            <a:endParaRPr/>
          </a:p>
        </p:txBody>
      </p:sp>
      <p:sp>
        <p:nvSpPr>
          <p:cNvPr id="1019" name="Google Shape;1019;p61"/>
          <p:cNvSpPr txBox="1"/>
          <p:nvPr/>
        </p:nvSpPr>
        <p:spPr>
          <a:xfrm>
            <a:off x="7196522" y="3107018"/>
            <a:ext cx="6442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20" name="Google Shape;1020;p61"/>
          <p:cNvSpPr txBox="1"/>
          <p:nvPr/>
        </p:nvSpPr>
        <p:spPr>
          <a:xfrm>
            <a:off x="1749614" y="3297882"/>
            <a:ext cx="79820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🧭 AI-SEO</a:t>
            </a:r>
            <a:endParaRPr/>
          </a:p>
        </p:txBody>
      </p:sp>
      <p:sp>
        <p:nvSpPr>
          <p:cNvPr id="1021" name="Google Shape;1021;p61"/>
          <p:cNvSpPr txBox="1"/>
          <p:nvPr/>
        </p:nvSpPr>
        <p:spPr>
          <a:xfrm>
            <a:off x="7196522" y="3314967"/>
            <a:ext cx="644278" cy="17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22" name="Google Shape;1022;p61"/>
          <p:cNvSpPr txBox="1"/>
          <p:nvPr/>
        </p:nvSpPr>
        <p:spPr>
          <a:xfrm>
            <a:off x="1749614" y="3505831"/>
            <a:ext cx="130102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💬 AI-продавец</a:t>
            </a:r>
            <a:endParaRPr/>
          </a:p>
        </p:txBody>
      </p:sp>
      <p:sp>
        <p:nvSpPr>
          <p:cNvPr id="1023" name="Google Shape;1023;p61"/>
          <p:cNvSpPr txBox="1"/>
          <p:nvPr/>
        </p:nvSpPr>
        <p:spPr>
          <a:xfrm>
            <a:off x="7196522" y="3522915"/>
            <a:ext cx="644278" cy="174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24" name="Google Shape;1024;p61"/>
          <p:cNvSpPr txBox="1"/>
          <p:nvPr/>
        </p:nvSpPr>
        <p:spPr>
          <a:xfrm>
            <a:off x="1303197" y="3779536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25" name="Google Shape;1025;p61"/>
          <p:cNvSpPr txBox="1"/>
          <p:nvPr/>
        </p:nvSpPr>
        <p:spPr>
          <a:xfrm>
            <a:off x="1622105" y="3740918"/>
            <a:ext cx="3479394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46 готовых задач под ваши услуги</a:t>
            </a:r>
            <a:endParaRPr/>
          </a:p>
        </p:txBody>
      </p:sp>
      <p:sp>
        <p:nvSpPr>
          <p:cNvPr id="1026" name="Google Shape;1026;p61"/>
          <p:cNvSpPr txBox="1"/>
          <p:nvPr/>
        </p:nvSpPr>
        <p:spPr>
          <a:xfrm>
            <a:off x="7079503" y="3758002"/>
            <a:ext cx="76129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$4.800</a:t>
            </a:r>
            <a:endParaRPr/>
          </a:p>
        </p:txBody>
      </p:sp>
      <p:sp>
        <p:nvSpPr>
          <p:cNvPr id="1027" name="Google Shape;1027;p61"/>
          <p:cNvSpPr txBox="1"/>
          <p:nvPr/>
        </p:nvSpPr>
        <p:spPr>
          <a:xfrm>
            <a:off x="1303197" y="4070503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028" name="Google Shape;1028;p61"/>
          <p:cNvSpPr txBox="1"/>
          <p:nvPr/>
        </p:nvSpPr>
        <p:spPr>
          <a:xfrm>
            <a:off x="1622105" y="4031886"/>
            <a:ext cx="3309491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шаблонов сайтов по нишам</a:t>
            </a:r>
            <a:endParaRPr/>
          </a:p>
        </p:txBody>
      </p:sp>
      <p:sp>
        <p:nvSpPr>
          <p:cNvPr id="1029" name="Google Shape;1029;p61"/>
          <p:cNvSpPr txBox="1"/>
          <p:nvPr/>
        </p:nvSpPr>
        <p:spPr>
          <a:xfrm>
            <a:off x="7333269" y="4048970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030" name="Google Shape;1030;p61"/>
          <p:cNvSpPr txBox="1"/>
          <p:nvPr/>
        </p:nvSpPr>
        <p:spPr>
          <a:xfrm>
            <a:off x="1303197" y="4361471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031" name="Google Shape;1031;p61"/>
          <p:cNvSpPr txBox="1"/>
          <p:nvPr/>
        </p:nvSpPr>
        <p:spPr>
          <a:xfrm>
            <a:off x="1622105" y="4322853"/>
            <a:ext cx="2776424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кейсов под все услуги</a:t>
            </a:r>
            <a:endParaRPr/>
          </a:p>
        </p:txBody>
      </p:sp>
      <p:sp>
        <p:nvSpPr>
          <p:cNvPr id="1032" name="Google Shape;1032;p61"/>
          <p:cNvSpPr txBox="1"/>
          <p:nvPr/>
        </p:nvSpPr>
        <p:spPr>
          <a:xfrm>
            <a:off x="7333269" y="4339938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033" name="Google Shape;1033;p61"/>
          <p:cNvSpPr txBox="1"/>
          <p:nvPr/>
        </p:nvSpPr>
        <p:spPr>
          <a:xfrm>
            <a:off x="1303197" y="4652438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34" name="Google Shape;1034;p61"/>
          <p:cNvSpPr txBox="1"/>
          <p:nvPr/>
        </p:nvSpPr>
        <p:spPr>
          <a:xfrm>
            <a:off x="1622105" y="4613821"/>
            <a:ext cx="3191018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Нейросети со скидкой до −75%</a:t>
            </a:r>
            <a:endParaRPr/>
          </a:p>
        </p:txBody>
      </p:sp>
      <p:sp>
        <p:nvSpPr>
          <p:cNvPr id="1035" name="Google Shape;1035;p61"/>
          <p:cNvSpPr txBox="1"/>
          <p:nvPr/>
        </p:nvSpPr>
        <p:spPr>
          <a:xfrm>
            <a:off x="7333269" y="4630905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036" name="Google Shape;1036;p61"/>
          <p:cNvSpPr txBox="1"/>
          <p:nvPr/>
        </p:nvSpPr>
        <p:spPr>
          <a:xfrm>
            <a:off x="1303197" y="4943406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037" name="Google Shape;1037;p61"/>
          <p:cNvSpPr txBox="1"/>
          <p:nvPr/>
        </p:nvSpPr>
        <p:spPr>
          <a:xfrm>
            <a:off x="1622105" y="4904788"/>
            <a:ext cx="2783806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Живые разборы · 10 сессий</a:t>
            </a:r>
            <a:endParaRPr/>
          </a:p>
        </p:txBody>
      </p:sp>
      <p:sp>
        <p:nvSpPr>
          <p:cNvPr id="1038" name="Google Shape;1038;p61"/>
          <p:cNvSpPr txBox="1"/>
          <p:nvPr/>
        </p:nvSpPr>
        <p:spPr>
          <a:xfrm>
            <a:off x="7333269" y="4921873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039" name="Google Shape;1039;p61"/>
          <p:cNvSpPr txBox="1"/>
          <p:nvPr/>
        </p:nvSpPr>
        <p:spPr>
          <a:xfrm>
            <a:off x="1303197" y="5234373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040" name="Google Shape;1040;p61"/>
          <p:cNvSpPr txBox="1"/>
          <p:nvPr/>
        </p:nvSpPr>
        <p:spPr>
          <a:xfrm>
            <a:off x="1622105" y="5195756"/>
            <a:ext cx="2664728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Договоры и приём оплаты</a:t>
            </a:r>
            <a:endParaRPr/>
          </a:p>
        </p:txBody>
      </p:sp>
      <p:sp>
        <p:nvSpPr>
          <p:cNvPr id="1041" name="Google Shape;1041;p61"/>
          <p:cNvSpPr txBox="1"/>
          <p:nvPr/>
        </p:nvSpPr>
        <p:spPr>
          <a:xfrm>
            <a:off x="7333269" y="5212840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$350</a:t>
            </a:r>
            <a:endParaRPr/>
          </a:p>
        </p:txBody>
      </p:sp>
      <p:sp>
        <p:nvSpPr>
          <p:cNvPr id="1042" name="Google Shape;1042;p61"/>
          <p:cNvSpPr txBox="1"/>
          <p:nvPr/>
        </p:nvSpPr>
        <p:spPr>
          <a:xfrm>
            <a:off x="1303197" y="5525341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043" name="Google Shape;1043;p61"/>
          <p:cNvSpPr txBox="1"/>
          <p:nvPr/>
        </p:nvSpPr>
        <p:spPr>
          <a:xfrm>
            <a:off x="1622105" y="5486723"/>
            <a:ext cx="2127426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Обновления агентов</a:t>
            </a:r>
            <a:endParaRPr/>
          </a:p>
        </p:txBody>
      </p:sp>
      <p:sp>
        <p:nvSpPr>
          <p:cNvPr id="1044" name="Google Shape;1044;p61"/>
          <p:cNvSpPr txBox="1"/>
          <p:nvPr/>
        </p:nvSpPr>
        <p:spPr>
          <a:xfrm>
            <a:off x="7333269" y="5503808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045" name="Google Shape;1045;p61"/>
          <p:cNvSpPr txBox="1"/>
          <p:nvPr/>
        </p:nvSpPr>
        <p:spPr>
          <a:xfrm>
            <a:off x="1303197" y="5816308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046" name="Google Shape;1046;p61"/>
          <p:cNvSpPr txBox="1"/>
          <p:nvPr/>
        </p:nvSpPr>
        <p:spPr>
          <a:xfrm>
            <a:off x="1622105" y="5777691"/>
            <a:ext cx="3215463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Куратор проверяет каждый шаг</a:t>
            </a:r>
            <a:endParaRPr/>
          </a:p>
        </p:txBody>
      </p:sp>
      <p:sp>
        <p:nvSpPr>
          <p:cNvPr id="1047" name="Google Shape;1047;p61"/>
          <p:cNvSpPr txBox="1"/>
          <p:nvPr/>
        </p:nvSpPr>
        <p:spPr>
          <a:xfrm>
            <a:off x="7079503" y="5794775"/>
            <a:ext cx="76129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$1.100</a:t>
            </a:r>
            <a:endParaRPr/>
          </a:p>
        </p:txBody>
      </p:sp>
      <p:sp>
        <p:nvSpPr>
          <p:cNvPr id="1048" name="Google Shape;1048;p61"/>
          <p:cNvSpPr txBox="1"/>
          <p:nvPr/>
        </p:nvSpPr>
        <p:spPr>
          <a:xfrm>
            <a:off x="1303197" y="6107276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049" name="Google Shape;1049;p61"/>
          <p:cNvSpPr txBox="1"/>
          <p:nvPr/>
        </p:nvSpPr>
        <p:spPr>
          <a:xfrm>
            <a:off x="1622105" y="6068658"/>
            <a:ext cx="2436738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Закрытый чат и рейтинг</a:t>
            </a:r>
            <a:endParaRPr/>
          </a:p>
        </p:txBody>
      </p:sp>
      <p:sp>
        <p:nvSpPr>
          <p:cNvPr id="1050" name="Google Shape;1050;p61"/>
          <p:cNvSpPr txBox="1"/>
          <p:nvPr/>
        </p:nvSpPr>
        <p:spPr>
          <a:xfrm>
            <a:off x="7333269" y="6085743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</a:t>
            </a:r>
            <a:endParaRPr/>
          </a:p>
        </p:txBody>
      </p:sp>
      <p:sp>
        <p:nvSpPr>
          <p:cNvPr id="1051" name="Google Shape;1051;p61"/>
          <p:cNvSpPr txBox="1"/>
          <p:nvPr/>
        </p:nvSpPr>
        <p:spPr>
          <a:xfrm>
            <a:off x="1303197" y="6398243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052" name="Google Shape;1052;p61"/>
          <p:cNvSpPr txBox="1"/>
          <p:nvPr/>
        </p:nvSpPr>
        <p:spPr>
          <a:xfrm>
            <a:off x="1622105" y="6359626"/>
            <a:ext cx="3794636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Доска объявлений: работа и клиенты</a:t>
            </a:r>
            <a:endParaRPr/>
          </a:p>
        </p:txBody>
      </p:sp>
      <p:sp>
        <p:nvSpPr>
          <p:cNvPr id="1053" name="Google Shape;1053;p61"/>
          <p:cNvSpPr txBox="1"/>
          <p:nvPr/>
        </p:nvSpPr>
        <p:spPr>
          <a:xfrm>
            <a:off x="7333269" y="6376710"/>
            <a:ext cx="507531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054" name="Google Shape;1054;p61"/>
          <p:cNvSpPr txBox="1"/>
          <p:nvPr/>
        </p:nvSpPr>
        <p:spPr>
          <a:xfrm>
            <a:off x="1303197" y="6689211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055" name="Google Shape;1055;p61"/>
          <p:cNvSpPr txBox="1"/>
          <p:nvPr/>
        </p:nvSpPr>
        <p:spPr>
          <a:xfrm>
            <a:off x="1622105" y="6650593"/>
            <a:ext cx="2916679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Настройки агента-продавца</a:t>
            </a:r>
            <a:endParaRPr/>
          </a:p>
        </p:txBody>
      </p:sp>
      <p:sp>
        <p:nvSpPr>
          <p:cNvPr id="1056" name="Google Shape;1056;p61"/>
          <p:cNvSpPr txBox="1"/>
          <p:nvPr/>
        </p:nvSpPr>
        <p:spPr>
          <a:xfrm>
            <a:off x="7079503" y="6667678"/>
            <a:ext cx="761298" cy="20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$1.200</a:t>
            </a:r>
            <a:endParaRPr/>
          </a:p>
        </p:txBody>
      </p:sp>
      <p:sp>
        <p:nvSpPr>
          <p:cNvPr id="1057" name="Google Shape;1057;p61"/>
          <p:cNvSpPr txBox="1"/>
          <p:nvPr/>
        </p:nvSpPr>
        <p:spPr>
          <a:xfrm>
            <a:off x="1303197" y="6980178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058" name="Google Shape;1058;p61"/>
          <p:cNvSpPr txBox="1"/>
          <p:nvPr/>
        </p:nvSpPr>
        <p:spPr>
          <a:xfrm>
            <a:off x="1622105" y="6941561"/>
            <a:ext cx="3166694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Скрипты продаж и шаблоны КП</a:t>
            </a:r>
            <a:endParaRPr/>
          </a:p>
        </p:txBody>
      </p:sp>
      <p:sp>
        <p:nvSpPr>
          <p:cNvPr id="1059" name="Google Shape;1059;p61"/>
          <p:cNvSpPr txBox="1"/>
          <p:nvPr/>
        </p:nvSpPr>
        <p:spPr>
          <a:xfrm>
            <a:off x="7333269" y="6958645"/>
            <a:ext cx="507531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060" name="Google Shape;1060;p61"/>
          <p:cNvSpPr txBox="1"/>
          <p:nvPr/>
        </p:nvSpPr>
        <p:spPr>
          <a:xfrm>
            <a:off x="1303197" y="7271146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061" name="Google Shape;1061;p61"/>
          <p:cNvSpPr txBox="1"/>
          <p:nvPr/>
        </p:nvSpPr>
        <p:spPr>
          <a:xfrm>
            <a:off x="1622105" y="7232528"/>
            <a:ext cx="4695948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Связки топовых локаций для поиска клиентов</a:t>
            </a:r>
            <a:endParaRPr/>
          </a:p>
        </p:txBody>
      </p:sp>
      <p:sp>
        <p:nvSpPr>
          <p:cNvPr id="1062" name="Google Shape;1062;p61"/>
          <p:cNvSpPr txBox="1"/>
          <p:nvPr/>
        </p:nvSpPr>
        <p:spPr>
          <a:xfrm>
            <a:off x="7333269" y="7249613"/>
            <a:ext cx="507531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063" name="Google Shape;1063;p61"/>
          <p:cNvSpPr txBox="1"/>
          <p:nvPr/>
        </p:nvSpPr>
        <p:spPr>
          <a:xfrm>
            <a:off x="1303197" y="7562113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1064" name="Google Shape;1064;p61"/>
          <p:cNvSpPr txBox="1"/>
          <p:nvPr/>
        </p:nvSpPr>
        <p:spPr>
          <a:xfrm>
            <a:off x="1622105" y="7523496"/>
            <a:ext cx="5144547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Каталог связок + новые связки по мере появления</a:t>
            </a:r>
            <a:endParaRPr/>
          </a:p>
        </p:txBody>
      </p:sp>
      <p:sp>
        <p:nvSpPr>
          <p:cNvPr id="1065" name="Google Shape;1065;p61"/>
          <p:cNvSpPr txBox="1"/>
          <p:nvPr/>
        </p:nvSpPr>
        <p:spPr>
          <a:xfrm>
            <a:off x="7333269" y="7540580"/>
            <a:ext cx="507531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066" name="Google Shape;1066;p61"/>
          <p:cNvSpPr txBox="1"/>
          <p:nvPr/>
        </p:nvSpPr>
        <p:spPr>
          <a:xfrm>
            <a:off x="1303197" y="7853081"/>
            <a:ext cx="221992" cy="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1067" name="Google Shape;1067;p61"/>
          <p:cNvSpPr txBox="1"/>
          <p:nvPr/>
        </p:nvSpPr>
        <p:spPr>
          <a:xfrm>
            <a:off x="1622105" y="7814463"/>
            <a:ext cx="3565557" cy="236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Групповые страт-сессии · 4 сессии</a:t>
            </a:r>
            <a:endParaRPr/>
          </a:p>
        </p:txBody>
      </p:sp>
      <p:sp>
        <p:nvSpPr>
          <p:cNvPr id="1068" name="Google Shape;1068;p61"/>
          <p:cNvSpPr txBox="1"/>
          <p:nvPr/>
        </p:nvSpPr>
        <p:spPr>
          <a:xfrm>
            <a:off x="7079503" y="7831548"/>
            <a:ext cx="76129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069" name="Google Shape;1069;p61"/>
          <p:cNvSpPr txBox="1"/>
          <p:nvPr/>
        </p:nvSpPr>
        <p:spPr>
          <a:xfrm>
            <a:off x="1622105" y="8238902"/>
            <a:ext cx="1685362" cy="276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Ценность</a:t>
            </a:r>
            <a:endParaRPr/>
          </a:p>
        </p:txBody>
      </p:sp>
      <p:sp>
        <p:nvSpPr>
          <p:cNvPr id="1070" name="Google Shape;1070;p61"/>
          <p:cNvSpPr txBox="1"/>
          <p:nvPr/>
        </p:nvSpPr>
        <p:spPr>
          <a:xfrm>
            <a:off x="5775697" y="8171010"/>
            <a:ext cx="2065103" cy="40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$21.350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1.jpg" id="1076" name="Google Shape;10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62"/>
          <p:cNvSpPr txBox="1"/>
          <p:nvPr/>
        </p:nvSpPr>
        <p:spPr>
          <a:xfrm>
            <a:off x="1288771" y="550002"/>
            <a:ext cx="6566371" cy="418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КОНТЕНТ-ЗАВОД · 4 АГЕНТА · 8 МОДУЛЕЙ · 6 НЕДЕЛЬ</a:t>
            </a:r>
            <a:endParaRPr/>
          </a:p>
        </p:txBody>
      </p:sp>
      <p:sp>
        <p:nvSpPr>
          <p:cNvPr id="1078" name="Google Shape;1078;p62"/>
          <p:cNvSpPr txBox="1"/>
          <p:nvPr/>
        </p:nvSpPr>
        <p:spPr>
          <a:xfrm>
            <a:off x="2665671" y="1098038"/>
            <a:ext cx="3812657" cy="769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Набор «Silver»: что добавляется</a:t>
            </a:r>
            <a:endParaRPr/>
          </a:p>
        </p:txBody>
      </p:sp>
      <p:sp>
        <p:nvSpPr>
          <p:cNvPr id="1079" name="Google Shape;1079;p62"/>
          <p:cNvSpPr txBox="1"/>
          <p:nvPr/>
        </p:nvSpPr>
        <p:spPr>
          <a:xfrm>
            <a:off x="1444838" y="203756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80" name="Google Shape;1080;p62"/>
          <p:cNvSpPr txBox="1"/>
          <p:nvPr/>
        </p:nvSpPr>
        <p:spPr>
          <a:xfrm>
            <a:off x="1749927" y="2000621"/>
            <a:ext cx="270786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Полная система: 8 модулей</a:t>
            </a:r>
            <a:endParaRPr/>
          </a:p>
        </p:txBody>
      </p:sp>
      <p:sp>
        <p:nvSpPr>
          <p:cNvPr id="1081" name="Google Shape;1081;p62"/>
          <p:cNvSpPr txBox="1"/>
          <p:nvPr/>
        </p:nvSpPr>
        <p:spPr>
          <a:xfrm>
            <a:off x="6970850" y="2016965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082" name="Google Shape;1082;p62"/>
          <p:cNvSpPr txBox="1"/>
          <p:nvPr/>
        </p:nvSpPr>
        <p:spPr>
          <a:xfrm>
            <a:off x="1444838" y="231592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83" name="Google Shape;1083;p62"/>
          <p:cNvSpPr txBox="1"/>
          <p:nvPr/>
        </p:nvSpPr>
        <p:spPr>
          <a:xfrm>
            <a:off x="1749927" y="2278981"/>
            <a:ext cx="3097319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Агенты под 4 трендовые услуги</a:t>
            </a:r>
            <a:endParaRPr/>
          </a:p>
        </p:txBody>
      </p:sp>
      <p:sp>
        <p:nvSpPr>
          <p:cNvPr id="1084" name="Google Shape;1084;p62"/>
          <p:cNvSpPr txBox="1"/>
          <p:nvPr/>
        </p:nvSpPr>
        <p:spPr>
          <a:xfrm>
            <a:off x="6970850" y="2295325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$2.200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085" name="Google Shape;1085;p62"/>
          <p:cNvSpPr txBox="1"/>
          <p:nvPr/>
        </p:nvSpPr>
        <p:spPr>
          <a:xfrm>
            <a:off x="1871912" y="2531377"/>
            <a:ext cx="93496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🌐 AI-сайты</a:t>
            </a:r>
            <a:endParaRPr/>
          </a:p>
        </p:txBody>
      </p:sp>
      <p:sp>
        <p:nvSpPr>
          <p:cNvPr id="1086" name="Google Shape;1086;p62"/>
          <p:cNvSpPr txBox="1"/>
          <p:nvPr/>
        </p:nvSpPr>
        <p:spPr>
          <a:xfrm>
            <a:off x="7288292" y="2547721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087" name="Google Shape;1087;p62"/>
          <p:cNvSpPr txBox="1"/>
          <p:nvPr/>
        </p:nvSpPr>
        <p:spPr>
          <a:xfrm>
            <a:off x="1871912" y="2730315"/>
            <a:ext cx="102746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🎨 AI-дизайн</a:t>
            </a:r>
            <a:endParaRPr/>
          </a:p>
        </p:txBody>
      </p:sp>
      <p:sp>
        <p:nvSpPr>
          <p:cNvPr id="1088" name="Google Shape;1088;p62"/>
          <p:cNvSpPr txBox="1"/>
          <p:nvPr/>
        </p:nvSpPr>
        <p:spPr>
          <a:xfrm>
            <a:off x="7288292" y="2746659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089" name="Google Shape;1089;p62"/>
          <p:cNvSpPr txBox="1"/>
          <p:nvPr/>
        </p:nvSpPr>
        <p:spPr>
          <a:xfrm>
            <a:off x="1871912" y="2929252"/>
            <a:ext cx="19704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🎬 Продающие AI-видео</a:t>
            </a:r>
            <a:endParaRPr/>
          </a:p>
        </p:txBody>
      </p:sp>
      <p:sp>
        <p:nvSpPr>
          <p:cNvPr id="1090" name="Google Shape;1090;p62"/>
          <p:cNvSpPr txBox="1"/>
          <p:nvPr/>
        </p:nvSpPr>
        <p:spPr>
          <a:xfrm>
            <a:off x="7288292" y="2945596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091" name="Google Shape;1091;p62"/>
          <p:cNvSpPr txBox="1"/>
          <p:nvPr/>
        </p:nvSpPr>
        <p:spPr>
          <a:xfrm>
            <a:off x="1871912" y="3128190"/>
            <a:ext cx="2634006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✍️ Контент-завод с AI-аватаром</a:t>
            </a:r>
            <a:endParaRPr/>
          </a:p>
        </p:txBody>
      </p:sp>
      <p:sp>
        <p:nvSpPr>
          <p:cNvPr id="1092" name="Google Shape;1092;p62"/>
          <p:cNvSpPr txBox="1"/>
          <p:nvPr/>
        </p:nvSpPr>
        <p:spPr>
          <a:xfrm>
            <a:off x="7288292" y="3144534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$700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093" name="Google Shape;1093;p62"/>
          <p:cNvSpPr txBox="1"/>
          <p:nvPr/>
        </p:nvSpPr>
        <p:spPr>
          <a:xfrm>
            <a:off x="1871912" y="3327128"/>
            <a:ext cx="989257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🎯 AI-таргет</a:t>
            </a:r>
            <a:endParaRPr/>
          </a:p>
        </p:txBody>
      </p:sp>
      <p:sp>
        <p:nvSpPr>
          <p:cNvPr id="1094" name="Google Shape;1094;p62"/>
          <p:cNvSpPr txBox="1"/>
          <p:nvPr/>
        </p:nvSpPr>
        <p:spPr>
          <a:xfrm>
            <a:off x="7082800" y="3343472"/>
            <a:ext cx="616360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95" name="Google Shape;1095;p62"/>
          <p:cNvSpPr txBox="1"/>
          <p:nvPr/>
        </p:nvSpPr>
        <p:spPr>
          <a:xfrm>
            <a:off x="1871912" y="3526065"/>
            <a:ext cx="76362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🧭 AI-SEO</a:t>
            </a:r>
            <a:endParaRPr/>
          </a:p>
        </p:txBody>
      </p:sp>
      <p:sp>
        <p:nvSpPr>
          <p:cNvPr id="1096" name="Google Shape;1096;p62"/>
          <p:cNvSpPr txBox="1"/>
          <p:nvPr/>
        </p:nvSpPr>
        <p:spPr>
          <a:xfrm>
            <a:off x="7082800" y="3542409"/>
            <a:ext cx="616360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97" name="Google Shape;1097;p62"/>
          <p:cNvSpPr txBox="1"/>
          <p:nvPr/>
        </p:nvSpPr>
        <p:spPr>
          <a:xfrm>
            <a:off x="1871912" y="3725003"/>
            <a:ext cx="1244646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💬 AI-продавец</a:t>
            </a:r>
            <a:endParaRPr/>
          </a:p>
        </p:txBody>
      </p:sp>
      <p:sp>
        <p:nvSpPr>
          <p:cNvPr id="1098" name="Google Shape;1098;p62"/>
          <p:cNvSpPr txBox="1"/>
          <p:nvPr/>
        </p:nvSpPr>
        <p:spPr>
          <a:xfrm>
            <a:off x="7082800" y="3741348"/>
            <a:ext cx="616360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099" name="Google Shape;1099;p62"/>
          <p:cNvSpPr txBox="1"/>
          <p:nvPr/>
        </p:nvSpPr>
        <p:spPr>
          <a:xfrm>
            <a:off x="1444838" y="3986849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00" name="Google Shape;1100;p62"/>
          <p:cNvSpPr txBox="1"/>
          <p:nvPr/>
        </p:nvSpPr>
        <p:spPr>
          <a:xfrm>
            <a:off x="1749927" y="3949904"/>
            <a:ext cx="3457365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33 готовые задачи под ваши услуги</a:t>
            </a:r>
            <a:endParaRPr/>
          </a:p>
        </p:txBody>
      </p:sp>
      <p:sp>
        <p:nvSpPr>
          <p:cNvPr id="1101" name="Google Shape;1101;p62"/>
          <p:cNvSpPr txBox="1"/>
          <p:nvPr/>
        </p:nvSpPr>
        <p:spPr>
          <a:xfrm>
            <a:off x="6970850" y="3966248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$3.400</a:t>
            </a:r>
            <a:endParaRPr/>
          </a:p>
        </p:txBody>
      </p:sp>
      <p:sp>
        <p:nvSpPr>
          <p:cNvPr id="1102" name="Google Shape;1102;p62"/>
          <p:cNvSpPr txBox="1"/>
          <p:nvPr/>
        </p:nvSpPr>
        <p:spPr>
          <a:xfrm>
            <a:off x="1444838" y="4265208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03" name="Google Shape;1103;p62"/>
          <p:cNvSpPr txBox="1"/>
          <p:nvPr/>
        </p:nvSpPr>
        <p:spPr>
          <a:xfrm>
            <a:off x="1749927" y="4228264"/>
            <a:ext cx="316608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шаблонов сайтов по нишам</a:t>
            </a:r>
            <a:endParaRPr/>
          </a:p>
        </p:txBody>
      </p:sp>
      <p:sp>
        <p:nvSpPr>
          <p:cNvPr id="1104" name="Google Shape;1104;p62"/>
          <p:cNvSpPr txBox="1"/>
          <p:nvPr/>
        </p:nvSpPr>
        <p:spPr>
          <a:xfrm>
            <a:off x="7213620" y="4244608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105" name="Google Shape;1105;p62"/>
          <p:cNvSpPr txBox="1"/>
          <p:nvPr/>
        </p:nvSpPr>
        <p:spPr>
          <a:xfrm>
            <a:off x="1444838" y="4543568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06" name="Google Shape;1106;p62"/>
          <p:cNvSpPr txBox="1"/>
          <p:nvPr/>
        </p:nvSpPr>
        <p:spPr>
          <a:xfrm>
            <a:off x="1749927" y="4506623"/>
            <a:ext cx="2656119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кейсов под все услуги</a:t>
            </a:r>
            <a:endParaRPr/>
          </a:p>
        </p:txBody>
      </p:sp>
      <p:sp>
        <p:nvSpPr>
          <p:cNvPr id="1107" name="Google Shape;1107;p62"/>
          <p:cNvSpPr txBox="1"/>
          <p:nvPr/>
        </p:nvSpPr>
        <p:spPr>
          <a:xfrm>
            <a:off x="7213620" y="452296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108" name="Google Shape;1108;p62"/>
          <p:cNvSpPr txBox="1"/>
          <p:nvPr/>
        </p:nvSpPr>
        <p:spPr>
          <a:xfrm>
            <a:off x="1444838" y="4821927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109" name="Google Shape;1109;p62"/>
          <p:cNvSpPr txBox="1"/>
          <p:nvPr/>
        </p:nvSpPr>
        <p:spPr>
          <a:xfrm>
            <a:off x="1749927" y="4784983"/>
            <a:ext cx="305274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Нейросети со скидкой до −75%</a:t>
            </a:r>
            <a:endParaRPr/>
          </a:p>
        </p:txBody>
      </p:sp>
      <p:sp>
        <p:nvSpPr>
          <p:cNvPr id="1110" name="Google Shape;1110;p62"/>
          <p:cNvSpPr txBox="1"/>
          <p:nvPr/>
        </p:nvSpPr>
        <p:spPr>
          <a:xfrm>
            <a:off x="7213620" y="480132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111" name="Google Shape;1111;p62"/>
          <p:cNvSpPr txBox="1"/>
          <p:nvPr/>
        </p:nvSpPr>
        <p:spPr>
          <a:xfrm>
            <a:off x="1444838" y="5100287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112" name="Google Shape;1112;p62"/>
          <p:cNvSpPr txBox="1"/>
          <p:nvPr/>
        </p:nvSpPr>
        <p:spPr>
          <a:xfrm>
            <a:off x="1749927" y="5063343"/>
            <a:ext cx="2537685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Живые разборы · 6 сессий</a:t>
            </a:r>
            <a:endParaRPr/>
          </a:p>
        </p:txBody>
      </p:sp>
      <p:sp>
        <p:nvSpPr>
          <p:cNvPr id="1113" name="Google Shape;1113;p62"/>
          <p:cNvSpPr txBox="1"/>
          <p:nvPr/>
        </p:nvSpPr>
        <p:spPr>
          <a:xfrm>
            <a:off x="7213620" y="507968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$540</a:t>
            </a:r>
            <a:endParaRPr/>
          </a:p>
        </p:txBody>
      </p:sp>
      <p:sp>
        <p:nvSpPr>
          <p:cNvPr id="1114" name="Google Shape;1114;p62"/>
          <p:cNvSpPr txBox="1"/>
          <p:nvPr/>
        </p:nvSpPr>
        <p:spPr>
          <a:xfrm>
            <a:off x="1444838" y="537864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115" name="Google Shape;1115;p62"/>
          <p:cNvSpPr txBox="1"/>
          <p:nvPr/>
        </p:nvSpPr>
        <p:spPr>
          <a:xfrm>
            <a:off x="1749927" y="5341702"/>
            <a:ext cx="2549262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Договоры и приём оплаты</a:t>
            </a:r>
            <a:endParaRPr/>
          </a:p>
        </p:txBody>
      </p:sp>
      <p:sp>
        <p:nvSpPr>
          <p:cNvPr id="1116" name="Google Shape;1116;p62"/>
          <p:cNvSpPr txBox="1"/>
          <p:nvPr/>
        </p:nvSpPr>
        <p:spPr>
          <a:xfrm>
            <a:off x="7213620" y="5358046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$350</a:t>
            </a:r>
            <a:endParaRPr/>
          </a:p>
        </p:txBody>
      </p:sp>
      <p:sp>
        <p:nvSpPr>
          <p:cNvPr id="1117" name="Google Shape;1117;p62"/>
          <p:cNvSpPr txBox="1"/>
          <p:nvPr/>
        </p:nvSpPr>
        <p:spPr>
          <a:xfrm>
            <a:off x="1444838" y="565700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118" name="Google Shape;1118;p62"/>
          <p:cNvSpPr txBox="1"/>
          <p:nvPr/>
        </p:nvSpPr>
        <p:spPr>
          <a:xfrm>
            <a:off x="1749927" y="5620062"/>
            <a:ext cx="2035242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Обновления агентов</a:t>
            </a:r>
            <a:endParaRPr/>
          </a:p>
        </p:txBody>
      </p:sp>
      <p:sp>
        <p:nvSpPr>
          <p:cNvPr id="1119" name="Google Shape;1119;p62"/>
          <p:cNvSpPr txBox="1"/>
          <p:nvPr/>
        </p:nvSpPr>
        <p:spPr>
          <a:xfrm>
            <a:off x="7213620" y="5636405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120" name="Google Shape;1120;p62"/>
          <p:cNvSpPr txBox="1"/>
          <p:nvPr/>
        </p:nvSpPr>
        <p:spPr>
          <a:xfrm>
            <a:off x="1444838" y="593536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121" name="Google Shape;1121;p62"/>
          <p:cNvSpPr txBox="1"/>
          <p:nvPr/>
        </p:nvSpPr>
        <p:spPr>
          <a:xfrm>
            <a:off x="1749927" y="5898421"/>
            <a:ext cx="3076133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Куратор проверяет каждый шаг</a:t>
            </a:r>
            <a:endParaRPr/>
          </a:p>
        </p:txBody>
      </p:sp>
      <p:sp>
        <p:nvSpPr>
          <p:cNvPr id="1122" name="Google Shape;1122;p62"/>
          <p:cNvSpPr txBox="1"/>
          <p:nvPr/>
        </p:nvSpPr>
        <p:spPr>
          <a:xfrm>
            <a:off x="6970850" y="5914765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$1.100</a:t>
            </a:r>
            <a:endParaRPr/>
          </a:p>
        </p:txBody>
      </p:sp>
      <p:sp>
        <p:nvSpPr>
          <p:cNvPr id="1123" name="Google Shape;1123;p62"/>
          <p:cNvSpPr txBox="1"/>
          <p:nvPr/>
        </p:nvSpPr>
        <p:spPr>
          <a:xfrm>
            <a:off x="1444838" y="621372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124" name="Google Shape;1124;p62"/>
          <p:cNvSpPr txBox="1"/>
          <p:nvPr/>
        </p:nvSpPr>
        <p:spPr>
          <a:xfrm>
            <a:off x="1749927" y="6176781"/>
            <a:ext cx="2331151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Закрытый чат и рейтинг</a:t>
            </a:r>
            <a:endParaRPr/>
          </a:p>
        </p:txBody>
      </p:sp>
      <p:sp>
        <p:nvSpPr>
          <p:cNvPr id="1125" name="Google Shape;1125;p62"/>
          <p:cNvSpPr txBox="1"/>
          <p:nvPr/>
        </p:nvSpPr>
        <p:spPr>
          <a:xfrm>
            <a:off x="7213620" y="6193125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</a:t>
            </a:r>
            <a:endParaRPr/>
          </a:p>
        </p:txBody>
      </p:sp>
      <p:sp>
        <p:nvSpPr>
          <p:cNvPr id="1126" name="Google Shape;1126;p62"/>
          <p:cNvSpPr txBox="1"/>
          <p:nvPr/>
        </p:nvSpPr>
        <p:spPr>
          <a:xfrm>
            <a:off x="1444838" y="649208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127" name="Google Shape;1127;p62"/>
          <p:cNvSpPr txBox="1"/>
          <p:nvPr/>
        </p:nvSpPr>
        <p:spPr>
          <a:xfrm>
            <a:off x="1749927" y="6455141"/>
            <a:ext cx="3630210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Доска объявлений: работа и клиенты</a:t>
            </a:r>
            <a:endParaRPr/>
          </a:p>
        </p:txBody>
      </p:sp>
      <p:sp>
        <p:nvSpPr>
          <p:cNvPr id="1128" name="Google Shape;1128;p62"/>
          <p:cNvSpPr txBox="1"/>
          <p:nvPr/>
        </p:nvSpPr>
        <p:spPr>
          <a:xfrm>
            <a:off x="7213620" y="6471484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129" name="Google Shape;1129;p62"/>
          <p:cNvSpPr txBox="1"/>
          <p:nvPr/>
        </p:nvSpPr>
        <p:spPr>
          <a:xfrm>
            <a:off x="1444838" y="6770444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130" name="Google Shape;1130;p62"/>
          <p:cNvSpPr txBox="1"/>
          <p:nvPr/>
        </p:nvSpPr>
        <p:spPr>
          <a:xfrm>
            <a:off x="1749927" y="6733500"/>
            <a:ext cx="279029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Настройки агента-продавца</a:t>
            </a:r>
            <a:endParaRPr/>
          </a:p>
        </p:txBody>
      </p:sp>
      <p:sp>
        <p:nvSpPr>
          <p:cNvPr id="1131" name="Google Shape;1131;p62"/>
          <p:cNvSpPr txBox="1"/>
          <p:nvPr/>
        </p:nvSpPr>
        <p:spPr>
          <a:xfrm>
            <a:off x="6970850" y="6749844"/>
            <a:ext cx="728311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$1.200</a:t>
            </a:r>
            <a:endParaRPr/>
          </a:p>
        </p:txBody>
      </p:sp>
      <p:sp>
        <p:nvSpPr>
          <p:cNvPr id="1132" name="Google Shape;1132;p62"/>
          <p:cNvSpPr txBox="1"/>
          <p:nvPr/>
        </p:nvSpPr>
        <p:spPr>
          <a:xfrm>
            <a:off x="1444838" y="7048803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133" name="Google Shape;1133;p62"/>
          <p:cNvSpPr txBox="1"/>
          <p:nvPr/>
        </p:nvSpPr>
        <p:spPr>
          <a:xfrm>
            <a:off x="1749927" y="7011859"/>
            <a:ext cx="302947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Скрипты продаж и шаблоны КП</a:t>
            </a:r>
            <a:endParaRPr/>
          </a:p>
        </p:txBody>
      </p:sp>
      <p:sp>
        <p:nvSpPr>
          <p:cNvPr id="1134" name="Google Shape;1134;p62"/>
          <p:cNvSpPr txBox="1"/>
          <p:nvPr/>
        </p:nvSpPr>
        <p:spPr>
          <a:xfrm>
            <a:off x="7213620" y="7028203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135" name="Google Shape;1135;p62"/>
          <p:cNvSpPr txBox="1"/>
          <p:nvPr/>
        </p:nvSpPr>
        <p:spPr>
          <a:xfrm>
            <a:off x="1444838" y="7327164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136" name="Google Shape;1136;p62"/>
          <p:cNvSpPr txBox="1"/>
          <p:nvPr/>
        </p:nvSpPr>
        <p:spPr>
          <a:xfrm>
            <a:off x="1749927" y="7290219"/>
            <a:ext cx="449246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Связки топовых локаций для поиска клиентов</a:t>
            </a:r>
            <a:endParaRPr/>
          </a:p>
        </p:txBody>
      </p:sp>
      <p:sp>
        <p:nvSpPr>
          <p:cNvPr id="1137" name="Google Shape;1137;p62"/>
          <p:cNvSpPr txBox="1"/>
          <p:nvPr/>
        </p:nvSpPr>
        <p:spPr>
          <a:xfrm>
            <a:off x="7213620" y="7306564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138" name="Google Shape;1138;p62"/>
          <p:cNvSpPr txBox="1"/>
          <p:nvPr/>
        </p:nvSpPr>
        <p:spPr>
          <a:xfrm>
            <a:off x="1444838" y="7605523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1139" name="Google Shape;1139;p62"/>
          <p:cNvSpPr txBox="1"/>
          <p:nvPr/>
        </p:nvSpPr>
        <p:spPr>
          <a:xfrm>
            <a:off x="1749927" y="7568579"/>
            <a:ext cx="492162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Каталог связок + новые связки по мере появления</a:t>
            </a:r>
            <a:endParaRPr/>
          </a:p>
        </p:txBody>
      </p:sp>
      <p:sp>
        <p:nvSpPr>
          <p:cNvPr id="1140" name="Google Shape;1140;p62"/>
          <p:cNvSpPr txBox="1"/>
          <p:nvPr/>
        </p:nvSpPr>
        <p:spPr>
          <a:xfrm>
            <a:off x="7213620" y="7584923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141" name="Google Shape;1141;p62"/>
          <p:cNvSpPr txBox="1"/>
          <p:nvPr/>
        </p:nvSpPr>
        <p:spPr>
          <a:xfrm>
            <a:off x="1444838" y="7883882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1142" name="Google Shape;1142;p62"/>
          <p:cNvSpPr txBox="1"/>
          <p:nvPr/>
        </p:nvSpPr>
        <p:spPr>
          <a:xfrm>
            <a:off x="1749927" y="7846938"/>
            <a:ext cx="341105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Групповые страт-сессии · 4 сессии</a:t>
            </a:r>
            <a:endParaRPr/>
          </a:p>
        </p:txBody>
      </p:sp>
      <p:sp>
        <p:nvSpPr>
          <p:cNvPr id="1143" name="Google Shape;1143;p62"/>
          <p:cNvSpPr txBox="1"/>
          <p:nvPr/>
        </p:nvSpPr>
        <p:spPr>
          <a:xfrm>
            <a:off x="6970850" y="7863282"/>
            <a:ext cx="728311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144" name="Google Shape;1144;p62"/>
          <p:cNvSpPr txBox="1"/>
          <p:nvPr/>
        </p:nvSpPr>
        <p:spPr>
          <a:xfrm>
            <a:off x="1749927" y="8252986"/>
            <a:ext cx="1612333" cy="26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Ценность</a:t>
            </a:r>
            <a:endParaRPr/>
          </a:p>
        </p:txBody>
      </p:sp>
      <p:sp>
        <p:nvSpPr>
          <p:cNvPr id="1145" name="Google Shape;1145;p62"/>
          <p:cNvSpPr txBox="1"/>
          <p:nvPr/>
        </p:nvSpPr>
        <p:spPr>
          <a:xfrm>
            <a:off x="5723540" y="8188036"/>
            <a:ext cx="1975620" cy="38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$12.390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9.jpg" id="1151" name="Google Shape;11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63"/>
          <p:cNvSpPr txBox="1"/>
          <p:nvPr/>
        </p:nvSpPr>
        <p:spPr>
          <a:xfrm>
            <a:off x="1135750" y="550002"/>
            <a:ext cx="6872413" cy="418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ФУНДАМЕНТ И САЙТЫ · 1 АГЕНТ · 5 МОДУЛЕЙ · 4 НЕДЕЛИ</a:t>
            </a:r>
            <a:endParaRPr/>
          </a:p>
        </p:txBody>
      </p:sp>
      <p:sp>
        <p:nvSpPr>
          <p:cNvPr id="1153" name="Google Shape;1153;p63"/>
          <p:cNvSpPr txBox="1"/>
          <p:nvPr/>
        </p:nvSpPr>
        <p:spPr>
          <a:xfrm>
            <a:off x="2659283" y="1098038"/>
            <a:ext cx="3825433" cy="769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Набор «Bronze»: с чего начинаете</a:t>
            </a:r>
            <a:endParaRPr/>
          </a:p>
        </p:txBody>
      </p:sp>
      <p:sp>
        <p:nvSpPr>
          <p:cNvPr id="1154" name="Google Shape;1154;p63"/>
          <p:cNvSpPr txBox="1"/>
          <p:nvPr/>
        </p:nvSpPr>
        <p:spPr>
          <a:xfrm>
            <a:off x="1444838" y="203756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55" name="Google Shape;1155;p63"/>
          <p:cNvSpPr txBox="1"/>
          <p:nvPr/>
        </p:nvSpPr>
        <p:spPr>
          <a:xfrm>
            <a:off x="1749927" y="2000621"/>
            <a:ext cx="270786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Полная система: 5 модулей</a:t>
            </a:r>
            <a:endParaRPr/>
          </a:p>
        </p:txBody>
      </p:sp>
      <p:sp>
        <p:nvSpPr>
          <p:cNvPr id="1156" name="Google Shape;1156;p63"/>
          <p:cNvSpPr txBox="1"/>
          <p:nvPr/>
        </p:nvSpPr>
        <p:spPr>
          <a:xfrm>
            <a:off x="6970850" y="2016965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157" name="Google Shape;1157;p63"/>
          <p:cNvSpPr txBox="1"/>
          <p:nvPr/>
        </p:nvSpPr>
        <p:spPr>
          <a:xfrm>
            <a:off x="1444838" y="231592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58" name="Google Shape;1158;p63"/>
          <p:cNvSpPr txBox="1"/>
          <p:nvPr/>
        </p:nvSpPr>
        <p:spPr>
          <a:xfrm>
            <a:off x="1749927" y="2278981"/>
            <a:ext cx="2777214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 под услугу «AI-сайты»</a:t>
            </a:r>
            <a:endParaRPr/>
          </a:p>
        </p:txBody>
      </p:sp>
      <p:sp>
        <p:nvSpPr>
          <p:cNvPr id="1159" name="Google Shape;1159;p63"/>
          <p:cNvSpPr txBox="1"/>
          <p:nvPr/>
        </p:nvSpPr>
        <p:spPr>
          <a:xfrm>
            <a:off x="7213620" y="2295325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160" name="Google Shape;1160;p63"/>
          <p:cNvSpPr txBox="1"/>
          <p:nvPr/>
        </p:nvSpPr>
        <p:spPr>
          <a:xfrm>
            <a:off x="1871912" y="2531377"/>
            <a:ext cx="93496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🌐 AI-сайты</a:t>
            </a:r>
            <a:endParaRPr/>
          </a:p>
        </p:txBody>
      </p:sp>
      <p:sp>
        <p:nvSpPr>
          <p:cNvPr id="1161" name="Google Shape;1161;p63"/>
          <p:cNvSpPr txBox="1"/>
          <p:nvPr/>
        </p:nvSpPr>
        <p:spPr>
          <a:xfrm>
            <a:off x="7288292" y="2547721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>
              <a:solidFill>
                <a:srgbClr val="31E981"/>
              </a:solidFill>
            </a:endParaRPr>
          </a:p>
        </p:txBody>
      </p:sp>
      <p:sp>
        <p:nvSpPr>
          <p:cNvPr id="1162" name="Google Shape;1162;p63"/>
          <p:cNvSpPr txBox="1"/>
          <p:nvPr/>
        </p:nvSpPr>
        <p:spPr>
          <a:xfrm>
            <a:off x="1871912" y="2730315"/>
            <a:ext cx="102746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🎨 AI-дизайн</a:t>
            </a:r>
            <a:endParaRPr/>
          </a:p>
        </p:txBody>
      </p:sp>
      <p:sp>
        <p:nvSpPr>
          <p:cNvPr id="1163" name="Google Shape;1163;p63"/>
          <p:cNvSpPr txBox="1"/>
          <p:nvPr/>
        </p:nvSpPr>
        <p:spPr>
          <a:xfrm>
            <a:off x="7288292" y="2746659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164" name="Google Shape;1164;p63"/>
          <p:cNvSpPr txBox="1"/>
          <p:nvPr/>
        </p:nvSpPr>
        <p:spPr>
          <a:xfrm>
            <a:off x="1871912" y="2929252"/>
            <a:ext cx="19704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🎬 Продающие AI-видео</a:t>
            </a:r>
            <a:endParaRPr/>
          </a:p>
        </p:txBody>
      </p:sp>
      <p:sp>
        <p:nvSpPr>
          <p:cNvPr id="1165" name="Google Shape;1165;p63"/>
          <p:cNvSpPr txBox="1"/>
          <p:nvPr/>
        </p:nvSpPr>
        <p:spPr>
          <a:xfrm>
            <a:off x="7288292" y="2945596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166" name="Google Shape;1166;p63"/>
          <p:cNvSpPr txBox="1"/>
          <p:nvPr/>
        </p:nvSpPr>
        <p:spPr>
          <a:xfrm>
            <a:off x="1871912" y="3128190"/>
            <a:ext cx="2634006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✍️ Контент-завод с AI-аватаром</a:t>
            </a:r>
            <a:endParaRPr/>
          </a:p>
        </p:txBody>
      </p:sp>
      <p:sp>
        <p:nvSpPr>
          <p:cNvPr id="1167" name="Google Shape;1167;p63"/>
          <p:cNvSpPr txBox="1"/>
          <p:nvPr/>
        </p:nvSpPr>
        <p:spPr>
          <a:xfrm>
            <a:off x="7288292" y="3144534"/>
            <a:ext cx="410869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$700</a:t>
            </a:r>
            <a:endParaRPr/>
          </a:p>
        </p:txBody>
      </p:sp>
      <p:sp>
        <p:nvSpPr>
          <p:cNvPr id="1168" name="Google Shape;1168;p63"/>
          <p:cNvSpPr txBox="1"/>
          <p:nvPr/>
        </p:nvSpPr>
        <p:spPr>
          <a:xfrm>
            <a:off x="1871912" y="3327128"/>
            <a:ext cx="989257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🎯 AI-таргет</a:t>
            </a:r>
            <a:endParaRPr/>
          </a:p>
        </p:txBody>
      </p:sp>
      <p:sp>
        <p:nvSpPr>
          <p:cNvPr id="1169" name="Google Shape;1169;p63"/>
          <p:cNvSpPr txBox="1"/>
          <p:nvPr/>
        </p:nvSpPr>
        <p:spPr>
          <a:xfrm>
            <a:off x="7082799" y="3343472"/>
            <a:ext cx="616361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170" name="Google Shape;1170;p63"/>
          <p:cNvSpPr txBox="1"/>
          <p:nvPr/>
        </p:nvSpPr>
        <p:spPr>
          <a:xfrm>
            <a:off x="1871912" y="3526065"/>
            <a:ext cx="76362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🧭 AI-SEO</a:t>
            </a:r>
            <a:endParaRPr/>
          </a:p>
        </p:txBody>
      </p:sp>
      <p:sp>
        <p:nvSpPr>
          <p:cNvPr id="1171" name="Google Shape;1171;p63"/>
          <p:cNvSpPr txBox="1"/>
          <p:nvPr/>
        </p:nvSpPr>
        <p:spPr>
          <a:xfrm>
            <a:off x="7082799" y="3542409"/>
            <a:ext cx="616361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172" name="Google Shape;1172;p63"/>
          <p:cNvSpPr txBox="1"/>
          <p:nvPr/>
        </p:nvSpPr>
        <p:spPr>
          <a:xfrm>
            <a:off x="1871912" y="3725003"/>
            <a:ext cx="1244646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💬 AI-продавец</a:t>
            </a:r>
            <a:endParaRPr/>
          </a:p>
        </p:txBody>
      </p:sp>
      <p:sp>
        <p:nvSpPr>
          <p:cNvPr id="1173" name="Google Shape;1173;p63"/>
          <p:cNvSpPr txBox="1"/>
          <p:nvPr/>
        </p:nvSpPr>
        <p:spPr>
          <a:xfrm>
            <a:off x="7082799" y="3741348"/>
            <a:ext cx="616361" cy="167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174" name="Google Shape;1174;p63"/>
          <p:cNvSpPr txBox="1"/>
          <p:nvPr/>
        </p:nvSpPr>
        <p:spPr>
          <a:xfrm>
            <a:off x="1444838" y="3986849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75" name="Google Shape;1175;p63"/>
          <p:cNvSpPr txBox="1"/>
          <p:nvPr/>
        </p:nvSpPr>
        <p:spPr>
          <a:xfrm>
            <a:off x="1749927" y="3949904"/>
            <a:ext cx="332862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16 готовых задач под ваши услуги</a:t>
            </a:r>
            <a:endParaRPr/>
          </a:p>
        </p:txBody>
      </p:sp>
      <p:sp>
        <p:nvSpPr>
          <p:cNvPr id="1176" name="Google Shape;1176;p63"/>
          <p:cNvSpPr txBox="1"/>
          <p:nvPr/>
        </p:nvSpPr>
        <p:spPr>
          <a:xfrm>
            <a:off x="6970850" y="3966248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$1.700</a:t>
            </a:r>
            <a:endParaRPr/>
          </a:p>
        </p:txBody>
      </p:sp>
      <p:sp>
        <p:nvSpPr>
          <p:cNvPr id="1177" name="Google Shape;1177;p63"/>
          <p:cNvSpPr txBox="1"/>
          <p:nvPr/>
        </p:nvSpPr>
        <p:spPr>
          <a:xfrm>
            <a:off x="1444838" y="4265208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78" name="Google Shape;1178;p63"/>
          <p:cNvSpPr txBox="1"/>
          <p:nvPr/>
        </p:nvSpPr>
        <p:spPr>
          <a:xfrm>
            <a:off x="1749927" y="4228264"/>
            <a:ext cx="316608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шаблонов сайтов по нишам</a:t>
            </a:r>
            <a:endParaRPr/>
          </a:p>
        </p:txBody>
      </p:sp>
      <p:sp>
        <p:nvSpPr>
          <p:cNvPr id="1179" name="Google Shape;1179;p63"/>
          <p:cNvSpPr txBox="1"/>
          <p:nvPr/>
        </p:nvSpPr>
        <p:spPr>
          <a:xfrm>
            <a:off x="7213620" y="4244608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180" name="Google Shape;1180;p63"/>
          <p:cNvSpPr txBox="1"/>
          <p:nvPr/>
        </p:nvSpPr>
        <p:spPr>
          <a:xfrm>
            <a:off x="1444838" y="4543568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81" name="Google Shape;1181;p63"/>
          <p:cNvSpPr txBox="1"/>
          <p:nvPr/>
        </p:nvSpPr>
        <p:spPr>
          <a:xfrm>
            <a:off x="1749927" y="4506623"/>
            <a:ext cx="2656119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кейсов под все услуги</a:t>
            </a:r>
            <a:endParaRPr/>
          </a:p>
        </p:txBody>
      </p:sp>
      <p:sp>
        <p:nvSpPr>
          <p:cNvPr id="1182" name="Google Shape;1182;p63"/>
          <p:cNvSpPr txBox="1"/>
          <p:nvPr/>
        </p:nvSpPr>
        <p:spPr>
          <a:xfrm>
            <a:off x="7213620" y="452296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183" name="Google Shape;1183;p63"/>
          <p:cNvSpPr txBox="1"/>
          <p:nvPr/>
        </p:nvSpPr>
        <p:spPr>
          <a:xfrm>
            <a:off x="1444838" y="4821927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184" name="Google Shape;1184;p63"/>
          <p:cNvSpPr txBox="1"/>
          <p:nvPr/>
        </p:nvSpPr>
        <p:spPr>
          <a:xfrm>
            <a:off x="1749927" y="4784983"/>
            <a:ext cx="305274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Нейросети со скидкой до −75%</a:t>
            </a:r>
            <a:endParaRPr/>
          </a:p>
        </p:txBody>
      </p:sp>
      <p:sp>
        <p:nvSpPr>
          <p:cNvPr id="1185" name="Google Shape;1185;p63"/>
          <p:cNvSpPr txBox="1"/>
          <p:nvPr/>
        </p:nvSpPr>
        <p:spPr>
          <a:xfrm>
            <a:off x="7213620" y="480132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186" name="Google Shape;1186;p63"/>
          <p:cNvSpPr txBox="1"/>
          <p:nvPr/>
        </p:nvSpPr>
        <p:spPr>
          <a:xfrm>
            <a:off x="1444838" y="5100287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187" name="Google Shape;1187;p63"/>
          <p:cNvSpPr txBox="1"/>
          <p:nvPr/>
        </p:nvSpPr>
        <p:spPr>
          <a:xfrm>
            <a:off x="1749927" y="5063343"/>
            <a:ext cx="2537685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Живые разборы · 4 сессии</a:t>
            </a:r>
            <a:endParaRPr/>
          </a:p>
        </p:txBody>
      </p:sp>
      <p:sp>
        <p:nvSpPr>
          <p:cNvPr id="1188" name="Google Shape;1188;p63"/>
          <p:cNvSpPr txBox="1"/>
          <p:nvPr/>
        </p:nvSpPr>
        <p:spPr>
          <a:xfrm>
            <a:off x="7213620" y="5079687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$360</a:t>
            </a:r>
            <a:endParaRPr/>
          </a:p>
        </p:txBody>
      </p:sp>
      <p:sp>
        <p:nvSpPr>
          <p:cNvPr id="1189" name="Google Shape;1189;p63"/>
          <p:cNvSpPr txBox="1"/>
          <p:nvPr/>
        </p:nvSpPr>
        <p:spPr>
          <a:xfrm>
            <a:off x="1444838" y="537864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190" name="Google Shape;1190;p63"/>
          <p:cNvSpPr txBox="1"/>
          <p:nvPr/>
        </p:nvSpPr>
        <p:spPr>
          <a:xfrm>
            <a:off x="1749927" y="5341702"/>
            <a:ext cx="2549262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Договоры и приём оплаты</a:t>
            </a:r>
            <a:endParaRPr/>
          </a:p>
        </p:txBody>
      </p:sp>
      <p:sp>
        <p:nvSpPr>
          <p:cNvPr id="1191" name="Google Shape;1191;p63"/>
          <p:cNvSpPr txBox="1"/>
          <p:nvPr/>
        </p:nvSpPr>
        <p:spPr>
          <a:xfrm>
            <a:off x="7213620" y="5358046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$350</a:t>
            </a:r>
            <a:endParaRPr/>
          </a:p>
        </p:txBody>
      </p:sp>
      <p:sp>
        <p:nvSpPr>
          <p:cNvPr id="1192" name="Google Shape;1192;p63"/>
          <p:cNvSpPr txBox="1"/>
          <p:nvPr/>
        </p:nvSpPr>
        <p:spPr>
          <a:xfrm>
            <a:off x="1444838" y="5657006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193" name="Google Shape;1193;p63"/>
          <p:cNvSpPr txBox="1"/>
          <p:nvPr/>
        </p:nvSpPr>
        <p:spPr>
          <a:xfrm>
            <a:off x="1749927" y="5620062"/>
            <a:ext cx="2035242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Обновления агентов</a:t>
            </a:r>
            <a:endParaRPr/>
          </a:p>
        </p:txBody>
      </p:sp>
      <p:sp>
        <p:nvSpPr>
          <p:cNvPr id="1194" name="Google Shape;1194;p63"/>
          <p:cNvSpPr txBox="1"/>
          <p:nvPr/>
        </p:nvSpPr>
        <p:spPr>
          <a:xfrm>
            <a:off x="7213620" y="5636405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195" name="Google Shape;1195;p63"/>
          <p:cNvSpPr txBox="1"/>
          <p:nvPr/>
        </p:nvSpPr>
        <p:spPr>
          <a:xfrm>
            <a:off x="1444838" y="593536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196" name="Google Shape;1196;p63"/>
          <p:cNvSpPr txBox="1"/>
          <p:nvPr/>
        </p:nvSpPr>
        <p:spPr>
          <a:xfrm>
            <a:off x="1749927" y="5898421"/>
            <a:ext cx="3076133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Куратор проверяет каждый шаг</a:t>
            </a:r>
            <a:endParaRPr/>
          </a:p>
        </p:txBody>
      </p:sp>
      <p:sp>
        <p:nvSpPr>
          <p:cNvPr id="1197" name="Google Shape;1197;p63"/>
          <p:cNvSpPr txBox="1"/>
          <p:nvPr/>
        </p:nvSpPr>
        <p:spPr>
          <a:xfrm>
            <a:off x="6970850" y="5914765"/>
            <a:ext cx="728311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$1.100</a:t>
            </a:r>
            <a:endParaRPr/>
          </a:p>
        </p:txBody>
      </p:sp>
      <p:sp>
        <p:nvSpPr>
          <p:cNvPr id="1198" name="Google Shape;1198;p63"/>
          <p:cNvSpPr txBox="1"/>
          <p:nvPr/>
        </p:nvSpPr>
        <p:spPr>
          <a:xfrm>
            <a:off x="1444838" y="621372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199" name="Google Shape;1199;p63"/>
          <p:cNvSpPr txBox="1"/>
          <p:nvPr/>
        </p:nvSpPr>
        <p:spPr>
          <a:xfrm>
            <a:off x="1749927" y="6176781"/>
            <a:ext cx="2331151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Закрытый чат и рейтинг</a:t>
            </a:r>
            <a:endParaRPr/>
          </a:p>
        </p:txBody>
      </p:sp>
      <p:sp>
        <p:nvSpPr>
          <p:cNvPr id="1200" name="Google Shape;1200;p63"/>
          <p:cNvSpPr txBox="1"/>
          <p:nvPr/>
        </p:nvSpPr>
        <p:spPr>
          <a:xfrm>
            <a:off x="7213620" y="6193125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$300</a:t>
            </a:r>
            <a:endParaRPr/>
          </a:p>
        </p:txBody>
      </p:sp>
      <p:sp>
        <p:nvSpPr>
          <p:cNvPr id="1201" name="Google Shape;1201;p63"/>
          <p:cNvSpPr txBox="1"/>
          <p:nvPr/>
        </p:nvSpPr>
        <p:spPr>
          <a:xfrm>
            <a:off x="1444838" y="6492085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202" name="Google Shape;1202;p63"/>
          <p:cNvSpPr txBox="1"/>
          <p:nvPr/>
        </p:nvSpPr>
        <p:spPr>
          <a:xfrm>
            <a:off x="1749927" y="6455141"/>
            <a:ext cx="3630210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Доска объявлений: работа и клиенты</a:t>
            </a:r>
            <a:endParaRPr/>
          </a:p>
        </p:txBody>
      </p:sp>
      <p:sp>
        <p:nvSpPr>
          <p:cNvPr id="1203" name="Google Shape;1203;p63"/>
          <p:cNvSpPr txBox="1"/>
          <p:nvPr/>
        </p:nvSpPr>
        <p:spPr>
          <a:xfrm>
            <a:off x="7213620" y="6471484"/>
            <a:ext cx="485540" cy="20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204" name="Google Shape;1204;p63"/>
          <p:cNvSpPr txBox="1"/>
          <p:nvPr/>
        </p:nvSpPr>
        <p:spPr>
          <a:xfrm>
            <a:off x="1444838" y="6770444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205" name="Google Shape;1205;p63"/>
          <p:cNvSpPr txBox="1"/>
          <p:nvPr/>
        </p:nvSpPr>
        <p:spPr>
          <a:xfrm>
            <a:off x="1749927" y="6733500"/>
            <a:ext cx="279029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Настройки агента-продавца</a:t>
            </a:r>
            <a:endParaRPr/>
          </a:p>
        </p:txBody>
      </p:sp>
      <p:sp>
        <p:nvSpPr>
          <p:cNvPr id="1206" name="Google Shape;1206;p63"/>
          <p:cNvSpPr txBox="1"/>
          <p:nvPr/>
        </p:nvSpPr>
        <p:spPr>
          <a:xfrm>
            <a:off x="6970850" y="6749844"/>
            <a:ext cx="728311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$1.200</a:t>
            </a:r>
            <a:endParaRPr/>
          </a:p>
        </p:txBody>
      </p:sp>
      <p:sp>
        <p:nvSpPr>
          <p:cNvPr id="1207" name="Google Shape;1207;p63"/>
          <p:cNvSpPr txBox="1"/>
          <p:nvPr/>
        </p:nvSpPr>
        <p:spPr>
          <a:xfrm>
            <a:off x="1444838" y="7048803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208" name="Google Shape;1208;p63"/>
          <p:cNvSpPr txBox="1"/>
          <p:nvPr/>
        </p:nvSpPr>
        <p:spPr>
          <a:xfrm>
            <a:off x="1749927" y="7011859"/>
            <a:ext cx="302947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Скрипты продаж и шаблоны КП</a:t>
            </a:r>
            <a:endParaRPr/>
          </a:p>
        </p:txBody>
      </p:sp>
      <p:sp>
        <p:nvSpPr>
          <p:cNvPr id="1209" name="Google Shape;1209;p63"/>
          <p:cNvSpPr txBox="1"/>
          <p:nvPr/>
        </p:nvSpPr>
        <p:spPr>
          <a:xfrm>
            <a:off x="7213620" y="7028203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210" name="Google Shape;1210;p63"/>
          <p:cNvSpPr txBox="1"/>
          <p:nvPr/>
        </p:nvSpPr>
        <p:spPr>
          <a:xfrm>
            <a:off x="1444838" y="7327164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211" name="Google Shape;1211;p63"/>
          <p:cNvSpPr txBox="1"/>
          <p:nvPr/>
        </p:nvSpPr>
        <p:spPr>
          <a:xfrm>
            <a:off x="1749927" y="7290219"/>
            <a:ext cx="449246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Связки топовых локаций для поиска клиентов</a:t>
            </a:r>
            <a:endParaRPr/>
          </a:p>
        </p:txBody>
      </p:sp>
      <p:sp>
        <p:nvSpPr>
          <p:cNvPr id="1212" name="Google Shape;1212;p63"/>
          <p:cNvSpPr txBox="1"/>
          <p:nvPr/>
        </p:nvSpPr>
        <p:spPr>
          <a:xfrm>
            <a:off x="7213620" y="7306564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213" name="Google Shape;1213;p63"/>
          <p:cNvSpPr txBox="1"/>
          <p:nvPr/>
        </p:nvSpPr>
        <p:spPr>
          <a:xfrm>
            <a:off x="1444838" y="7605523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1214" name="Google Shape;1214;p63"/>
          <p:cNvSpPr txBox="1"/>
          <p:nvPr/>
        </p:nvSpPr>
        <p:spPr>
          <a:xfrm>
            <a:off x="1749927" y="7568579"/>
            <a:ext cx="4921628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Каталог связок + новые связки по мере появления</a:t>
            </a:r>
            <a:endParaRPr/>
          </a:p>
        </p:txBody>
      </p:sp>
      <p:sp>
        <p:nvSpPr>
          <p:cNvPr id="1215" name="Google Shape;1215;p63"/>
          <p:cNvSpPr txBox="1"/>
          <p:nvPr/>
        </p:nvSpPr>
        <p:spPr>
          <a:xfrm>
            <a:off x="7213620" y="7584923"/>
            <a:ext cx="485540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216" name="Google Shape;1216;p63"/>
          <p:cNvSpPr txBox="1"/>
          <p:nvPr/>
        </p:nvSpPr>
        <p:spPr>
          <a:xfrm>
            <a:off x="1444838" y="7883882"/>
            <a:ext cx="215769" cy="15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1217" name="Google Shape;1217;p63"/>
          <p:cNvSpPr txBox="1"/>
          <p:nvPr/>
        </p:nvSpPr>
        <p:spPr>
          <a:xfrm>
            <a:off x="1749927" y="7846938"/>
            <a:ext cx="3411057" cy="227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Групповые страт-сессии · 4 сессии</a:t>
            </a:r>
            <a:endParaRPr/>
          </a:p>
        </p:txBody>
      </p:sp>
      <p:sp>
        <p:nvSpPr>
          <p:cNvPr id="1218" name="Google Shape;1218;p63"/>
          <p:cNvSpPr txBox="1"/>
          <p:nvPr/>
        </p:nvSpPr>
        <p:spPr>
          <a:xfrm>
            <a:off x="6970850" y="7863282"/>
            <a:ext cx="728311" cy="20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219" name="Google Shape;1219;p63"/>
          <p:cNvSpPr txBox="1"/>
          <p:nvPr/>
        </p:nvSpPr>
        <p:spPr>
          <a:xfrm>
            <a:off x="1749927" y="8252986"/>
            <a:ext cx="1612333" cy="26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Ценность</a:t>
            </a:r>
            <a:endParaRPr/>
          </a:p>
        </p:txBody>
      </p:sp>
      <p:sp>
        <p:nvSpPr>
          <p:cNvPr id="1220" name="Google Shape;1220;p63"/>
          <p:cNvSpPr txBox="1"/>
          <p:nvPr/>
        </p:nvSpPr>
        <p:spPr>
          <a:xfrm>
            <a:off x="6031026" y="8188036"/>
            <a:ext cx="1668135" cy="385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$6.060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8.jpg" id="1226" name="Google Shape;12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64"/>
          <p:cNvSpPr txBox="1"/>
          <p:nvPr/>
        </p:nvSpPr>
        <p:spPr>
          <a:xfrm>
            <a:off x="2447497" y="1667147"/>
            <a:ext cx="424900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АГЕНТЫ ПО НАБОРАМ</a:t>
            </a:r>
            <a:endParaRPr/>
          </a:p>
        </p:txBody>
      </p:sp>
      <p:sp>
        <p:nvSpPr>
          <p:cNvPr id="1228" name="Google Shape;1228;p64"/>
          <p:cNvSpPr txBox="1"/>
          <p:nvPr/>
        </p:nvSpPr>
        <p:spPr>
          <a:xfrm>
            <a:off x="584415" y="2167413"/>
            <a:ext cx="7975168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Чем наборы отличаются: какие агенты у вас работают</a:t>
            </a:r>
            <a:endParaRPr/>
          </a:p>
        </p:txBody>
      </p:sp>
      <p:sp>
        <p:nvSpPr>
          <p:cNvPr id="1229" name="Google Shape;1229;p64"/>
          <p:cNvSpPr txBox="1"/>
          <p:nvPr/>
        </p:nvSpPr>
        <p:spPr>
          <a:xfrm>
            <a:off x="1147247" y="5062571"/>
            <a:ext cx="1643446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Bronze</a:t>
            </a:r>
            <a:endParaRPr/>
          </a:p>
        </p:txBody>
      </p:sp>
      <p:sp>
        <p:nvSpPr>
          <p:cNvPr id="1230" name="Google Shape;1230;p64"/>
          <p:cNvSpPr txBox="1"/>
          <p:nvPr/>
        </p:nvSpPr>
        <p:spPr>
          <a:xfrm>
            <a:off x="1236630" y="5396899"/>
            <a:ext cx="1464681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ДЕЛАЕТЕ САМИ</a:t>
            </a:r>
            <a:endParaRPr/>
          </a:p>
        </p:txBody>
      </p:sp>
      <p:sp>
        <p:nvSpPr>
          <p:cNvPr id="1231" name="Google Shape;1231;p64"/>
          <p:cNvSpPr txBox="1"/>
          <p:nvPr/>
        </p:nvSpPr>
        <p:spPr>
          <a:xfrm>
            <a:off x="1014251" y="5618559"/>
            <a:ext cx="656629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232" name="Google Shape;1232;p64"/>
          <p:cNvSpPr txBox="1"/>
          <p:nvPr/>
        </p:nvSpPr>
        <p:spPr>
          <a:xfrm>
            <a:off x="910521" y="5898390"/>
            <a:ext cx="229824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/>
          </a:p>
        </p:txBody>
      </p:sp>
      <p:sp>
        <p:nvSpPr>
          <p:cNvPr id="1233" name="Google Shape;1233;p64"/>
          <p:cNvSpPr txBox="1"/>
          <p:nvPr/>
        </p:nvSpPr>
        <p:spPr>
          <a:xfrm>
            <a:off x="821131" y="6228227"/>
            <a:ext cx="408606" cy="17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</a:t>
            </a:r>
            <a:endParaRPr/>
          </a:p>
        </p:txBody>
      </p:sp>
      <p:sp>
        <p:nvSpPr>
          <p:cNvPr id="1234" name="Google Shape;1234;p64"/>
          <p:cNvSpPr txBox="1"/>
          <p:nvPr/>
        </p:nvSpPr>
        <p:spPr>
          <a:xfrm>
            <a:off x="3911623" y="4634660"/>
            <a:ext cx="1320752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0" u="none" cap="none" strike="noStrike">
                <a:solidFill>
                  <a:srgbClr val="CBD6DD"/>
                </a:solidFill>
                <a:latin typeface="Unbounded"/>
                <a:ea typeface="Unbounded"/>
                <a:cs typeface="Unbounded"/>
                <a:sym typeface="Unbounded"/>
              </a:rPr>
              <a:t>Silver</a:t>
            </a:r>
            <a:endParaRPr/>
          </a:p>
        </p:txBody>
      </p:sp>
      <p:sp>
        <p:nvSpPr>
          <p:cNvPr id="1235" name="Google Shape;1235;p64"/>
          <p:cNvSpPr txBox="1"/>
          <p:nvPr/>
        </p:nvSpPr>
        <p:spPr>
          <a:xfrm>
            <a:off x="3773385" y="4975519"/>
            <a:ext cx="1597228" cy="31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КОНТЕНТ ПРИВОДИТ КЛИЕНТОВ</a:t>
            </a:r>
            <a:endParaRPr/>
          </a:p>
        </p:txBody>
      </p:sp>
      <p:sp>
        <p:nvSpPr>
          <p:cNvPr id="1236" name="Google Shape;1236;p64"/>
          <p:cNvSpPr txBox="1"/>
          <p:nvPr/>
        </p:nvSpPr>
        <p:spPr>
          <a:xfrm>
            <a:off x="3617229" y="5371487"/>
            <a:ext cx="656629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237" name="Google Shape;1237;p64"/>
          <p:cNvSpPr txBox="1"/>
          <p:nvPr/>
        </p:nvSpPr>
        <p:spPr>
          <a:xfrm>
            <a:off x="4431015" y="5371487"/>
            <a:ext cx="740598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AI-дизайн</a:t>
            </a:r>
            <a:endParaRPr/>
          </a:p>
        </p:txBody>
      </p:sp>
      <p:sp>
        <p:nvSpPr>
          <p:cNvPr id="1238" name="Google Shape;1238;p64"/>
          <p:cNvSpPr txBox="1"/>
          <p:nvPr/>
        </p:nvSpPr>
        <p:spPr>
          <a:xfrm>
            <a:off x="3616862" y="5613048"/>
            <a:ext cx="659404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AI-видео</a:t>
            </a:r>
            <a:endParaRPr/>
          </a:p>
        </p:txBody>
      </p:sp>
      <p:sp>
        <p:nvSpPr>
          <p:cNvPr id="1239" name="Google Shape;1239;p64"/>
          <p:cNvSpPr txBox="1"/>
          <p:nvPr/>
        </p:nvSpPr>
        <p:spPr>
          <a:xfrm>
            <a:off x="4382043" y="5613048"/>
            <a:ext cx="1126026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Контент-завод</a:t>
            </a:r>
            <a:endParaRPr/>
          </a:p>
        </p:txBody>
      </p:sp>
      <p:sp>
        <p:nvSpPr>
          <p:cNvPr id="1240" name="Google Shape;1240;p64"/>
          <p:cNvSpPr txBox="1"/>
          <p:nvPr/>
        </p:nvSpPr>
        <p:spPr>
          <a:xfrm>
            <a:off x="3490532" y="5892879"/>
            <a:ext cx="335462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/>
          </a:p>
        </p:txBody>
      </p:sp>
      <p:sp>
        <p:nvSpPr>
          <p:cNvPr id="1241" name="Google Shape;1241;p64"/>
          <p:cNvSpPr txBox="1"/>
          <p:nvPr/>
        </p:nvSpPr>
        <p:spPr>
          <a:xfrm>
            <a:off x="3413344" y="6222716"/>
            <a:ext cx="489938" cy="17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агента</a:t>
            </a:r>
            <a:endParaRPr/>
          </a:p>
        </p:txBody>
      </p:sp>
      <p:sp>
        <p:nvSpPr>
          <p:cNvPr id="1242" name="Google Shape;1242;p64"/>
          <p:cNvSpPr txBox="1"/>
          <p:nvPr/>
        </p:nvSpPr>
        <p:spPr>
          <a:xfrm>
            <a:off x="6637017" y="4207260"/>
            <a:ext cx="1075922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Gold</a:t>
            </a:r>
            <a:endParaRPr/>
          </a:p>
        </p:txBody>
      </p:sp>
      <p:sp>
        <p:nvSpPr>
          <p:cNvPr id="1243" name="Google Shape;1243;p64"/>
          <p:cNvSpPr txBox="1"/>
          <p:nvPr/>
        </p:nvSpPr>
        <p:spPr>
          <a:xfrm>
            <a:off x="6171767" y="4541588"/>
            <a:ext cx="2006422" cy="287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ПРОДАЁТ И УДЕРЖИВАЕТ АГЕНТ</a:t>
            </a:r>
            <a:endParaRPr/>
          </a:p>
        </p:txBody>
      </p:sp>
      <p:sp>
        <p:nvSpPr>
          <p:cNvPr id="1244" name="Google Shape;1244;p64"/>
          <p:cNvSpPr txBox="1"/>
          <p:nvPr/>
        </p:nvSpPr>
        <p:spPr>
          <a:xfrm>
            <a:off x="6220208" y="4893876"/>
            <a:ext cx="656629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245" name="Google Shape;1245;p64"/>
          <p:cNvSpPr txBox="1"/>
          <p:nvPr/>
        </p:nvSpPr>
        <p:spPr>
          <a:xfrm>
            <a:off x="7033993" y="4893876"/>
            <a:ext cx="740598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AI-дизайн</a:t>
            </a:r>
            <a:endParaRPr/>
          </a:p>
        </p:txBody>
      </p:sp>
      <p:sp>
        <p:nvSpPr>
          <p:cNvPr id="1246" name="Google Shape;1246;p64"/>
          <p:cNvSpPr txBox="1"/>
          <p:nvPr/>
        </p:nvSpPr>
        <p:spPr>
          <a:xfrm>
            <a:off x="6219840" y="5135437"/>
            <a:ext cx="659404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AI-видео</a:t>
            </a:r>
            <a:endParaRPr/>
          </a:p>
        </p:txBody>
      </p:sp>
      <p:sp>
        <p:nvSpPr>
          <p:cNvPr id="1247" name="Google Shape;1247;p64"/>
          <p:cNvSpPr txBox="1"/>
          <p:nvPr/>
        </p:nvSpPr>
        <p:spPr>
          <a:xfrm>
            <a:off x="6985021" y="5135437"/>
            <a:ext cx="1126026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Контент-завод</a:t>
            </a:r>
            <a:endParaRPr/>
          </a:p>
        </p:txBody>
      </p:sp>
      <p:sp>
        <p:nvSpPr>
          <p:cNvPr id="1248" name="Google Shape;1248;p64"/>
          <p:cNvSpPr txBox="1"/>
          <p:nvPr/>
        </p:nvSpPr>
        <p:spPr>
          <a:xfrm>
            <a:off x="6213686" y="5376998"/>
            <a:ext cx="705900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AI-таргет</a:t>
            </a:r>
            <a:endParaRPr/>
          </a:p>
        </p:txBody>
      </p:sp>
      <p:sp>
        <p:nvSpPr>
          <p:cNvPr id="1249" name="Google Shape;1249;p64"/>
          <p:cNvSpPr txBox="1"/>
          <p:nvPr/>
        </p:nvSpPr>
        <p:spPr>
          <a:xfrm>
            <a:off x="7101946" y="5376998"/>
            <a:ext cx="500903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AI-SEO</a:t>
            </a:r>
            <a:endParaRPr/>
          </a:p>
        </p:txBody>
      </p:sp>
      <p:sp>
        <p:nvSpPr>
          <p:cNvPr id="1250" name="Google Shape;1250;p64"/>
          <p:cNvSpPr txBox="1"/>
          <p:nvPr/>
        </p:nvSpPr>
        <p:spPr>
          <a:xfrm>
            <a:off x="6182991" y="5618559"/>
            <a:ext cx="937823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AI-продавец</a:t>
            </a:r>
            <a:endParaRPr/>
          </a:p>
        </p:txBody>
      </p:sp>
      <p:sp>
        <p:nvSpPr>
          <p:cNvPr id="1251" name="Google Shape;1251;p64"/>
          <p:cNvSpPr txBox="1"/>
          <p:nvPr/>
        </p:nvSpPr>
        <p:spPr>
          <a:xfrm>
            <a:off x="7203261" y="5618559"/>
            <a:ext cx="1023874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страт-сессии</a:t>
            </a:r>
            <a:endParaRPr/>
          </a:p>
        </p:txBody>
      </p:sp>
      <p:sp>
        <p:nvSpPr>
          <p:cNvPr id="1252" name="Google Shape;1252;p64"/>
          <p:cNvSpPr txBox="1"/>
          <p:nvPr/>
        </p:nvSpPr>
        <p:spPr>
          <a:xfrm>
            <a:off x="6146686" y="5898390"/>
            <a:ext cx="293812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7</a:t>
            </a:r>
            <a:endParaRPr/>
          </a:p>
        </p:txBody>
      </p:sp>
      <p:sp>
        <p:nvSpPr>
          <p:cNvPr id="1253" name="Google Shape;1253;p64"/>
          <p:cNvSpPr txBox="1"/>
          <p:nvPr/>
        </p:nvSpPr>
        <p:spPr>
          <a:xfrm>
            <a:off x="6004695" y="6228227"/>
            <a:ext cx="577794" cy="17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агентов</a:t>
            </a:r>
            <a:endParaRPr/>
          </a:p>
        </p:txBody>
      </p:sp>
      <p:sp>
        <p:nvSpPr>
          <p:cNvPr id="1254" name="Google Shape;1254;p64"/>
          <p:cNvSpPr txBox="1"/>
          <p:nvPr/>
        </p:nvSpPr>
        <p:spPr>
          <a:xfrm>
            <a:off x="1577231" y="6793808"/>
            <a:ext cx="5989434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Каждая ступень добавляет агентов. Ничего не исчезает — только прибавляется</a:t>
            </a:r>
            <a:endParaRPr/>
          </a:p>
        </p:txBody>
      </p:sp>
      <p:sp>
        <p:nvSpPr>
          <p:cNvPr id="1255" name="Google Shape;1255;p64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5.jpg" id="1261" name="Google Shape;126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65"/>
          <p:cNvSpPr txBox="1"/>
          <p:nvPr/>
        </p:nvSpPr>
        <p:spPr>
          <a:xfrm>
            <a:off x="2122046" y="2233544"/>
            <a:ext cx="4899804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Три набора</a:t>
            </a:r>
            <a:endParaRPr/>
          </a:p>
        </p:txBody>
      </p:sp>
      <p:sp>
        <p:nvSpPr>
          <p:cNvPr id="1263" name="Google Shape;1263;p65"/>
          <p:cNvSpPr txBox="1"/>
          <p:nvPr/>
        </p:nvSpPr>
        <p:spPr>
          <a:xfrm>
            <a:off x="1216731" y="3546667"/>
            <a:ext cx="1480087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Bronze</a:t>
            </a:r>
            <a:endParaRPr/>
          </a:p>
        </p:txBody>
      </p:sp>
      <p:sp>
        <p:nvSpPr>
          <p:cNvPr id="1264" name="Google Shape;1264;p65"/>
          <p:cNvSpPr txBox="1"/>
          <p:nvPr/>
        </p:nvSpPr>
        <p:spPr>
          <a:xfrm>
            <a:off x="443341" y="4042137"/>
            <a:ext cx="3027072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$6.060</a:t>
            </a:r>
            <a:endParaRPr/>
          </a:p>
        </p:txBody>
      </p:sp>
      <p:sp>
        <p:nvSpPr>
          <p:cNvPr id="1265" name="Google Shape;1265;p65"/>
          <p:cNvSpPr txBox="1"/>
          <p:nvPr/>
        </p:nvSpPr>
        <p:spPr>
          <a:xfrm>
            <a:off x="846571" y="4862444"/>
            <a:ext cx="561833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услуг</a:t>
            </a:r>
            <a:endParaRPr/>
          </a:p>
        </p:txBody>
      </p:sp>
      <p:sp>
        <p:nvSpPr>
          <p:cNvPr id="1266" name="Google Shape;1266;p65"/>
          <p:cNvSpPr txBox="1"/>
          <p:nvPr/>
        </p:nvSpPr>
        <p:spPr>
          <a:xfrm>
            <a:off x="2846172" y="4862444"/>
            <a:ext cx="146548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/>
          </a:p>
        </p:txBody>
      </p:sp>
      <p:sp>
        <p:nvSpPr>
          <p:cNvPr id="1267" name="Google Shape;1267;p65"/>
          <p:cNvSpPr txBox="1"/>
          <p:nvPr/>
        </p:nvSpPr>
        <p:spPr>
          <a:xfrm>
            <a:off x="812532" y="5088595"/>
            <a:ext cx="81901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агентов</a:t>
            </a:r>
            <a:endParaRPr/>
          </a:p>
        </p:txBody>
      </p:sp>
      <p:sp>
        <p:nvSpPr>
          <p:cNvPr id="1268" name="Google Shape;1268;p65"/>
          <p:cNvSpPr txBox="1"/>
          <p:nvPr/>
        </p:nvSpPr>
        <p:spPr>
          <a:xfrm>
            <a:off x="2846172" y="5088595"/>
            <a:ext cx="146548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/>
          </a:p>
        </p:txBody>
      </p:sp>
      <p:sp>
        <p:nvSpPr>
          <p:cNvPr id="1269" name="Google Shape;1269;p65"/>
          <p:cNvSpPr txBox="1"/>
          <p:nvPr/>
        </p:nvSpPr>
        <p:spPr>
          <a:xfrm>
            <a:off x="803714" y="5314745"/>
            <a:ext cx="88563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модулей</a:t>
            </a:r>
            <a:endParaRPr/>
          </a:p>
        </p:txBody>
      </p:sp>
      <p:sp>
        <p:nvSpPr>
          <p:cNvPr id="1270" name="Google Shape;1270;p65"/>
          <p:cNvSpPr txBox="1"/>
          <p:nvPr/>
        </p:nvSpPr>
        <p:spPr>
          <a:xfrm>
            <a:off x="2823210" y="5314745"/>
            <a:ext cx="16951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/>
          </a:p>
        </p:txBody>
      </p:sp>
      <p:sp>
        <p:nvSpPr>
          <p:cNvPr id="1271" name="Google Shape;1271;p65"/>
          <p:cNvSpPr txBox="1"/>
          <p:nvPr/>
        </p:nvSpPr>
        <p:spPr>
          <a:xfrm>
            <a:off x="822323" y="5540896"/>
            <a:ext cx="74504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недель</a:t>
            </a:r>
            <a:endParaRPr/>
          </a:p>
        </p:txBody>
      </p:sp>
      <p:sp>
        <p:nvSpPr>
          <p:cNvPr id="1272" name="Google Shape;1272;p65"/>
          <p:cNvSpPr txBox="1"/>
          <p:nvPr/>
        </p:nvSpPr>
        <p:spPr>
          <a:xfrm>
            <a:off x="2819638" y="5540896"/>
            <a:ext cx="17308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/>
          </a:p>
        </p:txBody>
      </p:sp>
      <p:sp>
        <p:nvSpPr>
          <p:cNvPr id="1273" name="Google Shape;1273;p65"/>
          <p:cNvSpPr txBox="1"/>
          <p:nvPr/>
        </p:nvSpPr>
        <p:spPr>
          <a:xfrm>
            <a:off x="3985359" y="3546667"/>
            <a:ext cx="1173077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Silver</a:t>
            </a:r>
            <a:endParaRPr/>
          </a:p>
        </p:txBody>
      </p:sp>
      <p:sp>
        <p:nvSpPr>
          <p:cNvPr id="1274" name="Google Shape;1274;p65"/>
          <p:cNvSpPr txBox="1"/>
          <p:nvPr/>
        </p:nvSpPr>
        <p:spPr>
          <a:xfrm>
            <a:off x="2911917" y="4042137"/>
            <a:ext cx="3320063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$12.390</a:t>
            </a:r>
            <a:endParaRPr/>
          </a:p>
        </p:txBody>
      </p:sp>
      <p:sp>
        <p:nvSpPr>
          <p:cNvPr id="1275" name="Google Shape;1275;p65"/>
          <p:cNvSpPr txBox="1"/>
          <p:nvPr/>
        </p:nvSpPr>
        <p:spPr>
          <a:xfrm>
            <a:off x="3461693" y="4862444"/>
            <a:ext cx="561833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услуг</a:t>
            </a:r>
            <a:endParaRPr/>
          </a:p>
        </p:txBody>
      </p:sp>
      <p:sp>
        <p:nvSpPr>
          <p:cNvPr id="1276" name="Google Shape;1276;p65"/>
          <p:cNvSpPr txBox="1"/>
          <p:nvPr/>
        </p:nvSpPr>
        <p:spPr>
          <a:xfrm>
            <a:off x="5434760" y="4862444"/>
            <a:ext cx="17308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/>
          </a:p>
        </p:txBody>
      </p:sp>
      <p:sp>
        <p:nvSpPr>
          <p:cNvPr id="1277" name="Google Shape;1277;p65"/>
          <p:cNvSpPr txBox="1"/>
          <p:nvPr/>
        </p:nvSpPr>
        <p:spPr>
          <a:xfrm>
            <a:off x="3427654" y="5088595"/>
            <a:ext cx="81901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агентов</a:t>
            </a:r>
            <a:endParaRPr/>
          </a:p>
        </p:txBody>
      </p:sp>
      <p:sp>
        <p:nvSpPr>
          <p:cNvPr id="1278" name="Google Shape;1278;p65"/>
          <p:cNvSpPr txBox="1"/>
          <p:nvPr/>
        </p:nvSpPr>
        <p:spPr>
          <a:xfrm>
            <a:off x="5434760" y="5088595"/>
            <a:ext cx="17308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/>
          </a:p>
        </p:txBody>
      </p:sp>
      <p:sp>
        <p:nvSpPr>
          <p:cNvPr id="1279" name="Google Shape;1279;p65"/>
          <p:cNvSpPr txBox="1"/>
          <p:nvPr/>
        </p:nvSpPr>
        <p:spPr>
          <a:xfrm>
            <a:off x="3418837" y="5314745"/>
            <a:ext cx="88563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модулей</a:t>
            </a:r>
            <a:endParaRPr/>
          </a:p>
        </p:txBody>
      </p:sp>
      <p:sp>
        <p:nvSpPr>
          <p:cNvPr id="1280" name="Google Shape;1280;p65"/>
          <p:cNvSpPr txBox="1"/>
          <p:nvPr/>
        </p:nvSpPr>
        <p:spPr>
          <a:xfrm>
            <a:off x="5434250" y="5314745"/>
            <a:ext cx="173593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8</a:t>
            </a:r>
            <a:endParaRPr/>
          </a:p>
        </p:txBody>
      </p:sp>
      <p:sp>
        <p:nvSpPr>
          <p:cNvPr id="1281" name="Google Shape;1281;p65"/>
          <p:cNvSpPr txBox="1"/>
          <p:nvPr/>
        </p:nvSpPr>
        <p:spPr>
          <a:xfrm>
            <a:off x="3437445" y="5540896"/>
            <a:ext cx="74504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недель</a:t>
            </a:r>
            <a:endParaRPr/>
          </a:p>
        </p:txBody>
      </p:sp>
      <p:sp>
        <p:nvSpPr>
          <p:cNvPr id="1282" name="Google Shape;1282;p65"/>
          <p:cNvSpPr txBox="1"/>
          <p:nvPr/>
        </p:nvSpPr>
        <p:spPr>
          <a:xfrm>
            <a:off x="5432821" y="5540896"/>
            <a:ext cx="175021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/>
          </a:p>
        </p:txBody>
      </p:sp>
      <p:sp>
        <p:nvSpPr>
          <p:cNvPr id="1283" name="Google Shape;1283;p65"/>
          <p:cNvSpPr txBox="1"/>
          <p:nvPr/>
        </p:nvSpPr>
        <p:spPr>
          <a:xfrm>
            <a:off x="6700792" y="3546667"/>
            <a:ext cx="972660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Gold</a:t>
            </a:r>
            <a:endParaRPr/>
          </a:p>
        </p:txBody>
      </p:sp>
      <p:sp>
        <p:nvSpPr>
          <p:cNvPr id="1284" name="Google Shape;1284;p65"/>
          <p:cNvSpPr txBox="1"/>
          <p:nvPr/>
        </p:nvSpPr>
        <p:spPr>
          <a:xfrm>
            <a:off x="5543260" y="4042137"/>
            <a:ext cx="3287725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$21.350</a:t>
            </a:r>
            <a:endParaRPr/>
          </a:p>
        </p:txBody>
      </p:sp>
      <p:sp>
        <p:nvSpPr>
          <p:cNvPr id="1285" name="Google Shape;1285;p65"/>
          <p:cNvSpPr txBox="1"/>
          <p:nvPr/>
        </p:nvSpPr>
        <p:spPr>
          <a:xfrm>
            <a:off x="6076816" y="4862444"/>
            <a:ext cx="561833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услуг</a:t>
            </a:r>
            <a:endParaRPr/>
          </a:p>
        </p:txBody>
      </p:sp>
      <p:sp>
        <p:nvSpPr>
          <p:cNvPr id="1286" name="Google Shape;1286;p65"/>
          <p:cNvSpPr txBox="1"/>
          <p:nvPr/>
        </p:nvSpPr>
        <p:spPr>
          <a:xfrm>
            <a:off x="8061721" y="4862444"/>
            <a:ext cx="16134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7</a:t>
            </a:r>
            <a:endParaRPr/>
          </a:p>
        </p:txBody>
      </p:sp>
      <p:sp>
        <p:nvSpPr>
          <p:cNvPr id="1287" name="Google Shape;1287;p65"/>
          <p:cNvSpPr txBox="1"/>
          <p:nvPr/>
        </p:nvSpPr>
        <p:spPr>
          <a:xfrm>
            <a:off x="6042777" y="5088595"/>
            <a:ext cx="81901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агентов</a:t>
            </a:r>
            <a:endParaRPr/>
          </a:p>
        </p:txBody>
      </p:sp>
      <p:sp>
        <p:nvSpPr>
          <p:cNvPr id="1288" name="Google Shape;1288;p65"/>
          <p:cNvSpPr txBox="1"/>
          <p:nvPr/>
        </p:nvSpPr>
        <p:spPr>
          <a:xfrm>
            <a:off x="6620288" y="5088595"/>
            <a:ext cx="1602779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7 · с продавцом</a:t>
            </a:r>
            <a:endParaRPr/>
          </a:p>
        </p:txBody>
      </p:sp>
      <p:sp>
        <p:nvSpPr>
          <p:cNvPr id="1289" name="Google Shape;1289;p65"/>
          <p:cNvSpPr txBox="1"/>
          <p:nvPr/>
        </p:nvSpPr>
        <p:spPr>
          <a:xfrm>
            <a:off x="6033960" y="5314745"/>
            <a:ext cx="88563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модулей</a:t>
            </a:r>
            <a:endParaRPr/>
          </a:p>
        </p:txBody>
      </p:sp>
      <p:sp>
        <p:nvSpPr>
          <p:cNvPr id="1290" name="Google Shape;1290;p65"/>
          <p:cNvSpPr txBox="1"/>
          <p:nvPr/>
        </p:nvSpPr>
        <p:spPr>
          <a:xfrm>
            <a:off x="7986202" y="5314745"/>
            <a:ext cx="23686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13</a:t>
            </a:r>
            <a:endParaRPr/>
          </a:p>
        </p:txBody>
      </p:sp>
      <p:sp>
        <p:nvSpPr>
          <p:cNvPr id="1291" name="Google Shape;1291;p65"/>
          <p:cNvSpPr txBox="1"/>
          <p:nvPr/>
        </p:nvSpPr>
        <p:spPr>
          <a:xfrm>
            <a:off x="6052568" y="5540896"/>
            <a:ext cx="74504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недель</a:t>
            </a:r>
            <a:endParaRPr/>
          </a:p>
        </p:txBody>
      </p:sp>
      <p:sp>
        <p:nvSpPr>
          <p:cNvPr id="1292" name="Google Shape;1292;p65"/>
          <p:cNvSpPr txBox="1"/>
          <p:nvPr/>
        </p:nvSpPr>
        <p:spPr>
          <a:xfrm>
            <a:off x="7974261" y="5540896"/>
            <a:ext cx="24880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/>
          </a:p>
        </p:txBody>
      </p:sp>
      <p:sp>
        <p:nvSpPr>
          <p:cNvPr id="1293" name="Google Shape;1293;p65"/>
          <p:cNvSpPr txBox="1"/>
          <p:nvPr/>
        </p:nvSpPr>
        <p:spPr>
          <a:xfrm>
            <a:off x="1631187" y="6181793"/>
            <a:ext cx="5881420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Это ценность каждого набора. Сколько стоит вход — через минуту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6.jpg" id="1299" name="Google Shape;12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66"/>
          <p:cNvSpPr txBox="1"/>
          <p:nvPr/>
        </p:nvSpPr>
        <p:spPr>
          <a:xfrm>
            <a:off x="2094433" y="2082096"/>
            <a:ext cx="4955133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Кому здесь делать нечего</a:t>
            </a:r>
            <a:endParaRPr/>
          </a:p>
        </p:txBody>
      </p:sp>
      <p:sp>
        <p:nvSpPr>
          <p:cNvPr id="1301" name="Google Shape;1301;p66"/>
          <p:cNvSpPr txBox="1"/>
          <p:nvPr/>
        </p:nvSpPr>
        <p:spPr>
          <a:xfrm>
            <a:off x="1012371" y="3785983"/>
            <a:ext cx="3211389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ВАМ СЮДА, ЕСЛИ</a:t>
            </a:r>
            <a:endParaRPr/>
          </a:p>
        </p:txBody>
      </p:sp>
      <p:sp>
        <p:nvSpPr>
          <p:cNvPr id="1302" name="Google Shape;1302;p66"/>
          <p:cNvSpPr txBox="1"/>
          <p:nvPr/>
        </p:nvSpPr>
        <p:spPr>
          <a:xfrm>
            <a:off x="1231786" y="4202872"/>
            <a:ext cx="241573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Есть три куска по полчаса в неделю</a:t>
            </a:r>
            <a:endParaRPr/>
          </a:p>
        </p:txBody>
      </p:sp>
      <p:sp>
        <p:nvSpPr>
          <p:cNvPr id="1303" name="Google Shape;1303;p66"/>
          <p:cNvSpPr txBox="1"/>
          <p:nvPr/>
        </p:nvSpPr>
        <p:spPr>
          <a:xfrm>
            <a:off x="1231786" y="5095840"/>
            <a:ext cx="301900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Готовы инвестировать $50/мес на нейронки</a:t>
            </a:r>
            <a:endParaRPr/>
          </a:p>
        </p:txBody>
      </p:sp>
      <p:sp>
        <p:nvSpPr>
          <p:cNvPr id="1304" name="Google Shape;1304;p66"/>
          <p:cNvSpPr txBox="1"/>
          <p:nvPr/>
        </p:nvSpPr>
        <p:spPr>
          <a:xfrm>
            <a:off x="1231786" y="5988809"/>
            <a:ext cx="2606382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Хотите деньги, а не диплом</a:t>
            </a:r>
            <a:endParaRPr/>
          </a:p>
        </p:txBody>
      </p:sp>
      <p:sp>
        <p:nvSpPr>
          <p:cNvPr id="1305" name="Google Shape;1305;p66"/>
          <p:cNvSpPr txBox="1"/>
          <p:nvPr/>
        </p:nvSpPr>
        <p:spPr>
          <a:xfrm>
            <a:off x="4962559" y="3785983"/>
            <a:ext cx="2917564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НЕ СЮДА, ЕСЛИ</a:t>
            </a:r>
            <a:endParaRPr/>
          </a:p>
        </p:txBody>
      </p:sp>
      <p:sp>
        <p:nvSpPr>
          <p:cNvPr id="1306" name="Google Shape;1306;p66"/>
          <p:cNvSpPr txBox="1"/>
          <p:nvPr/>
        </p:nvSpPr>
        <p:spPr>
          <a:xfrm>
            <a:off x="5181974" y="4202872"/>
            <a:ext cx="3668850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Ищете кнопку «бабло»</a:t>
            </a:r>
            <a:endParaRPr/>
          </a:p>
        </p:txBody>
      </p:sp>
      <p:sp>
        <p:nvSpPr>
          <p:cNvPr id="1307" name="Google Shape;1307;p66"/>
          <p:cNvSpPr txBox="1"/>
          <p:nvPr/>
        </p:nvSpPr>
        <p:spPr>
          <a:xfrm>
            <a:off x="5181974" y="4774984"/>
            <a:ext cx="303295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Не готовы написать ни одному бизнесу</a:t>
            </a:r>
            <a:endParaRPr/>
          </a:p>
        </p:txBody>
      </p:sp>
      <p:sp>
        <p:nvSpPr>
          <p:cNvPr id="1308" name="Google Shape;1308;p66"/>
          <p:cNvSpPr txBox="1"/>
          <p:nvPr/>
        </p:nvSpPr>
        <p:spPr>
          <a:xfrm>
            <a:off x="5181974" y="5667953"/>
            <a:ext cx="3153194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Нужна гарантия точной суммы к дате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7.jpg" id="1314" name="Google Shape;131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67"/>
          <p:cNvSpPr txBox="1"/>
          <p:nvPr/>
        </p:nvSpPr>
        <p:spPr>
          <a:xfrm>
            <a:off x="1037170" y="3046707"/>
            <a:ext cx="6923722" cy="201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 если бы это дало только первого клиента</a:t>
            </a:r>
            <a:endParaRPr/>
          </a:p>
        </p:txBody>
      </p:sp>
      <p:sp>
        <p:nvSpPr>
          <p:cNvPr id="1316" name="Google Shape;1316;p67"/>
          <p:cNvSpPr txBox="1"/>
          <p:nvPr/>
        </p:nvSpPr>
        <p:spPr>
          <a:xfrm>
            <a:off x="1037170" y="5220652"/>
            <a:ext cx="5582983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Первого чужого человека, который заплатил вам за работу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8.jpg" id="1322" name="Google Shape;132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68"/>
          <p:cNvSpPr txBox="1"/>
          <p:nvPr/>
        </p:nvSpPr>
        <p:spPr>
          <a:xfrm>
            <a:off x="1037170" y="2068523"/>
            <a:ext cx="5612701" cy="264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 если бы это просто сняло вопрос «а я потяну?»</a:t>
            </a:r>
            <a:endParaRPr/>
          </a:p>
        </p:txBody>
      </p:sp>
      <p:sp>
        <p:nvSpPr>
          <p:cNvPr id="1324" name="Google Shape;1324;p68"/>
          <p:cNvSpPr txBox="1"/>
          <p:nvPr/>
        </p:nvSpPr>
        <p:spPr>
          <a:xfrm>
            <a:off x="1037170" y="4874384"/>
            <a:ext cx="6037783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Ремесло делает агент, клиентов находит агент. Вам остаётся выбрать, включить и забрать</a:t>
            </a:r>
            <a:endParaRPr/>
          </a:p>
        </p:txBody>
      </p:sp>
      <p:sp>
        <p:nvSpPr>
          <p:cNvPr id="1325" name="Google Shape;1325;p68"/>
          <p:cNvSpPr txBox="1"/>
          <p:nvPr/>
        </p:nvSpPr>
        <p:spPr>
          <a:xfrm>
            <a:off x="1037170" y="6340180"/>
            <a:ext cx="5126697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Сколько бы это стоило именно для вас? Подумайте цифру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9.jpg" id="1331" name="Google Shape;133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69"/>
          <p:cNvSpPr txBox="1"/>
          <p:nvPr/>
        </p:nvSpPr>
        <p:spPr>
          <a:xfrm>
            <a:off x="1018419" y="3038849"/>
            <a:ext cx="7107059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Как думаете, сколько стоит вход?</a:t>
            </a:r>
            <a:endParaRPr/>
          </a:p>
        </p:txBody>
      </p:sp>
      <p:sp>
        <p:nvSpPr>
          <p:cNvPr id="1333" name="Google Shape;1333;p69"/>
          <p:cNvSpPr txBox="1"/>
          <p:nvPr/>
        </p:nvSpPr>
        <p:spPr>
          <a:xfrm>
            <a:off x="688057" y="5248309"/>
            <a:ext cx="3283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/>
          </a:p>
        </p:txBody>
      </p:sp>
      <p:sp>
        <p:nvSpPr>
          <p:cNvPr id="1334" name="Google Shape;1334;p69"/>
          <p:cNvSpPr txBox="1"/>
          <p:nvPr/>
        </p:nvSpPr>
        <p:spPr>
          <a:xfrm>
            <a:off x="6342384" y="5248309"/>
            <a:ext cx="207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$21.350</a:t>
            </a:r>
            <a:endParaRPr/>
          </a:p>
        </p:txBody>
      </p:sp>
      <p:sp>
        <p:nvSpPr>
          <p:cNvPr id="1335" name="Google Shape;1335;p69"/>
          <p:cNvSpPr txBox="1"/>
          <p:nvPr/>
        </p:nvSpPr>
        <p:spPr>
          <a:xfrm>
            <a:off x="5344602" y="5670198"/>
            <a:ext cx="306787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ЦЕННОСТЬ НА СТОЛЕ</a:t>
            </a:r>
            <a:endParaRPr/>
          </a:p>
        </p:txBody>
      </p:sp>
      <p:sp>
        <p:nvSpPr>
          <p:cNvPr id="1336" name="Google Shape;1336;p69"/>
          <p:cNvSpPr txBox="1"/>
          <p:nvPr/>
        </p:nvSpPr>
        <p:spPr>
          <a:xfrm>
            <a:off x="2839605" y="5721123"/>
            <a:ext cx="3464686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Напишите цифру в чат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0.jpg" id="1342" name="Google Shape;134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70"/>
          <p:cNvSpPr txBox="1"/>
          <p:nvPr/>
        </p:nvSpPr>
        <p:spPr>
          <a:xfrm>
            <a:off x="0" y="2509191"/>
            <a:ext cx="9143999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У меня было два пути</a:t>
            </a:r>
            <a:endParaRPr/>
          </a:p>
        </p:txBody>
      </p:sp>
      <p:sp>
        <p:nvSpPr>
          <p:cNvPr id="1344" name="Google Shape;1344;p70"/>
          <p:cNvSpPr txBox="1"/>
          <p:nvPr/>
        </p:nvSpPr>
        <p:spPr>
          <a:xfrm>
            <a:off x="1012371" y="3679847"/>
            <a:ext cx="1384181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ПЕРВЫЙ</a:t>
            </a:r>
            <a:endParaRPr/>
          </a:p>
        </p:txBody>
      </p:sp>
      <p:sp>
        <p:nvSpPr>
          <p:cNvPr id="1345" name="Google Shape;1345;p70"/>
          <p:cNvSpPr txBox="1"/>
          <p:nvPr/>
        </p:nvSpPr>
        <p:spPr>
          <a:xfrm>
            <a:off x="1231786" y="4096736"/>
            <a:ext cx="3075927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Срезать всё живое</a:t>
            </a:r>
            <a:endParaRPr/>
          </a:p>
        </p:txBody>
      </p:sp>
      <p:sp>
        <p:nvSpPr>
          <p:cNvPr id="1346" name="Google Shape;1346;p70"/>
          <p:cNvSpPr txBox="1"/>
          <p:nvPr/>
        </p:nvSpPr>
        <p:spPr>
          <a:xfrm>
            <a:off x="1231786" y="4668848"/>
            <a:ext cx="2429675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Продавать запись подешевле</a:t>
            </a:r>
            <a:endParaRPr/>
          </a:p>
        </p:txBody>
      </p:sp>
      <p:sp>
        <p:nvSpPr>
          <p:cNvPr id="1347" name="Google Shape;1347;p70"/>
          <p:cNvSpPr txBox="1"/>
          <p:nvPr/>
        </p:nvSpPr>
        <p:spPr>
          <a:xfrm>
            <a:off x="4962559" y="3679847"/>
            <a:ext cx="1331856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ВТОРОЙ</a:t>
            </a:r>
            <a:endParaRPr/>
          </a:p>
        </p:txBody>
      </p:sp>
      <p:sp>
        <p:nvSpPr>
          <p:cNvPr id="1348" name="Google Shape;1348;p70"/>
          <p:cNvSpPr txBox="1"/>
          <p:nvPr/>
        </p:nvSpPr>
        <p:spPr>
          <a:xfrm>
            <a:off x="5181974" y="4096736"/>
            <a:ext cx="3899662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Отдать полную систему</a:t>
            </a:r>
            <a:endParaRPr/>
          </a:p>
        </p:txBody>
      </p:sp>
      <p:sp>
        <p:nvSpPr>
          <p:cNvPr id="1349" name="Google Shape;1349;p70"/>
          <p:cNvSpPr txBox="1"/>
          <p:nvPr/>
        </p:nvSpPr>
        <p:spPr>
          <a:xfrm>
            <a:off x="5181974" y="4668848"/>
            <a:ext cx="220759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Агентов, связки, разборы</a:t>
            </a:r>
            <a:endParaRPr/>
          </a:p>
        </p:txBody>
      </p:sp>
      <p:sp>
        <p:nvSpPr>
          <p:cNvPr id="1350" name="Google Shape;1350;p70"/>
          <p:cNvSpPr txBox="1"/>
          <p:nvPr/>
        </p:nvSpPr>
        <p:spPr>
          <a:xfrm>
            <a:off x="5181974" y="5561817"/>
            <a:ext cx="3300983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И найти честный формат входа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1.jpg" id="1356" name="Google Shape;135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71"/>
          <p:cNvSpPr txBox="1"/>
          <p:nvPr/>
        </p:nvSpPr>
        <p:spPr>
          <a:xfrm>
            <a:off x="1037170" y="2329678"/>
            <a:ext cx="271062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ВЫ СПРОСИТЕ</a:t>
            </a:r>
            <a:endParaRPr/>
          </a:p>
        </p:txBody>
      </p:sp>
      <p:sp>
        <p:nvSpPr>
          <p:cNvPr id="1358" name="Google Shape;1358;p71"/>
          <p:cNvSpPr txBox="1"/>
          <p:nvPr/>
        </p:nvSpPr>
        <p:spPr>
          <a:xfrm>
            <a:off x="1037170" y="2768509"/>
            <a:ext cx="8043176" cy="264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«Если система работает — почему вы не заработаете всё сами?»</a:t>
            </a:r>
            <a:endParaRPr/>
          </a:p>
        </p:txBody>
      </p:sp>
      <p:sp>
        <p:nvSpPr>
          <p:cNvPr id="1359" name="Google Shape;1359;p71"/>
          <p:cNvSpPr txBox="1"/>
          <p:nvPr/>
        </p:nvSpPr>
        <p:spPr>
          <a:xfrm>
            <a:off x="1037170" y="5574370"/>
            <a:ext cx="6110477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Пользуюсь. Я и всё сообщество каждый день собираем новые связки и улучшаем старые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2.jpg" id="1365" name="Google Shape;136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72"/>
          <p:cNvSpPr txBox="1"/>
          <p:nvPr/>
        </p:nvSpPr>
        <p:spPr>
          <a:xfrm>
            <a:off x="1037170" y="2645636"/>
            <a:ext cx="194920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И ЧЕСТНО</a:t>
            </a:r>
            <a:endParaRPr/>
          </a:p>
        </p:txBody>
      </p:sp>
      <p:sp>
        <p:nvSpPr>
          <p:cNvPr id="1367" name="Google Shape;1367;p72"/>
          <p:cNvSpPr txBox="1"/>
          <p:nvPr/>
        </p:nvSpPr>
        <p:spPr>
          <a:xfrm>
            <a:off x="1037170" y="3084467"/>
            <a:ext cx="5801639" cy="201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Физически я все деньги не заработаю</a:t>
            </a:r>
            <a:endParaRPr/>
          </a:p>
        </p:txBody>
      </p:sp>
      <p:sp>
        <p:nvSpPr>
          <p:cNvPr id="1368" name="Google Shape;1368;p72"/>
          <p:cNvSpPr txBox="1"/>
          <p:nvPr/>
        </p:nvSpPr>
        <p:spPr>
          <a:xfrm>
            <a:off x="1037170" y="5258412"/>
            <a:ext cx="6146825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Мне интереснее, чтобы вы заработали на моём инструменте, остались с ним — и мы строили эту систему вместе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0.jpg" id="1374" name="Google Shape;137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73"/>
          <p:cNvSpPr txBox="1"/>
          <p:nvPr/>
        </p:nvSpPr>
        <p:spPr>
          <a:xfrm>
            <a:off x="2085752" y="2707583"/>
            <a:ext cx="4972392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Bronze — если делаете сами</a:t>
            </a:r>
            <a:endParaRPr/>
          </a:p>
        </p:txBody>
      </p:sp>
      <p:sp>
        <p:nvSpPr>
          <p:cNvPr id="1376" name="Google Shape;1376;p73"/>
          <p:cNvSpPr txBox="1"/>
          <p:nvPr/>
        </p:nvSpPr>
        <p:spPr>
          <a:xfrm>
            <a:off x="1602377" y="4100614"/>
            <a:ext cx="5939142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Разобраться руками, собрать первый сайт и найти первого клиента среди знакомых</a:t>
            </a:r>
            <a:endParaRPr/>
          </a:p>
        </p:txBody>
      </p:sp>
      <p:sp>
        <p:nvSpPr>
          <p:cNvPr id="1377" name="Google Shape;1377;p73"/>
          <p:cNvSpPr txBox="1"/>
          <p:nvPr/>
        </p:nvSpPr>
        <p:spPr>
          <a:xfrm>
            <a:off x="3525258" y="5695711"/>
            <a:ext cx="780154" cy="169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Фундамент</a:t>
            </a:r>
            <a:endParaRPr/>
          </a:p>
        </p:txBody>
      </p:sp>
      <p:sp>
        <p:nvSpPr>
          <p:cNvPr id="1378" name="Google Shape;1378;p73"/>
          <p:cNvSpPr txBox="1"/>
          <p:nvPr/>
        </p:nvSpPr>
        <p:spPr>
          <a:xfrm>
            <a:off x="4396573" y="5695711"/>
            <a:ext cx="1495076" cy="169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Маркетинг и сайты</a:t>
            </a:r>
            <a:endParaRPr/>
          </a:p>
        </p:txBody>
      </p:sp>
      <p:sp>
        <p:nvSpPr>
          <p:cNvPr id="1379" name="Google Shape;1379;p73"/>
          <p:cNvSpPr txBox="1"/>
          <p:nvPr/>
        </p:nvSpPr>
        <p:spPr>
          <a:xfrm>
            <a:off x="4316806" y="6313135"/>
            <a:ext cx="656629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380" name="Google Shape;1380;p73"/>
          <p:cNvSpPr txBox="1"/>
          <p:nvPr/>
        </p:nvSpPr>
        <p:spPr>
          <a:xfrm>
            <a:off x="3131191" y="6747169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2.jpg" id="1386" name="Google Shape;138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74"/>
          <p:cNvSpPr txBox="1"/>
          <p:nvPr/>
        </p:nvSpPr>
        <p:spPr>
          <a:xfrm>
            <a:off x="1041044" y="2441019"/>
            <a:ext cx="7061911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Silver — если хотите, чтобы контент работал за вас</a:t>
            </a:r>
            <a:endParaRPr/>
          </a:p>
        </p:txBody>
      </p:sp>
      <p:sp>
        <p:nvSpPr>
          <p:cNvPr id="1388" name="Google Shape;1388;p74"/>
          <p:cNvSpPr txBox="1"/>
          <p:nvPr/>
        </p:nvSpPr>
        <p:spPr>
          <a:xfrm>
            <a:off x="1685702" y="4367280"/>
            <a:ext cx="5772492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Четыре услуги в прайсе и контент-завод с вашим двойником — услуга с оплатой каждый месяц</a:t>
            </a:r>
            <a:endParaRPr/>
          </a:p>
        </p:txBody>
      </p:sp>
      <p:sp>
        <p:nvSpPr>
          <p:cNvPr id="1389" name="Google Shape;1389;p74"/>
          <p:cNvSpPr txBox="1"/>
          <p:nvPr/>
        </p:nvSpPr>
        <p:spPr>
          <a:xfrm>
            <a:off x="2932225" y="5962377"/>
            <a:ext cx="780154" cy="169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Фундамент</a:t>
            </a:r>
            <a:endParaRPr/>
          </a:p>
        </p:txBody>
      </p:sp>
      <p:sp>
        <p:nvSpPr>
          <p:cNvPr id="1390" name="Google Shape;1390;p74"/>
          <p:cNvSpPr txBox="1"/>
          <p:nvPr/>
        </p:nvSpPr>
        <p:spPr>
          <a:xfrm>
            <a:off x="3803540" y="5962377"/>
            <a:ext cx="1495076" cy="169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Маркетинг и сайты</a:t>
            </a:r>
            <a:endParaRPr/>
          </a:p>
        </p:txBody>
      </p:sp>
      <p:sp>
        <p:nvSpPr>
          <p:cNvPr id="1391" name="Google Shape;1391;p74"/>
          <p:cNvSpPr txBox="1"/>
          <p:nvPr/>
        </p:nvSpPr>
        <p:spPr>
          <a:xfrm>
            <a:off x="5350172" y="5962377"/>
            <a:ext cx="1079392" cy="169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Контент-завод</a:t>
            </a:r>
            <a:endParaRPr/>
          </a:p>
        </p:txBody>
      </p:sp>
      <p:sp>
        <p:nvSpPr>
          <p:cNvPr id="1392" name="Google Shape;1392;p74"/>
          <p:cNvSpPr txBox="1"/>
          <p:nvPr/>
        </p:nvSpPr>
        <p:spPr>
          <a:xfrm>
            <a:off x="2874994" y="6579801"/>
            <a:ext cx="656629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393" name="Google Shape;1393;p74"/>
          <p:cNvSpPr txBox="1"/>
          <p:nvPr/>
        </p:nvSpPr>
        <p:spPr>
          <a:xfrm>
            <a:off x="3688779" y="6579801"/>
            <a:ext cx="740598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AI-дизайн</a:t>
            </a:r>
            <a:endParaRPr/>
          </a:p>
        </p:txBody>
      </p:sp>
      <p:sp>
        <p:nvSpPr>
          <p:cNvPr id="1394" name="Google Shape;1394;p74"/>
          <p:cNvSpPr txBox="1"/>
          <p:nvPr/>
        </p:nvSpPr>
        <p:spPr>
          <a:xfrm>
            <a:off x="4586167" y="6579801"/>
            <a:ext cx="659404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AI-видео</a:t>
            </a:r>
            <a:endParaRPr/>
          </a:p>
        </p:txBody>
      </p:sp>
      <p:sp>
        <p:nvSpPr>
          <p:cNvPr id="1395" name="Google Shape;1395;p74"/>
          <p:cNvSpPr txBox="1"/>
          <p:nvPr/>
        </p:nvSpPr>
        <p:spPr>
          <a:xfrm>
            <a:off x="5351348" y="6579801"/>
            <a:ext cx="1126026" cy="1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Контент-завод</a:t>
            </a:r>
            <a:endParaRPr/>
          </a:p>
        </p:txBody>
      </p:sp>
      <p:sp>
        <p:nvSpPr>
          <p:cNvPr id="1396" name="Google Shape;1396;p74"/>
          <p:cNvSpPr txBox="1"/>
          <p:nvPr/>
        </p:nvSpPr>
        <p:spPr>
          <a:xfrm>
            <a:off x="3131191" y="7013835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14.jpg" id="1402" name="Google Shape;140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75"/>
          <p:cNvSpPr txBox="1"/>
          <p:nvPr/>
        </p:nvSpPr>
        <p:spPr>
          <a:xfrm>
            <a:off x="534581" y="2707583"/>
            <a:ext cx="80748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Gold — если продавать должен агент</a:t>
            </a:r>
            <a:endParaRPr/>
          </a:p>
        </p:txBody>
      </p:sp>
      <p:sp>
        <p:nvSpPr>
          <p:cNvPr id="1404" name="Google Shape;1404;p75"/>
          <p:cNvSpPr txBox="1"/>
          <p:nvPr/>
        </p:nvSpPr>
        <p:spPr>
          <a:xfrm>
            <a:off x="1791766" y="4100614"/>
            <a:ext cx="55605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Реклама приводит клиентов, агент закрывает сделку, а ваш проект мы разбираем на страт-сессиях</a:t>
            </a:r>
            <a:endParaRPr/>
          </a:p>
        </p:txBody>
      </p:sp>
      <p:sp>
        <p:nvSpPr>
          <p:cNvPr id="1405" name="Google Shape;1405;p75"/>
          <p:cNvSpPr txBox="1"/>
          <p:nvPr/>
        </p:nvSpPr>
        <p:spPr>
          <a:xfrm>
            <a:off x="1406422" y="5695711"/>
            <a:ext cx="780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Фундамент</a:t>
            </a:r>
            <a:endParaRPr/>
          </a:p>
        </p:txBody>
      </p:sp>
      <p:sp>
        <p:nvSpPr>
          <p:cNvPr id="1406" name="Google Shape;1406;p75"/>
          <p:cNvSpPr txBox="1"/>
          <p:nvPr/>
        </p:nvSpPr>
        <p:spPr>
          <a:xfrm>
            <a:off x="2277737" y="5695711"/>
            <a:ext cx="14952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Маркетинг и сайты</a:t>
            </a:r>
            <a:endParaRPr/>
          </a:p>
        </p:txBody>
      </p:sp>
      <p:sp>
        <p:nvSpPr>
          <p:cNvPr id="1407" name="Google Shape;1407;p75"/>
          <p:cNvSpPr txBox="1"/>
          <p:nvPr/>
        </p:nvSpPr>
        <p:spPr>
          <a:xfrm>
            <a:off x="3824369" y="5695711"/>
            <a:ext cx="10794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Контент-завод</a:t>
            </a:r>
            <a:endParaRPr/>
          </a:p>
        </p:txBody>
      </p:sp>
      <p:sp>
        <p:nvSpPr>
          <p:cNvPr id="1408" name="Google Shape;1408;p75"/>
          <p:cNvSpPr txBox="1"/>
          <p:nvPr/>
        </p:nvSpPr>
        <p:spPr>
          <a:xfrm>
            <a:off x="4930757" y="5695711"/>
            <a:ext cx="16806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Привлечение клиентов</a:t>
            </a:r>
            <a:endParaRPr/>
          </a:p>
        </p:txBody>
      </p:sp>
      <p:sp>
        <p:nvSpPr>
          <p:cNvPr id="1409" name="Google Shape;1409;p75"/>
          <p:cNvSpPr txBox="1"/>
          <p:nvPr/>
        </p:nvSpPr>
        <p:spPr>
          <a:xfrm>
            <a:off x="6595630" y="5695711"/>
            <a:ext cx="14025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Продажи и связки</a:t>
            </a:r>
            <a:endParaRPr/>
          </a:p>
        </p:txBody>
      </p:sp>
      <p:sp>
        <p:nvSpPr>
          <p:cNvPr id="1410" name="Google Shape;1410;p75"/>
          <p:cNvSpPr txBox="1"/>
          <p:nvPr/>
        </p:nvSpPr>
        <p:spPr>
          <a:xfrm>
            <a:off x="1025987" y="6313135"/>
            <a:ext cx="6567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AI-сайты</a:t>
            </a:r>
            <a:endParaRPr/>
          </a:p>
        </p:txBody>
      </p:sp>
      <p:sp>
        <p:nvSpPr>
          <p:cNvPr id="1411" name="Google Shape;1411;p75"/>
          <p:cNvSpPr txBox="1"/>
          <p:nvPr/>
        </p:nvSpPr>
        <p:spPr>
          <a:xfrm>
            <a:off x="1839772" y="6313135"/>
            <a:ext cx="7407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AI-дизайн</a:t>
            </a:r>
            <a:endParaRPr/>
          </a:p>
        </p:txBody>
      </p:sp>
      <p:sp>
        <p:nvSpPr>
          <p:cNvPr id="1412" name="Google Shape;1412;p75"/>
          <p:cNvSpPr txBox="1"/>
          <p:nvPr/>
        </p:nvSpPr>
        <p:spPr>
          <a:xfrm>
            <a:off x="2737160" y="6313135"/>
            <a:ext cx="6594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AI-видео</a:t>
            </a:r>
            <a:endParaRPr/>
          </a:p>
        </p:txBody>
      </p:sp>
      <p:sp>
        <p:nvSpPr>
          <p:cNvPr id="1413" name="Google Shape;1413;p75"/>
          <p:cNvSpPr txBox="1"/>
          <p:nvPr/>
        </p:nvSpPr>
        <p:spPr>
          <a:xfrm>
            <a:off x="3502341" y="6313135"/>
            <a:ext cx="1125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Контент-завод</a:t>
            </a:r>
            <a:endParaRPr/>
          </a:p>
        </p:txBody>
      </p:sp>
      <p:sp>
        <p:nvSpPr>
          <p:cNvPr id="1414" name="Google Shape;1414;p75"/>
          <p:cNvSpPr txBox="1"/>
          <p:nvPr/>
        </p:nvSpPr>
        <p:spPr>
          <a:xfrm>
            <a:off x="4727990" y="6313135"/>
            <a:ext cx="705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AI-таргет</a:t>
            </a:r>
            <a:endParaRPr/>
          </a:p>
        </p:txBody>
      </p:sp>
      <p:sp>
        <p:nvSpPr>
          <p:cNvPr id="1415" name="Google Shape;1415;p75"/>
          <p:cNvSpPr txBox="1"/>
          <p:nvPr/>
        </p:nvSpPr>
        <p:spPr>
          <a:xfrm>
            <a:off x="5616250" y="6313135"/>
            <a:ext cx="5010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AI-SEO</a:t>
            </a:r>
            <a:endParaRPr/>
          </a:p>
        </p:txBody>
      </p:sp>
      <p:sp>
        <p:nvSpPr>
          <p:cNvPr id="1416" name="Google Shape;1416;p75"/>
          <p:cNvSpPr txBox="1"/>
          <p:nvPr/>
        </p:nvSpPr>
        <p:spPr>
          <a:xfrm>
            <a:off x="6268818" y="6313135"/>
            <a:ext cx="93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AI-продавец</a:t>
            </a:r>
            <a:endParaRPr/>
          </a:p>
        </p:txBody>
      </p:sp>
      <p:sp>
        <p:nvSpPr>
          <p:cNvPr id="1417" name="Google Shape;1417;p75"/>
          <p:cNvSpPr txBox="1"/>
          <p:nvPr/>
        </p:nvSpPr>
        <p:spPr>
          <a:xfrm>
            <a:off x="7289088" y="6313135"/>
            <a:ext cx="1023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страт-сессии</a:t>
            </a:r>
            <a:endParaRPr/>
          </a:p>
        </p:txBody>
      </p:sp>
      <p:sp>
        <p:nvSpPr>
          <p:cNvPr id="1418" name="Google Shape;1418;p75"/>
          <p:cNvSpPr txBox="1"/>
          <p:nvPr/>
        </p:nvSpPr>
        <p:spPr>
          <a:xfrm>
            <a:off x="3131191" y="6747169"/>
            <a:ext cx="28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07.jpg" id="1424" name="Google Shape;142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76"/>
          <p:cNvSpPr txBox="1"/>
          <p:nvPr/>
        </p:nvSpPr>
        <p:spPr>
          <a:xfrm>
            <a:off x="1892072" y="522166"/>
            <a:ext cx="5359855" cy="40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входит целиком</a:t>
            </a:r>
            <a:endParaRPr/>
          </a:p>
        </p:txBody>
      </p:sp>
      <p:sp>
        <p:nvSpPr>
          <p:cNvPr id="1426" name="Google Shape;1426;p76"/>
          <p:cNvSpPr txBox="1"/>
          <p:nvPr/>
        </p:nvSpPr>
        <p:spPr>
          <a:xfrm>
            <a:off x="1854789" y="1094426"/>
            <a:ext cx="1692315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СИСТЕМА И АГЕНТЫ</a:t>
            </a:r>
            <a:endParaRPr/>
          </a:p>
        </p:txBody>
      </p:sp>
      <p:sp>
        <p:nvSpPr>
          <p:cNvPr id="1427" name="Google Shape;1427;p76"/>
          <p:cNvSpPr txBox="1"/>
          <p:nvPr/>
        </p:nvSpPr>
        <p:spPr>
          <a:xfrm>
            <a:off x="1561036" y="1291873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28" name="Google Shape;1428;p76"/>
          <p:cNvSpPr txBox="1"/>
          <p:nvPr/>
        </p:nvSpPr>
        <p:spPr>
          <a:xfrm>
            <a:off x="1854789" y="1256301"/>
            <a:ext cx="3678128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Полная система: 13 модулей · 5 блоков</a:t>
            </a:r>
            <a:endParaRPr/>
          </a:p>
        </p:txBody>
      </p:sp>
      <p:sp>
        <p:nvSpPr>
          <p:cNvPr id="1429" name="Google Shape;1429;p76"/>
          <p:cNvSpPr txBox="1"/>
          <p:nvPr/>
        </p:nvSpPr>
        <p:spPr>
          <a:xfrm>
            <a:off x="6881714" y="1272038"/>
            <a:ext cx="70124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430" name="Google Shape;1430;p76"/>
          <p:cNvSpPr txBox="1"/>
          <p:nvPr/>
        </p:nvSpPr>
        <p:spPr>
          <a:xfrm>
            <a:off x="1561036" y="1559889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31" name="Google Shape;1431;p76"/>
          <p:cNvSpPr txBox="1"/>
          <p:nvPr/>
        </p:nvSpPr>
        <p:spPr>
          <a:xfrm>
            <a:off x="1854789" y="1524317"/>
            <a:ext cx="2858277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Агенты под 7 трендовых услуг</a:t>
            </a:r>
            <a:endParaRPr/>
          </a:p>
        </p:txBody>
      </p:sp>
      <p:sp>
        <p:nvSpPr>
          <p:cNvPr id="1432" name="Google Shape;1432;p76"/>
          <p:cNvSpPr txBox="1"/>
          <p:nvPr/>
        </p:nvSpPr>
        <p:spPr>
          <a:xfrm>
            <a:off x="6881714" y="1540054"/>
            <a:ext cx="70124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$5.200</a:t>
            </a:r>
            <a:endParaRPr/>
          </a:p>
        </p:txBody>
      </p:sp>
      <p:sp>
        <p:nvSpPr>
          <p:cNvPr id="1433" name="Google Shape;1433;p76"/>
          <p:cNvSpPr txBox="1"/>
          <p:nvPr/>
        </p:nvSpPr>
        <p:spPr>
          <a:xfrm>
            <a:off x="1972241" y="1767335"/>
            <a:ext cx="900219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🌐 AI-сайты</a:t>
            </a:r>
            <a:endParaRPr/>
          </a:p>
        </p:txBody>
      </p:sp>
      <p:sp>
        <p:nvSpPr>
          <p:cNvPr id="1434" name="Google Shape;1434;p76"/>
          <p:cNvSpPr txBox="1"/>
          <p:nvPr/>
        </p:nvSpPr>
        <p:spPr>
          <a:xfrm>
            <a:off x="7187361" y="1783072"/>
            <a:ext cx="395601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435" name="Google Shape;1435;p76"/>
          <p:cNvSpPr txBox="1"/>
          <p:nvPr/>
        </p:nvSpPr>
        <p:spPr>
          <a:xfrm>
            <a:off x="1972241" y="1958881"/>
            <a:ext cx="989283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🎨 AI-дизайн</a:t>
            </a:r>
            <a:endParaRPr/>
          </a:p>
        </p:txBody>
      </p:sp>
      <p:sp>
        <p:nvSpPr>
          <p:cNvPr id="1436" name="Google Shape;1436;p76"/>
          <p:cNvSpPr txBox="1"/>
          <p:nvPr/>
        </p:nvSpPr>
        <p:spPr>
          <a:xfrm>
            <a:off x="7187361" y="1974618"/>
            <a:ext cx="395601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437" name="Google Shape;1437;p76"/>
          <p:cNvSpPr txBox="1"/>
          <p:nvPr/>
        </p:nvSpPr>
        <p:spPr>
          <a:xfrm>
            <a:off x="1972241" y="2150427"/>
            <a:ext cx="1897195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🎬 Продающие AI-видео</a:t>
            </a:r>
            <a:endParaRPr/>
          </a:p>
        </p:txBody>
      </p:sp>
      <p:sp>
        <p:nvSpPr>
          <p:cNvPr id="1438" name="Google Shape;1438;p76"/>
          <p:cNvSpPr txBox="1"/>
          <p:nvPr/>
        </p:nvSpPr>
        <p:spPr>
          <a:xfrm>
            <a:off x="7187361" y="2166163"/>
            <a:ext cx="395601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439" name="Google Shape;1439;p76"/>
          <p:cNvSpPr txBox="1"/>
          <p:nvPr/>
        </p:nvSpPr>
        <p:spPr>
          <a:xfrm>
            <a:off x="1972241" y="2341972"/>
            <a:ext cx="2536133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✍️ Контент-завод с AI-аватаром</a:t>
            </a:r>
            <a:endParaRPr/>
          </a:p>
        </p:txBody>
      </p:sp>
      <p:sp>
        <p:nvSpPr>
          <p:cNvPr id="1440" name="Google Shape;1440;p76"/>
          <p:cNvSpPr txBox="1"/>
          <p:nvPr/>
        </p:nvSpPr>
        <p:spPr>
          <a:xfrm>
            <a:off x="7187361" y="2357709"/>
            <a:ext cx="395601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$700</a:t>
            </a:r>
            <a:endParaRPr/>
          </a:p>
        </p:txBody>
      </p:sp>
      <p:sp>
        <p:nvSpPr>
          <p:cNvPr id="1441" name="Google Shape;1441;p76"/>
          <p:cNvSpPr txBox="1"/>
          <p:nvPr/>
        </p:nvSpPr>
        <p:spPr>
          <a:xfrm>
            <a:off x="1972241" y="2533518"/>
            <a:ext cx="952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🎯 AI-таргет</a:t>
            </a:r>
            <a:endParaRPr/>
          </a:p>
        </p:txBody>
      </p:sp>
      <p:sp>
        <p:nvSpPr>
          <p:cNvPr id="1442" name="Google Shape;1442;p76"/>
          <p:cNvSpPr txBox="1"/>
          <p:nvPr/>
        </p:nvSpPr>
        <p:spPr>
          <a:xfrm>
            <a:off x="6989504" y="2549254"/>
            <a:ext cx="593458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443" name="Google Shape;1443;p76"/>
          <p:cNvSpPr txBox="1"/>
          <p:nvPr/>
        </p:nvSpPr>
        <p:spPr>
          <a:xfrm>
            <a:off x="1972241" y="2725063"/>
            <a:ext cx="735246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🧭 AI-SEO</a:t>
            </a:r>
            <a:endParaRPr/>
          </a:p>
        </p:txBody>
      </p:sp>
      <p:sp>
        <p:nvSpPr>
          <p:cNvPr id="1444" name="Google Shape;1444;p76"/>
          <p:cNvSpPr txBox="1"/>
          <p:nvPr/>
        </p:nvSpPr>
        <p:spPr>
          <a:xfrm>
            <a:off x="6989504" y="2740800"/>
            <a:ext cx="593458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445" name="Google Shape;1445;p76"/>
          <p:cNvSpPr txBox="1"/>
          <p:nvPr/>
        </p:nvSpPr>
        <p:spPr>
          <a:xfrm>
            <a:off x="1972241" y="2916609"/>
            <a:ext cx="11983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💬 AI-продавец</a:t>
            </a:r>
            <a:endParaRPr/>
          </a:p>
        </p:txBody>
      </p:sp>
      <p:sp>
        <p:nvSpPr>
          <p:cNvPr id="1446" name="Google Shape;1446;p76"/>
          <p:cNvSpPr txBox="1"/>
          <p:nvPr/>
        </p:nvSpPr>
        <p:spPr>
          <a:xfrm>
            <a:off x="6989504" y="2932346"/>
            <a:ext cx="593458" cy="16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$1.000</a:t>
            </a:r>
            <a:endParaRPr/>
          </a:p>
        </p:txBody>
      </p:sp>
      <p:sp>
        <p:nvSpPr>
          <p:cNvPr id="1447" name="Google Shape;1447;p76"/>
          <p:cNvSpPr txBox="1"/>
          <p:nvPr/>
        </p:nvSpPr>
        <p:spPr>
          <a:xfrm>
            <a:off x="1561036" y="3168725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48" name="Google Shape;1448;p76"/>
          <p:cNvSpPr txBox="1"/>
          <p:nvPr/>
        </p:nvSpPr>
        <p:spPr>
          <a:xfrm>
            <a:off x="1854789" y="3133153"/>
            <a:ext cx="3204944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46 готовых задач под ваши услуги</a:t>
            </a:r>
            <a:endParaRPr/>
          </a:p>
        </p:txBody>
      </p:sp>
      <p:sp>
        <p:nvSpPr>
          <p:cNvPr id="1449" name="Google Shape;1449;p76"/>
          <p:cNvSpPr txBox="1"/>
          <p:nvPr/>
        </p:nvSpPr>
        <p:spPr>
          <a:xfrm>
            <a:off x="6881714" y="3148890"/>
            <a:ext cx="70124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$4.800</a:t>
            </a:r>
            <a:endParaRPr/>
          </a:p>
        </p:txBody>
      </p:sp>
      <p:sp>
        <p:nvSpPr>
          <p:cNvPr id="1450" name="Google Shape;1450;p76"/>
          <p:cNvSpPr txBox="1"/>
          <p:nvPr/>
        </p:nvSpPr>
        <p:spPr>
          <a:xfrm>
            <a:off x="1854789" y="3437479"/>
            <a:ext cx="1280885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ГОТОВЫЕ БАЗЫ</a:t>
            </a:r>
            <a:endParaRPr/>
          </a:p>
        </p:txBody>
      </p:sp>
      <p:sp>
        <p:nvSpPr>
          <p:cNvPr id="1451" name="Google Shape;1451;p76"/>
          <p:cNvSpPr txBox="1"/>
          <p:nvPr/>
        </p:nvSpPr>
        <p:spPr>
          <a:xfrm>
            <a:off x="1561036" y="3634926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52" name="Google Shape;1452;p76"/>
          <p:cNvSpPr txBox="1"/>
          <p:nvPr/>
        </p:nvSpPr>
        <p:spPr>
          <a:xfrm>
            <a:off x="1854789" y="3599354"/>
            <a:ext cx="3048443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шаблонов сайтов по нишам</a:t>
            </a:r>
            <a:endParaRPr/>
          </a:p>
        </p:txBody>
      </p:sp>
      <p:sp>
        <p:nvSpPr>
          <p:cNvPr id="1453" name="Google Shape;1453;p76"/>
          <p:cNvSpPr txBox="1"/>
          <p:nvPr/>
        </p:nvSpPr>
        <p:spPr>
          <a:xfrm>
            <a:off x="7115464" y="3615091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454" name="Google Shape;1454;p76"/>
          <p:cNvSpPr txBox="1"/>
          <p:nvPr/>
        </p:nvSpPr>
        <p:spPr>
          <a:xfrm>
            <a:off x="1561036" y="3902942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455" name="Google Shape;1455;p76"/>
          <p:cNvSpPr txBox="1"/>
          <p:nvPr/>
        </p:nvSpPr>
        <p:spPr>
          <a:xfrm>
            <a:off x="1854789" y="3867371"/>
            <a:ext cx="2557423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База кейсов под все услуги</a:t>
            </a:r>
            <a:endParaRPr/>
          </a:p>
        </p:txBody>
      </p:sp>
      <p:sp>
        <p:nvSpPr>
          <p:cNvPr id="1456" name="Google Shape;1456;p76"/>
          <p:cNvSpPr txBox="1"/>
          <p:nvPr/>
        </p:nvSpPr>
        <p:spPr>
          <a:xfrm>
            <a:off x="7115464" y="3883108"/>
            <a:ext cx="467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457" name="Google Shape;1457;p76"/>
          <p:cNvSpPr txBox="1"/>
          <p:nvPr/>
        </p:nvSpPr>
        <p:spPr>
          <a:xfrm>
            <a:off x="1854789" y="4171696"/>
            <a:ext cx="1576388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ЧТОБЫ ПРОДАВАТЬ</a:t>
            </a:r>
            <a:endParaRPr/>
          </a:p>
        </p:txBody>
      </p:sp>
      <p:sp>
        <p:nvSpPr>
          <p:cNvPr id="1458" name="Google Shape;1458;p76"/>
          <p:cNvSpPr txBox="1"/>
          <p:nvPr/>
        </p:nvSpPr>
        <p:spPr>
          <a:xfrm>
            <a:off x="1561036" y="4369143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459" name="Google Shape;1459;p76"/>
          <p:cNvSpPr txBox="1"/>
          <p:nvPr/>
        </p:nvSpPr>
        <p:spPr>
          <a:xfrm>
            <a:off x="1854789" y="4333571"/>
            <a:ext cx="2686615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Настройки агента-продавца</a:t>
            </a:r>
            <a:endParaRPr/>
          </a:p>
        </p:txBody>
      </p:sp>
      <p:sp>
        <p:nvSpPr>
          <p:cNvPr id="1460" name="Google Shape;1460;p76"/>
          <p:cNvSpPr txBox="1"/>
          <p:nvPr/>
        </p:nvSpPr>
        <p:spPr>
          <a:xfrm>
            <a:off x="6881714" y="4349308"/>
            <a:ext cx="70124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$1.200</a:t>
            </a:r>
            <a:endParaRPr/>
          </a:p>
        </p:txBody>
      </p:sp>
      <p:sp>
        <p:nvSpPr>
          <p:cNvPr id="1461" name="Google Shape;1461;p76"/>
          <p:cNvSpPr txBox="1"/>
          <p:nvPr/>
        </p:nvSpPr>
        <p:spPr>
          <a:xfrm>
            <a:off x="1561036" y="4637159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462" name="Google Shape;1462;p76"/>
          <p:cNvSpPr txBox="1"/>
          <p:nvPr/>
        </p:nvSpPr>
        <p:spPr>
          <a:xfrm>
            <a:off x="1854789" y="4601587"/>
            <a:ext cx="2916909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Скрипты продаж и шаблоны КП</a:t>
            </a:r>
            <a:endParaRPr/>
          </a:p>
        </p:txBody>
      </p:sp>
      <p:sp>
        <p:nvSpPr>
          <p:cNvPr id="1463" name="Google Shape;1463;p76"/>
          <p:cNvSpPr txBox="1"/>
          <p:nvPr/>
        </p:nvSpPr>
        <p:spPr>
          <a:xfrm>
            <a:off x="7115464" y="4617324"/>
            <a:ext cx="467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$400</a:t>
            </a:r>
            <a:endParaRPr/>
          </a:p>
        </p:txBody>
      </p:sp>
      <p:sp>
        <p:nvSpPr>
          <p:cNvPr id="1464" name="Google Shape;1464;p76"/>
          <p:cNvSpPr txBox="1"/>
          <p:nvPr/>
        </p:nvSpPr>
        <p:spPr>
          <a:xfrm>
            <a:off x="1561036" y="4905176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465" name="Google Shape;1465;p76"/>
          <p:cNvSpPr txBox="1"/>
          <p:nvPr/>
        </p:nvSpPr>
        <p:spPr>
          <a:xfrm>
            <a:off x="1854789" y="4869604"/>
            <a:ext cx="2454538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Договоры и приём оплаты</a:t>
            </a:r>
            <a:endParaRPr/>
          </a:p>
        </p:txBody>
      </p:sp>
      <p:sp>
        <p:nvSpPr>
          <p:cNvPr id="1466" name="Google Shape;1466;p76"/>
          <p:cNvSpPr txBox="1"/>
          <p:nvPr/>
        </p:nvSpPr>
        <p:spPr>
          <a:xfrm>
            <a:off x="7115464" y="4885341"/>
            <a:ext cx="467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$350</a:t>
            </a:r>
            <a:endParaRPr/>
          </a:p>
        </p:txBody>
      </p:sp>
      <p:sp>
        <p:nvSpPr>
          <p:cNvPr id="1467" name="Google Shape;1467;p76"/>
          <p:cNvSpPr txBox="1"/>
          <p:nvPr/>
        </p:nvSpPr>
        <p:spPr>
          <a:xfrm>
            <a:off x="1854789" y="5173930"/>
            <a:ext cx="2433916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ЧТОБЫ НАХОДИТЬ КЛИЕНТОВ</a:t>
            </a:r>
            <a:endParaRPr/>
          </a:p>
        </p:txBody>
      </p:sp>
      <p:sp>
        <p:nvSpPr>
          <p:cNvPr id="1468" name="Google Shape;1468;p76"/>
          <p:cNvSpPr txBox="1"/>
          <p:nvPr/>
        </p:nvSpPr>
        <p:spPr>
          <a:xfrm>
            <a:off x="1561036" y="5371377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469" name="Google Shape;1469;p76"/>
          <p:cNvSpPr txBox="1"/>
          <p:nvPr/>
        </p:nvSpPr>
        <p:spPr>
          <a:xfrm>
            <a:off x="1854789" y="5335805"/>
            <a:ext cx="4325537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Связки топовых локаций для поиска клиентов</a:t>
            </a:r>
            <a:endParaRPr/>
          </a:p>
        </p:txBody>
      </p:sp>
      <p:sp>
        <p:nvSpPr>
          <p:cNvPr id="1470" name="Google Shape;1470;p76"/>
          <p:cNvSpPr txBox="1"/>
          <p:nvPr/>
        </p:nvSpPr>
        <p:spPr>
          <a:xfrm>
            <a:off x="7115464" y="5351542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471" name="Google Shape;1471;p76"/>
          <p:cNvSpPr txBox="1"/>
          <p:nvPr/>
        </p:nvSpPr>
        <p:spPr>
          <a:xfrm>
            <a:off x="1561036" y="5639393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472" name="Google Shape;1472;p76"/>
          <p:cNvSpPr txBox="1"/>
          <p:nvPr/>
        </p:nvSpPr>
        <p:spPr>
          <a:xfrm>
            <a:off x="1854789" y="5603821"/>
            <a:ext cx="4738752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Каталог связок + новые связки по мере появления</a:t>
            </a:r>
            <a:endParaRPr/>
          </a:p>
        </p:txBody>
      </p:sp>
      <p:sp>
        <p:nvSpPr>
          <p:cNvPr id="1473" name="Google Shape;1473;p76"/>
          <p:cNvSpPr txBox="1"/>
          <p:nvPr/>
        </p:nvSpPr>
        <p:spPr>
          <a:xfrm>
            <a:off x="7115464" y="5619558"/>
            <a:ext cx="467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474" name="Google Shape;1474;p76"/>
          <p:cNvSpPr txBox="1"/>
          <p:nvPr/>
        </p:nvSpPr>
        <p:spPr>
          <a:xfrm>
            <a:off x="1854789" y="5908147"/>
            <a:ext cx="1193716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ИНСТРУМЕНТЫ</a:t>
            </a:r>
            <a:endParaRPr/>
          </a:p>
        </p:txBody>
      </p:sp>
      <p:sp>
        <p:nvSpPr>
          <p:cNvPr id="1475" name="Google Shape;1475;p76"/>
          <p:cNvSpPr txBox="1"/>
          <p:nvPr/>
        </p:nvSpPr>
        <p:spPr>
          <a:xfrm>
            <a:off x="1561036" y="6105594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476" name="Google Shape;1476;p76"/>
          <p:cNvSpPr txBox="1"/>
          <p:nvPr/>
        </p:nvSpPr>
        <p:spPr>
          <a:xfrm>
            <a:off x="1854789" y="6070022"/>
            <a:ext cx="2939315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Нейросети со скидкой до −75%</a:t>
            </a:r>
            <a:endParaRPr/>
          </a:p>
        </p:txBody>
      </p:sp>
      <p:sp>
        <p:nvSpPr>
          <p:cNvPr id="1477" name="Google Shape;1477;p76"/>
          <p:cNvSpPr txBox="1"/>
          <p:nvPr/>
        </p:nvSpPr>
        <p:spPr>
          <a:xfrm>
            <a:off x="7115464" y="6085759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478" name="Google Shape;1478;p76"/>
          <p:cNvSpPr txBox="1"/>
          <p:nvPr/>
        </p:nvSpPr>
        <p:spPr>
          <a:xfrm>
            <a:off x="1561036" y="6373610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479" name="Google Shape;1479;p76"/>
          <p:cNvSpPr txBox="1"/>
          <p:nvPr/>
        </p:nvSpPr>
        <p:spPr>
          <a:xfrm>
            <a:off x="1854789" y="6338039"/>
            <a:ext cx="1959617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Обновления агентов</a:t>
            </a:r>
            <a:endParaRPr/>
          </a:p>
        </p:txBody>
      </p:sp>
      <p:sp>
        <p:nvSpPr>
          <p:cNvPr id="1480" name="Google Shape;1480;p76"/>
          <p:cNvSpPr txBox="1"/>
          <p:nvPr/>
        </p:nvSpPr>
        <p:spPr>
          <a:xfrm>
            <a:off x="7115464" y="6353776"/>
            <a:ext cx="46749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$500</a:t>
            </a:r>
            <a:endParaRPr/>
          </a:p>
        </p:txBody>
      </p:sp>
      <p:sp>
        <p:nvSpPr>
          <p:cNvPr id="1481" name="Google Shape;1481;p76"/>
          <p:cNvSpPr txBox="1"/>
          <p:nvPr/>
        </p:nvSpPr>
        <p:spPr>
          <a:xfrm>
            <a:off x="1854789" y="6642365"/>
            <a:ext cx="1093841" cy="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ЛЮДИ РЯДОМ</a:t>
            </a:r>
            <a:endParaRPr/>
          </a:p>
        </p:txBody>
      </p:sp>
      <p:sp>
        <p:nvSpPr>
          <p:cNvPr id="1482" name="Google Shape;1482;p76"/>
          <p:cNvSpPr txBox="1"/>
          <p:nvPr/>
        </p:nvSpPr>
        <p:spPr>
          <a:xfrm>
            <a:off x="1561036" y="6839812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483" name="Google Shape;1483;p76"/>
          <p:cNvSpPr txBox="1"/>
          <p:nvPr/>
        </p:nvSpPr>
        <p:spPr>
          <a:xfrm>
            <a:off x="1854789" y="6804240"/>
            <a:ext cx="2961831" cy="220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Куратор проверяет каждый шаг</a:t>
            </a:r>
            <a:endParaRPr/>
          </a:p>
        </p:txBody>
      </p:sp>
      <p:sp>
        <p:nvSpPr>
          <p:cNvPr id="1484" name="Google Shape;1484;p76"/>
          <p:cNvSpPr txBox="1"/>
          <p:nvPr/>
        </p:nvSpPr>
        <p:spPr>
          <a:xfrm>
            <a:off x="6881714" y="6819977"/>
            <a:ext cx="701248" cy="193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$1.100</a:t>
            </a:r>
            <a:endParaRPr/>
          </a:p>
        </p:txBody>
      </p:sp>
      <p:sp>
        <p:nvSpPr>
          <p:cNvPr id="1485" name="Google Shape;1485;p76"/>
          <p:cNvSpPr txBox="1"/>
          <p:nvPr/>
        </p:nvSpPr>
        <p:spPr>
          <a:xfrm>
            <a:off x="1561036" y="7107828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486" name="Google Shape;1486;p76"/>
          <p:cNvSpPr txBox="1"/>
          <p:nvPr/>
        </p:nvSpPr>
        <p:spPr>
          <a:xfrm>
            <a:off x="1854789" y="7072256"/>
            <a:ext cx="2244530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Закрытый чат и рейтинг</a:t>
            </a:r>
            <a:endParaRPr/>
          </a:p>
        </p:txBody>
      </p:sp>
      <p:sp>
        <p:nvSpPr>
          <p:cNvPr id="1487" name="Google Shape;1487;p76"/>
          <p:cNvSpPr txBox="1"/>
          <p:nvPr/>
        </p:nvSpPr>
        <p:spPr>
          <a:xfrm>
            <a:off x="7115464" y="7087993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$300</a:t>
            </a:r>
            <a:endParaRPr/>
          </a:p>
        </p:txBody>
      </p:sp>
      <p:sp>
        <p:nvSpPr>
          <p:cNvPr id="1488" name="Google Shape;1488;p76"/>
          <p:cNvSpPr txBox="1"/>
          <p:nvPr/>
        </p:nvSpPr>
        <p:spPr>
          <a:xfrm>
            <a:off x="1561036" y="7375845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489" name="Google Shape;1489;p76"/>
          <p:cNvSpPr txBox="1"/>
          <p:nvPr/>
        </p:nvSpPr>
        <p:spPr>
          <a:xfrm>
            <a:off x="1854789" y="7340273"/>
            <a:ext cx="3495320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Доска объявлений: работа и клиенты</a:t>
            </a:r>
            <a:endParaRPr/>
          </a:p>
        </p:txBody>
      </p:sp>
      <p:sp>
        <p:nvSpPr>
          <p:cNvPr id="1490" name="Google Shape;1490;p76"/>
          <p:cNvSpPr txBox="1"/>
          <p:nvPr/>
        </p:nvSpPr>
        <p:spPr>
          <a:xfrm>
            <a:off x="7115464" y="7356010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$600</a:t>
            </a:r>
            <a:endParaRPr/>
          </a:p>
        </p:txBody>
      </p:sp>
      <p:sp>
        <p:nvSpPr>
          <p:cNvPr id="1491" name="Google Shape;1491;p76"/>
          <p:cNvSpPr txBox="1"/>
          <p:nvPr/>
        </p:nvSpPr>
        <p:spPr>
          <a:xfrm>
            <a:off x="1561036" y="7643861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1492" name="Google Shape;1492;p76"/>
          <p:cNvSpPr txBox="1"/>
          <p:nvPr/>
        </p:nvSpPr>
        <p:spPr>
          <a:xfrm>
            <a:off x="1854789" y="7608289"/>
            <a:ext cx="2151231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Живые Q&amp;A · 10 сессий</a:t>
            </a:r>
            <a:endParaRPr/>
          </a:p>
        </p:txBody>
      </p:sp>
      <p:sp>
        <p:nvSpPr>
          <p:cNvPr id="1493" name="Google Shape;1493;p76"/>
          <p:cNvSpPr txBox="1"/>
          <p:nvPr/>
        </p:nvSpPr>
        <p:spPr>
          <a:xfrm>
            <a:off x="7115464" y="7624026"/>
            <a:ext cx="46749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$900</a:t>
            </a:r>
            <a:endParaRPr/>
          </a:p>
        </p:txBody>
      </p:sp>
      <p:sp>
        <p:nvSpPr>
          <p:cNvPr id="1494" name="Google Shape;1494;p76"/>
          <p:cNvSpPr txBox="1"/>
          <p:nvPr/>
        </p:nvSpPr>
        <p:spPr>
          <a:xfrm>
            <a:off x="1561036" y="7911876"/>
            <a:ext cx="210664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1495" name="Google Shape;1495;p76"/>
          <p:cNvSpPr txBox="1"/>
          <p:nvPr/>
        </p:nvSpPr>
        <p:spPr>
          <a:xfrm>
            <a:off x="1854789" y="7876304"/>
            <a:ext cx="3284310" cy="22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Групповые страт-сессии · 4 сессии</a:t>
            </a:r>
            <a:endParaRPr/>
          </a:p>
        </p:txBody>
      </p:sp>
      <p:sp>
        <p:nvSpPr>
          <p:cNvPr id="1496" name="Google Shape;1496;p76"/>
          <p:cNvSpPr txBox="1"/>
          <p:nvPr/>
        </p:nvSpPr>
        <p:spPr>
          <a:xfrm>
            <a:off x="6881714" y="7892041"/>
            <a:ext cx="701248" cy="19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$1.500</a:t>
            </a:r>
            <a:endParaRPr/>
          </a:p>
        </p:txBody>
      </p:sp>
      <p:sp>
        <p:nvSpPr>
          <p:cNvPr id="1497" name="Google Shape;1497;p76"/>
          <p:cNvSpPr txBox="1"/>
          <p:nvPr/>
        </p:nvSpPr>
        <p:spPr>
          <a:xfrm>
            <a:off x="1854789" y="8267264"/>
            <a:ext cx="3049111" cy="2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Ценность целиком</a:t>
            </a:r>
            <a:endParaRPr/>
          </a:p>
        </p:txBody>
      </p:sp>
      <p:sp>
        <p:nvSpPr>
          <p:cNvPr id="1498" name="Google Shape;1498;p76"/>
          <p:cNvSpPr txBox="1"/>
          <p:nvPr/>
        </p:nvSpPr>
        <p:spPr>
          <a:xfrm>
            <a:off x="5658346" y="8204728"/>
            <a:ext cx="1924616" cy="37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$21.308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3.jpg" id="1504" name="Google Shape;150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77"/>
          <p:cNvSpPr txBox="1"/>
          <p:nvPr/>
        </p:nvSpPr>
        <p:spPr>
          <a:xfrm>
            <a:off x="1593233" y="2267936"/>
            <a:ext cx="595743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90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Реальная цена</a:t>
            </a:r>
            <a:endParaRPr/>
          </a:p>
        </p:txBody>
      </p:sp>
      <p:sp>
        <p:nvSpPr>
          <p:cNvPr id="1506" name="Google Shape;1506;p77"/>
          <p:cNvSpPr txBox="1"/>
          <p:nvPr/>
        </p:nvSpPr>
        <p:spPr>
          <a:xfrm>
            <a:off x="1216731" y="4114289"/>
            <a:ext cx="1480087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Bronze</a:t>
            </a:r>
            <a:endParaRPr/>
          </a:p>
        </p:txBody>
      </p:sp>
      <p:sp>
        <p:nvSpPr>
          <p:cNvPr id="1507" name="Google Shape;1507;p77"/>
          <p:cNvSpPr txBox="1"/>
          <p:nvPr/>
        </p:nvSpPr>
        <p:spPr>
          <a:xfrm>
            <a:off x="1464199" y="4668542"/>
            <a:ext cx="985151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$6.060</a:t>
            </a:r>
            <a:endParaRPr/>
          </a:p>
        </p:txBody>
      </p:sp>
      <p:sp>
        <p:nvSpPr>
          <p:cNvPr id="1508" name="Google Shape;1508;p77"/>
          <p:cNvSpPr txBox="1"/>
          <p:nvPr/>
        </p:nvSpPr>
        <p:spPr>
          <a:xfrm>
            <a:off x="829638" y="4936331"/>
            <a:ext cx="2254273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990</a:t>
            </a:r>
            <a:endParaRPr/>
          </a:p>
        </p:txBody>
      </p:sp>
      <p:sp>
        <p:nvSpPr>
          <p:cNvPr id="1509" name="Google Shape;1509;p77"/>
          <p:cNvSpPr txBox="1"/>
          <p:nvPr/>
        </p:nvSpPr>
        <p:spPr>
          <a:xfrm>
            <a:off x="935733" y="5555490"/>
            <a:ext cx="2042083" cy="521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 агент — AI-сайты · 5 модулей</a:t>
            </a:r>
            <a:endParaRPr/>
          </a:p>
        </p:txBody>
      </p:sp>
      <p:sp>
        <p:nvSpPr>
          <p:cNvPr id="1510" name="Google Shape;1510;p77"/>
          <p:cNvSpPr txBox="1"/>
          <p:nvPr/>
        </p:nvSpPr>
        <p:spPr>
          <a:xfrm>
            <a:off x="3985359" y="4114289"/>
            <a:ext cx="1173077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Silver</a:t>
            </a:r>
            <a:endParaRPr/>
          </a:p>
        </p:txBody>
      </p:sp>
      <p:sp>
        <p:nvSpPr>
          <p:cNvPr id="1511" name="Google Shape;1511;p77"/>
          <p:cNvSpPr txBox="1"/>
          <p:nvPr/>
        </p:nvSpPr>
        <p:spPr>
          <a:xfrm>
            <a:off x="3997277" y="4668542"/>
            <a:ext cx="114934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$12.390</a:t>
            </a:r>
            <a:endParaRPr/>
          </a:p>
        </p:txBody>
      </p:sp>
      <p:sp>
        <p:nvSpPr>
          <p:cNvPr id="1512" name="Google Shape;1512;p77"/>
          <p:cNvSpPr txBox="1"/>
          <p:nvPr/>
        </p:nvSpPr>
        <p:spPr>
          <a:xfrm>
            <a:off x="3515249" y="4936331"/>
            <a:ext cx="2113398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1.490</a:t>
            </a:r>
            <a:endParaRPr/>
          </a:p>
        </p:txBody>
      </p:sp>
      <p:sp>
        <p:nvSpPr>
          <p:cNvPr id="1513" name="Google Shape;1513;p77"/>
          <p:cNvSpPr txBox="1"/>
          <p:nvPr/>
        </p:nvSpPr>
        <p:spPr>
          <a:xfrm>
            <a:off x="3711333" y="5555490"/>
            <a:ext cx="1721129" cy="1014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4 агента: сайты, дизайн, видео, контент-завод · 8 модулей</a:t>
            </a:r>
            <a:endParaRPr/>
          </a:p>
        </p:txBody>
      </p:sp>
      <p:sp>
        <p:nvSpPr>
          <p:cNvPr id="1514" name="Google Shape;1514;p77"/>
          <p:cNvSpPr txBox="1"/>
          <p:nvPr/>
        </p:nvSpPr>
        <p:spPr>
          <a:xfrm>
            <a:off x="6700792" y="4114289"/>
            <a:ext cx="972660" cy="30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Gold</a:t>
            </a:r>
            <a:endParaRPr/>
          </a:p>
        </p:txBody>
      </p:sp>
      <p:sp>
        <p:nvSpPr>
          <p:cNvPr id="1515" name="Google Shape;1515;p77"/>
          <p:cNvSpPr txBox="1"/>
          <p:nvPr/>
        </p:nvSpPr>
        <p:spPr>
          <a:xfrm>
            <a:off x="6612399" y="4668542"/>
            <a:ext cx="114934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$21.350</a:t>
            </a:r>
            <a:endParaRPr/>
          </a:p>
        </p:txBody>
      </p:sp>
      <p:sp>
        <p:nvSpPr>
          <p:cNvPr id="1516" name="Google Shape;1516;p77"/>
          <p:cNvSpPr txBox="1"/>
          <p:nvPr/>
        </p:nvSpPr>
        <p:spPr>
          <a:xfrm>
            <a:off x="5789339" y="4936331"/>
            <a:ext cx="2795565" cy="61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.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99</a:t>
            </a: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endParaRPr/>
          </a:p>
        </p:txBody>
      </p:sp>
      <p:sp>
        <p:nvSpPr>
          <p:cNvPr id="1517" name="Google Shape;1517;p77"/>
          <p:cNvSpPr txBox="1"/>
          <p:nvPr/>
        </p:nvSpPr>
        <p:spPr>
          <a:xfrm>
            <a:off x="6258784" y="5555490"/>
            <a:ext cx="1856574" cy="768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7 агентов + страт-сессии со мной · 13 модулей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3.jpg" id="1523" name="Google Shape;152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78"/>
          <p:cNvSpPr txBox="1"/>
          <p:nvPr/>
        </p:nvSpPr>
        <p:spPr>
          <a:xfrm>
            <a:off x="1593233" y="2267936"/>
            <a:ext cx="59574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Цена для тех, кто сегодня в эфире</a:t>
            </a:r>
            <a:endParaRPr/>
          </a:p>
        </p:txBody>
      </p:sp>
      <p:sp>
        <p:nvSpPr>
          <p:cNvPr id="1525" name="Google Shape;1525;p78"/>
          <p:cNvSpPr txBox="1"/>
          <p:nvPr/>
        </p:nvSpPr>
        <p:spPr>
          <a:xfrm>
            <a:off x="1216731" y="4114289"/>
            <a:ext cx="14802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Bronze</a:t>
            </a:r>
            <a:endParaRPr/>
          </a:p>
        </p:txBody>
      </p:sp>
      <p:sp>
        <p:nvSpPr>
          <p:cNvPr id="1526" name="Google Shape;1526;p78"/>
          <p:cNvSpPr txBox="1"/>
          <p:nvPr/>
        </p:nvSpPr>
        <p:spPr>
          <a:xfrm>
            <a:off x="1464199" y="4668542"/>
            <a:ext cx="985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$6.060</a:t>
            </a:r>
            <a:endParaRPr/>
          </a:p>
        </p:txBody>
      </p:sp>
      <p:sp>
        <p:nvSpPr>
          <p:cNvPr id="1527" name="Google Shape;1527;p78"/>
          <p:cNvSpPr txBox="1"/>
          <p:nvPr/>
        </p:nvSpPr>
        <p:spPr>
          <a:xfrm>
            <a:off x="829638" y="4936331"/>
            <a:ext cx="2254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cap="none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990</a:t>
            </a:r>
            <a:endParaRPr strike="sngStrike">
              <a:solidFill>
                <a:srgbClr val="8A99A6"/>
              </a:solidFill>
            </a:endParaRPr>
          </a:p>
        </p:txBody>
      </p:sp>
      <p:sp>
        <p:nvSpPr>
          <p:cNvPr id="1528" name="Google Shape;1528;p78"/>
          <p:cNvSpPr txBox="1"/>
          <p:nvPr/>
        </p:nvSpPr>
        <p:spPr>
          <a:xfrm>
            <a:off x="935733" y="6487724"/>
            <a:ext cx="2042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 агент — AI-сайты · 5 модулей</a:t>
            </a:r>
            <a:endParaRPr/>
          </a:p>
        </p:txBody>
      </p:sp>
      <p:sp>
        <p:nvSpPr>
          <p:cNvPr id="1529" name="Google Shape;1529;p78"/>
          <p:cNvSpPr txBox="1"/>
          <p:nvPr/>
        </p:nvSpPr>
        <p:spPr>
          <a:xfrm>
            <a:off x="3985359" y="4114289"/>
            <a:ext cx="1173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Silver</a:t>
            </a:r>
            <a:endParaRPr/>
          </a:p>
        </p:txBody>
      </p:sp>
      <p:sp>
        <p:nvSpPr>
          <p:cNvPr id="1530" name="Google Shape;1530;p78"/>
          <p:cNvSpPr txBox="1"/>
          <p:nvPr/>
        </p:nvSpPr>
        <p:spPr>
          <a:xfrm>
            <a:off x="3997277" y="4668542"/>
            <a:ext cx="1149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$12.390</a:t>
            </a:r>
            <a:endParaRPr/>
          </a:p>
        </p:txBody>
      </p:sp>
      <p:sp>
        <p:nvSpPr>
          <p:cNvPr id="1531" name="Google Shape;1531;p78"/>
          <p:cNvSpPr txBox="1"/>
          <p:nvPr/>
        </p:nvSpPr>
        <p:spPr>
          <a:xfrm>
            <a:off x="3515249" y="4936331"/>
            <a:ext cx="2113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1.490</a:t>
            </a:r>
            <a:endParaRPr strike="sngStrike">
              <a:solidFill>
                <a:srgbClr val="8A99A6"/>
              </a:solidFill>
            </a:endParaRPr>
          </a:p>
        </p:txBody>
      </p:sp>
      <p:sp>
        <p:nvSpPr>
          <p:cNvPr id="1532" name="Google Shape;1532;p78"/>
          <p:cNvSpPr txBox="1"/>
          <p:nvPr/>
        </p:nvSpPr>
        <p:spPr>
          <a:xfrm>
            <a:off x="3711333" y="6487724"/>
            <a:ext cx="17211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4 агента: сайты, дизайн, видео, контент-завод · 8 модулей</a:t>
            </a:r>
            <a:endParaRPr/>
          </a:p>
        </p:txBody>
      </p:sp>
      <p:sp>
        <p:nvSpPr>
          <p:cNvPr id="1533" name="Google Shape;1533;p78"/>
          <p:cNvSpPr txBox="1"/>
          <p:nvPr/>
        </p:nvSpPr>
        <p:spPr>
          <a:xfrm>
            <a:off x="6700792" y="4114289"/>
            <a:ext cx="972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Gold</a:t>
            </a:r>
            <a:endParaRPr/>
          </a:p>
        </p:txBody>
      </p:sp>
      <p:sp>
        <p:nvSpPr>
          <p:cNvPr id="1534" name="Google Shape;1534;p78"/>
          <p:cNvSpPr txBox="1"/>
          <p:nvPr/>
        </p:nvSpPr>
        <p:spPr>
          <a:xfrm>
            <a:off x="6612399" y="4668542"/>
            <a:ext cx="1149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sng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$21.350</a:t>
            </a:r>
            <a:endParaRPr/>
          </a:p>
        </p:txBody>
      </p:sp>
      <p:sp>
        <p:nvSpPr>
          <p:cNvPr id="1535" name="Google Shape;1535;p78"/>
          <p:cNvSpPr txBox="1"/>
          <p:nvPr/>
        </p:nvSpPr>
        <p:spPr>
          <a:xfrm>
            <a:off x="5789339" y="4936331"/>
            <a:ext cx="2795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b="1" i="0" lang="en-US" sz="3740" u="none" cap="none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.</a:t>
            </a:r>
            <a:r>
              <a:rPr b="1" lang="en-US" sz="3740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99</a:t>
            </a:r>
            <a:r>
              <a:rPr b="1" i="0" lang="en-US" sz="3740" u="none" cap="none" strike="sng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endParaRPr strike="sngStrike">
              <a:solidFill>
                <a:srgbClr val="8A99A6"/>
              </a:solidFill>
            </a:endParaRPr>
          </a:p>
        </p:txBody>
      </p:sp>
      <p:sp>
        <p:nvSpPr>
          <p:cNvPr id="1536" name="Google Shape;1536;p78"/>
          <p:cNvSpPr txBox="1"/>
          <p:nvPr/>
        </p:nvSpPr>
        <p:spPr>
          <a:xfrm>
            <a:off x="6258784" y="6487724"/>
            <a:ext cx="1856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7 агентов + страт-сессии со мной · 13 модулей</a:t>
            </a:r>
            <a:endParaRPr/>
          </a:p>
        </p:txBody>
      </p:sp>
      <p:sp>
        <p:nvSpPr>
          <p:cNvPr id="1537" name="Google Shape;1537;p78"/>
          <p:cNvSpPr txBox="1"/>
          <p:nvPr/>
        </p:nvSpPr>
        <p:spPr>
          <a:xfrm>
            <a:off x="809372" y="5637970"/>
            <a:ext cx="2254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90</a:t>
            </a:r>
            <a:endParaRPr/>
          </a:p>
        </p:txBody>
      </p:sp>
      <p:sp>
        <p:nvSpPr>
          <p:cNvPr id="1538" name="Google Shape;1538;p78"/>
          <p:cNvSpPr txBox="1"/>
          <p:nvPr/>
        </p:nvSpPr>
        <p:spPr>
          <a:xfrm>
            <a:off x="3494983" y="5637970"/>
            <a:ext cx="2113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749</a:t>
            </a:r>
            <a:endParaRPr/>
          </a:p>
        </p:txBody>
      </p:sp>
      <p:sp>
        <p:nvSpPr>
          <p:cNvPr id="1539" name="Google Shape;1539;p78"/>
          <p:cNvSpPr txBox="1"/>
          <p:nvPr/>
        </p:nvSpPr>
        <p:spPr>
          <a:xfrm>
            <a:off x="5769073" y="5637970"/>
            <a:ext cx="2795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.</a:t>
            </a:r>
            <a:r>
              <a:rPr b="1" lang="en-US" sz="374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50</a:t>
            </a:r>
            <a:r>
              <a:rPr b="1" i="0" lang="en-US" sz="37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4.jpg" id="1545" name="Google Shape;154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79"/>
          <p:cNvSpPr txBox="1"/>
          <p:nvPr/>
        </p:nvSpPr>
        <p:spPr>
          <a:xfrm>
            <a:off x="938976" y="2617878"/>
            <a:ext cx="7265944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ГЛАВНАЯ АРИФМЕТИКА ВЕЧЕРА</a:t>
            </a:r>
            <a:endParaRPr/>
          </a:p>
        </p:txBody>
      </p:sp>
      <p:sp>
        <p:nvSpPr>
          <p:cNvPr id="1547" name="Google Shape;1547;p79"/>
          <p:cNvSpPr txBox="1"/>
          <p:nvPr/>
        </p:nvSpPr>
        <p:spPr>
          <a:xfrm>
            <a:off x="286511" y="2892096"/>
            <a:ext cx="8570875" cy="229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$490</a:t>
            </a:r>
            <a:endParaRPr/>
          </a:p>
        </p:txBody>
      </p:sp>
      <p:sp>
        <p:nvSpPr>
          <p:cNvPr id="1548" name="Google Shape;1548;p79"/>
          <p:cNvSpPr txBox="1"/>
          <p:nvPr/>
        </p:nvSpPr>
        <p:spPr>
          <a:xfrm>
            <a:off x="1820119" y="5119211"/>
            <a:ext cx="5503659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Это два сайта по $250. Первые две сделки — и вход окуплен целиком</a:t>
            </a:r>
            <a:endParaRPr/>
          </a:p>
        </p:txBody>
      </p:sp>
      <p:sp>
        <p:nvSpPr>
          <p:cNvPr id="1549" name="Google Shape;1549;p79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4.jpg" id="1555" name="Google Shape;155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80"/>
          <p:cNvSpPr txBox="1"/>
          <p:nvPr/>
        </p:nvSpPr>
        <p:spPr>
          <a:xfrm>
            <a:off x="938976" y="2617878"/>
            <a:ext cx="7266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0">
                <a:solidFill>
                  <a:srgbClr val="8A99A6"/>
                </a:solidFill>
              </a:rPr>
              <a:t>Monobank и ПриватБанк кредитуют нашых студентов</a:t>
            </a:r>
            <a:endParaRPr/>
          </a:p>
        </p:txBody>
      </p:sp>
      <p:sp>
        <p:nvSpPr>
          <p:cNvPr id="1557" name="Google Shape;1557;p80"/>
          <p:cNvSpPr txBox="1"/>
          <p:nvPr/>
        </p:nvSpPr>
        <p:spPr>
          <a:xfrm>
            <a:off x="286511" y="3300310"/>
            <a:ext cx="8571000" cy="22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от 60$/мес</a:t>
            </a:r>
            <a:endParaRPr/>
          </a:p>
        </p:txBody>
      </p:sp>
      <p:sp>
        <p:nvSpPr>
          <p:cNvPr id="1558" name="Google Shape;1558;p80"/>
          <p:cNvSpPr txBox="1"/>
          <p:nvPr/>
        </p:nvSpPr>
        <p:spPr>
          <a:xfrm>
            <a:off x="1820119" y="5119211"/>
            <a:ext cx="55038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Доход с 1 сайта за </a:t>
            </a: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 $250 </a:t>
            </a:r>
            <a:r>
              <a:rPr lang="en-US" sz="2300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в 4 раза превышает </a:t>
            </a:r>
            <a:r>
              <a:rPr lang="en-US" sz="2300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ещемесячный</a:t>
            </a:r>
            <a:r>
              <a:rPr lang="en-US" sz="2300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 платеж</a:t>
            </a:r>
            <a:endParaRPr/>
          </a:p>
        </p:txBody>
      </p:sp>
      <p:sp>
        <p:nvSpPr>
          <p:cNvPr id="1559" name="Google Shape;1559;p80"/>
          <p:cNvSpPr txBox="1"/>
          <p:nvPr/>
        </p:nvSpPr>
        <p:spPr>
          <a:xfrm>
            <a:off x="3067087" y="8825286"/>
            <a:ext cx="3009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  <p:sp>
        <p:nvSpPr>
          <p:cNvPr id="1560" name="Google Shape;1560;p80"/>
          <p:cNvSpPr txBox="1"/>
          <p:nvPr/>
        </p:nvSpPr>
        <p:spPr>
          <a:xfrm>
            <a:off x="2468335" y="6187814"/>
            <a:ext cx="42072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$</a:t>
            </a:r>
            <a:r>
              <a:rPr lang="en-US" sz="1870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60</a:t>
            </a: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 ÷ 30 дней ≈ $</a:t>
            </a:r>
            <a:r>
              <a:rPr lang="en-US" sz="1870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 в день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5.jpg" id="1566" name="Google Shape;15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81"/>
          <p:cNvSpPr txBox="1"/>
          <p:nvPr/>
        </p:nvSpPr>
        <p:spPr>
          <a:xfrm>
            <a:off x="1396294" y="2063727"/>
            <a:ext cx="635130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Эти деньги за месяц и так уйдут</a:t>
            </a:r>
            <a:endParaRPr/>
          </a:p>
        </p:txBody>
      </p:sp>
      <p:sp>
        <p:nvSpPr>
          <p:cNvPr id="1568" name="Google Shape;1568;p81"/>
          <p:cNvSpPr txBox="1"/>
          <p:nvPr/>
        </p:nvSpPr>
        <p:spPr>
          <a:xfrm>
            <a:off x="957466" y="3712708"/>
            <a:ext cx="3464824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УХОДИТ НЕЗАМЕТНО</a:t>
            </a:r>
            <a:endParaRPr/>
          </a:p>
        </p:txBody>
      </p:sp>
      <p:sp>
        <p:nvSpPr>
          <p:cNvPr id="1569" name="Google Shape;1569;p81"/>
          <p:cNvSpPr txBox="1"/>
          <p:nvPr/>
        </p:nvSpPr>
        <p:spPr>
          <a:xfrm>
            <a:off x="1231786" y="4108166"/>
            <a:ext cx="775296" cy="33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1 </a:t>
            </a:r>
            <a:r>
              <a:rPr b="0" i="0" lang="en-US" sz="180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Кофе</a:t>
            </a:r>
            <a:endParaRPr/>
          </a:p>
        </p:txBody>
      </p:sp>
      <p:sp>
        <p:nvSpPr>
          <p:cNvPr id="1570" name="Google Shape;1570;p81"/>
          <p:cNvSpPr txBox="1"/>
          <p:nvPr/>
        </p:nvSpPr>
        <p:spPr>
          <a:xfrm>
            <a:off x="957466" y="5747963"/>
            <a:ext cx="2860104" cy="43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lang="en-US" sz="2590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b="0" i="0" lang="en-US" sz="2590" u="none" cap="none" strike="noStrike">
                <a:solidFill>
                  <a:srgbClr val="8A99A6"/>
                </a:solidFill>
                <a:latin typeface="Unbounded"/>
                <a:ea typeface="Unbounded"/>
                <a:cs typeface="Unbounded"/>
                <a:sym typeface="Unbounded"/>
              </a:rPr>
              <a:t> в день</a:t>
            </a:r>
            <a:endParaRPr/>
          </a:p>
        </p:txBody>
      </p:sp>
      <p:sp>
        <p:nvSpPr>
          <p:cNvPr id="1571" name="Google Shape;1571;p81"/>
          <p:cNvSpPr txBox="1"/>
          <p:nvPr/>
        </p:nvSpPr>
        <p:spPr>
          <a:xfrm>
            <a:off x="5094208" y="3712708"/>
            <a:ext cx="276544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УХОДИТ В ДЕЛО</a:t>
            </a:r>
            <a:endParaRPr/>
          </a:p>
        </p:txBody>
      </p:sp>
      <p:sp>
        <p:nvSpPr>
          <p:cNvPr id="1572" name="Google Shape;1572;p81"/>
          <p:cNvSpPr txBox="1"/>
          <p:nvPr/>
        </p:nvSpPr>
        <p:spPr>
          <a:xfrm>
            <a:off x="5368528" y="4108166"/>
            <a:ext cx="1093132" cy="33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Агенты</a:t>
            </a:r>
            <a:endParaRPr/>
          </a:p>
        </p:txBody>
      </p:sp>
      <p:sp>
        <p:nvSpPr>
          <p:cNvPr id="1573" name="Google Shape;1573;p81"/>
          <p:cNvSpPr txBox="1"/>
          <p:nvPr/>
        </p:nvSpPr>
        <p:spPr>
          <a:xfrm>
            <a:off x="5368528" y="4649866"/>
            <a:ext cx="1235117" cy="33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Куратор</a:t>
            </a:r>
            <a:endParaRPr/>
          </a:p>
        </p:txBody>
      </p:sp>
      <p:sp>
        <p:nvSpPr>
          <p:cNvPr id="1574" name="Google Shape;1574;p81"/>
          <p:cNvSpPr txBox="1"/>
          <p:nvPr/>
        </p:nvSpPr>
        <p:spPr>
          <a:xfrm>
            <a:off x="5368528" y="5191567"/>
            <a:ext cx="1296741" cy="33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Разборы</a:t>
            </a:r>
            <a:endParaRPr/>
          </a:p>
        </p:txBody>
      </p:sp>
      <p:sp>
        <p:nvSpPr>
          <p:cNvPr id="1575" name="Google Shape;1575;p81"/>
          <p:cNvSpPr txBox="1"/>
          <p:nvPr/>
        </p:nvSpPr>
        <p:spPr>
          <a:xfrm>
            <a:off x="5094208" y="5747963"/>
            <a:ext cx="2860104" cy="43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</a:t>
            </a:r>
            <a:r>
              <a:rPr lang="en-US" sz="2590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b="0" i="0" lang="en-US" sz="259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 в день</a:t>
            </a:r>
            <a:endParaRPr/>
          </a:p>
        </p:txBody>
      </p:sp>
      <p:sp>
        <p:nvSpPr>
          <p:cNvPr id="1576" name="Google Shape;1576;p81"/>
          <p:cNvSpPr txBox="1"/>
          <p:nvPr/>
        </p:nvSpPr>
        <p:spPr>
          <a:xfrm>
            <a:off x="986304" y="6696245"/>
            <a:ext cx="7171288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Вопрос не «тратить или нет». Вопрос — на что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4.jpg" id="1582" name="Google Shape;158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82"/>
          <p:cNvSpPr txBox="1"/>
          <p:nvPr/>
        </p:nvSpPr>
        <p:spPr>
          <a:xfrm>
            <a:off x="612311" y="2675436"/>
            <a:ext cx="7919275" cy="62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СЕГОДНЯ НЕ НАДО ПЛАТИТЬ НИ $1.500, НИ $749 И ДАЖЕ НЕ $490</a:t>
            </a:r>
            <a:endParaRPr/>
          </a:p>
        </p:txBody>
      </p:sp>
      <p:sp>
        <p:nvSpPr>
          <p:cNvPr id="1584" name="Google Shape;1584;p82"/>
          <p:cNvSpPr txBox="1"/>
          <p:nvPr/>
        </p:nvSpPr>
        <p:spPr>
          <a:xfrm>
            <a:off x="1772686" y="3250100"/>
            <a:ext cx="5598626" cy="229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$10</a:t>
            </a:r>
            <a:endParaRPr/>
          </a:p>
        </p:txBody>
      </p:sp>
      <p:sp>
        <p:nvSpPr>
          <p:cNvPr id="1585" name="Google Shape;1585;p82"/>
          <p:cNvSpPr txBox="1"/>
          <p:nvPr/>
        </p:nvSpPr>
        <p:spPr>
          <a:xfrm>
            <a:off x="2055963" y="5477215"/>
            <a:ext cx="5032073" cy="42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И не надо выбирать набор</a:t>
            </a:r>
            <a:endParaRPr/>
          </a:p>
        </p:txBody>
      </p:sp>
      <p:sp>
        <p:nvSpPr>
          <p:cNvPr id="1586" name="Google Shape;1586;p82"/>
          <p:cNvSpPr txBox="1"/>
          <p:nvPr/>
        </p:nvSpPr>
        <p:spPr>
          <a:xfrm>
            <a:off x="1598918" y="6130358"/>
            <a:ext cx="5946163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Столько стоит ваше решение сегодня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7.jpg" id="1592" name="Google Shape;159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83"/>
          <p:cNvSpPr txBox="1"/>
          <p:nvPr/>
        </p:nvSpPr>
        <p:spPr>
          <a:xfrm>
            <a:off x="1908809" y="2106283"/>
            <a:ext cx="532638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фиксирует ваша десятка</a:t>
            </a:r>
            <a:endParaRPr/>
          </a:p>
        </p:txBody>
      </p:sp>
      <p:sp>
        <p:nvSpPr>
          <p:cNvPr id="1594" name="Google Shape;1594;p83"/>
          <p:cNvSpPr txBox="1"/>
          <p:nvPr/>
        </p:nvSpPr>
        <p:spPr>
          <a:xfrm>
            <a:off x="957466" y="3787922"/>
            <a:ext cx="3238731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Цену этого эфира</a:t>
            </a:r>
            <a:endParaRPr/>
          </a:p>
        </p:txBody>
      </p:sp>
      <p:sp>
        <p:nvSpPr>
          <p:cNvPr id="1595" name="Google Shape;1595;p83"/>
          <p:cNvSpPr txBox="1"/>
          <p:nvPr/>
        </p:nvSpPr>
        <p:spPr>
          <a:xfrm>
            <a:off x="957466" y="4128577"/>
            <a:ext cx="2566835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$490 / $749 / $1.500</a:t>
            </a:r>
            <a:endParaRPr/>
          </a:p>
        </p:txBody>
      </p:sp>
      <p:sp>
        <p:nvSpPr>
          <p:cNvPr id="1596" name="Google Shape;1596;p83"/>
          <p:cNvSpPr txBox="1"/>
          <p:nvPr/>
        </p:nvSpPr>
        <p:spPr>
          <a:xfrm>
            <a:off x="4889386" y="3787922"/>
            <a:ext cx="2689666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Место в потоке</a:t>
            </a:r>
            <a:endParaRPr/>
          </a:p>
        </p:txBody>
      </p:sp>
      <p:sp>
        <p:nvSpPr>
          <p:cNvPr id="1597" name="Google Shape;1597;p83"/>
          <p:cNvSpPr txBox="1"/>
          <p:nvPr/>
        </p:nvSpPr>
        <p:spPr>
          <a:xfrm>
            <a:off x="4889386" y="4128577"/>
            <a:ext cx="3333943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поток ограничен людьми</a:t>
            </a:r>
            <a:endParaRPr/>
          </a:p>
        </p:txBody>
      </p:sp>
      <p:sp>
        <p:nvSpPr>
          <p:cNvPr id="1598" name="Google Shape;1598;p83"/>
          <p:cNvSpPr txBox="1"/>
          <p:nvPr/>
        </p:nvSpPr>
        <p:spPr>
          <a:xfrm>
            <a:off x="957466" y="5147071"/>
            <a:ext cx="3356844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Все бонусы эфира</a:t>
            </a:r>
            <a:endParaRPr/>
          </a:p>
        </p:txBody>
      </p:sp>
      <p:sp>
        <p:nvSpPr>
          <p:cNvPr id="1599" name="Google Shape;1599;p83"/>
          <p:cNvSpPr txBox="1"/>
          <p:nvPr/>
        </p:nvSpPr>
        <p:spPr>
          <a:xfrm>
            <a:off x="957466" y="5487726"/>
            <a:ext cx="340417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остаются в любом случае</a:t>
            </a:r>
            <a:endParaRPr/>
          </a:p>
        </p:txBody>
      </p:sp>
      <p:sp>
        <p:nvSpPr>
          <p:cNvPr id="1600" name="Google Shape;1600;p83"/>
          <p:cNvSpPr txBox="1"/>
          <p:nvPr/>
        </p:nvSpPr>
        <p:spPr>
          <a:xfrm>
            <a:off x="4889386" y="5147071"/>
            <a:ext cx="3448030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Звонок с командой</a:t>
            </a:r>
            <a:endParaRPr/>
          </a:p>
        </p:txBody>
      </p:sp>
      <p:sp>
        <p:nvSpPr>
          <p:cNvPr id="1601" name="Google Shape;1601;p83"/>
          <p:cNvSpPr txBox="1"/>
          <p:nvPr/>
        </p:nvSpPr>
        <p:spPr>
          <a:xfrm>
            <a:off x="4889386" y="5487726"/>
            <a:ext cx="2096466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 течение суток</a:t>
            </a:r>
            <a:endParaRPr/>
          </a:p>
        </p:txBody>
      </p:sp>
      <p:sp>
        <p:nvSpPr>
          <p:cNvPr id="1602" name="Google Shape;1602;p83"/>
          <p:cNvSpPr txBox="1"/>
          <p:nvPr/>
        </p:nvSpPr>
        <p:spPr>
          <a:xfrm>
            <a:off x="2209431" y="6309053"/>
            <a:ext cx="4724933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Полностью засчитывается в оплату · возвращается без единого вопроса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8.jpg" id="1608" name="Google Shape;160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84"/>
          <p:cNvSpPr txBox="1"/>
          <p:nvPr/>
        </p:nvSpPr>
        <p:spPr>
          <a:xfrm>
            <a:off x="3957841" y="3310107"/>
            <a:ext cx="1228316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ЭКРАН</a:t>
            </a:r>
            <a:endParaRPr/>
          </a:p>
        </p:txBody>
      </p:sp>
      <p:sp>
        <p:nvSpPr>
          <p:cNvPr id="1610" name="Google Shape;1610;p84"/>
          <p:cNvSpPr txBox="1"/>
          <p:nvPr/>
        </p:nvSpPr>
        <p:spPr>
          <a:xfrm>
            <a:off x="153686" y="3810374"/>
            <a:ext cx="8836524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Покажу путь оплаты</a:t>
            </a:r>
            <a:endParaRPr/>
          </a:p>
        </p:txBody>
      </p:sp>
      <p:sp>
        <p:nvSpPr>
          <p:cNvPr id="1611" name="Google Shape;1611;p84"/>
          <p:cNvSpPr txBox="1"/>
          <p:nvPr/>
        </p:nvSpPr>
        <p:spPr>
          <a:xfrm>
            <a:off x="1534877" y="4788965"/>
            <a:ext cx="1034839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Кнопка</a:t>
            </a:r>
            <a:endParaRPr/>
          </a:p>
        </p:txBody>
      </p:sp>
      <p:sp>
        <p:nvSpPr>
          <p:cNvPr id="1612" name="Google Shape;1612;p84"/>
          <p:cNvSpPr txBox="1"/>
          <p:nvPr/>
        </p:nvSpPr>
        <p:spPr>
          <a:xfrm>
            <a:off x="3289102" y="4788965"/>
            <a:ext cx="950592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Форма</a:t>
            </a:r>
            <a:endParaRPr/>
          </a:p>
        </p:txBody>
      </p:sp>
      <p:sp>
        <p:nvSpPr>
          <p:cNvPr id="1613" name="Google Shape;1613;p84"/>
          <p:cNvSpPr txBox="1"/>
          <p:nvPr/>
        </p:nvSpPr>
        <p:spPr>
          <a:xfrm>
            <a:off x="4668344" y="4788965"/>
            <a:ext cx="3231514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Место зафиксировано</a:t>
            </a:r>
            <a:endParaRPr/>
          </a:p>
        </p:txBody>
      </p:sp>
      <p:sp>
        <p:nvSpPr>
          <p:cNvPr id="1614" name="Google Shape;1614;p84"/>
          <p:cNvSpPr txBox="1"/>
          <p:nvPr/>
        </p:nvSpPr>
        <p:spPr>
          <a:xfrm>
            <a:off x="2294427" y="5495584"/>
            <a:ext cx="4555042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 реальном времени, при вас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9.jpg" id="1620" name="Google Shape;162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85"/>
          <p:cNvSpPr txBox="1"/>
          <p:nvPr/>
        </p:nvSpPr>
        <p:spPr>
          <a:xfrm>
            <a:off x="2227484" y="1624080"/>
            <a:ext cx="468892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Вот что будет после брони</a:t>
            </a:r>
            <a:endParaRPr/>
          </a:p>
        </p:txBody>
      </p:sp>
      <p:sp>
        <p:nvSpPr>
          <p:cNvPr id="1622" name="Google Shape;1622;p85"/>
          <p:cNvSpPr txBox="1"/>
          <p:nvPr/>
        </p:nvSpPr>
        <p:spPr>
          <a:xfrm>
            <a:off x="975734" y="3249589"/>
            <a:ext cx="3283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23" name="Google Shape;1623;p85"/>
          <p:cNvSpPr txBox="1"/>
          <p:nvPr/>
        </p:nvSpPr>
        <p:spPr>
          <a:xfrm>
            <a:off x="1560909" y="3263979"/>
            <a:ext cx="1364611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Бронь $10</a:t>
            </a:r>
            <a:endParaRPr/>
          </a:p>
        </p:txBody>
      </p:sp>
      <p:sp>
        <p:nvSpPr>
          <p:cNvPr id="1624" name="Google Shape;1624;p85"/>
          <p:cNvSpPr txBox="1"/>
          <p:nvPr/>
        </p:nvSpPr>
        <p:spPr>
          <a:xfrm>
            <a:off x="1560909" y="3544830"/>
            <a:ext cx="3870100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место и цена зафиксированы</a:t>
            </a:r>
            <a:endParaRPr/>
          </a:p>
        </p:txBody>
      </p:sp>
      <p:sp>
        <p:nvSpPr>
          <p:cNvPr id="1625" name="Google Shape;1625;p85"/>
          <p:cNvSpPr txBox="1"/>
          <p:nvPr/>
        </p:nvSpPr>
        <p:spPr>
          <a:xfrm>
            <a:off x="975734" y="4397488"/>
            <a:ext cx="3283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26" name="Google Shape;1626;p85"/>
          <p:cNvSpPr txBox="1"/>
          <p:nvPr/>
        </p:nvSpPr>
        <p:spPr>
          <a:xfrm>
            <a:off x="1560909" y="4411877"/>
            <a:ext cx="3201396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Звонок в течение суток</a:t>
            </a:r>
            <a:endParaRPr/>
          </a:p>
        </p:txBody>
      </p:sp>
      <p:sp>
        <p:nvSpPr>
          <p:cNvPr id="1627" name="Google Shape;1627;p85"/>
          <p:cNvSpPr txBox="1"/>
          <p:nvPr/>
        </p:nvSpPr>
        <p:spPr>
          <a:xfrm>
            <a:off x="1560909" y="4692729"/>
            <a:ext cx="543929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менеджер отвечает на всё, без давления</a:t>
            </a:r>
            <a:endParaRPr/>
          </a:p>
        </p:txBody>
      </p:sp>
      <p:sp>
        <p:nvSpPr>
          <p:cNvPr id="1628" name="Google Shape;1628;p85"/>
          <p:cNvSpPr txBox="1"/>
          <p:nvPr/>
        </p:nvSpPr>
        <p:spPr>
          <a:xfrm>
            <a:off x="975734" y="5545386"/>
            <a:ext cx="3283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29" name="Google Shape;1629;p85"/>
          <p:cNvSpPr txBox="1"/>
          <p:nvPr/>
        </p:nvSpPr>
        <p:spPr>
          <a:xfrm>
            <a:off x="1560909" y="5559776"/>
            <a:ext cx="3978636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Выбираете набор без спешки</a:t>
            </a:r>
            <a:endParaRPr/>
          </a:p>
        </p:txBody>
      </p:sp>
      <p:sp>
        <p:nvSpPr>
          <p:cNvPr id="1630" name="Google Shape;1630;p85"/>
          <p:cNvSpPr txBox="1"/>
          <p:nvPr/>
        </p:nvSpPr>
        <p:spPr>
          <a:xfrm>
            <a:off x="1560909" y="5840627"/>
            <a:ext cx="290979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Bronze, Silver или Gold</a:t>
            </a:r>
            <a:endParaRPr/>
          </a:p>
        </p:txBody>
      </p:sp>
      <p:sp>
        <p:nvSpPr>
          <p:cNvPr id="1631" name="Google Shape;1631;p85"/>
          <p:cNvSpPr txBox="1"/>
          <p:nvPr/>
        </p:nvSpPr>
        <p:spPr>
          <a:xfrm>
            <a:off x="975734" y="6693285"/>
            <a:ext cx="32838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32" name="Google Shape;1632;p85"/>
          <p:cNvSpPr txBox="1"/>
          <p:nvPr/>
        </p:nvSpPr>
        <p:spPr>
          <a:xfrm>
            <a:off x="1560909" y="6707675"/>
            <a:ext cx="3313263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Доступ и первый разбор</a:t>
            </a:r>
            <a:endParaRPr/>
          </a:p>
        </p:txBody>
      </p:sp>
      <p:sp>
        <p:nvSpPr>
          <p:cNvPr id="1633" name="Google Shape;1633;p85"/>
          <p:cNvSpPr txBox="1"/>
          <p:nvPr/>
        </p:nvSpPr>
        <p:spPr>
          <a:xfrm>
            <a:off x="1560909" y="6988526"/>
            <a:ext cx="2424156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 этой же неделе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0.jpg" id="1639" name="Google Shape;16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86"/>
          <p:cNvSpPr txBox="1"/>
          <p:nvPr/>
        </p:nvSpPr>
        <p:spPr>
          <a:xfrm>
            <a:off x="1037170" y="2414791"/>
            <a:ext cx="5216766" cy="3278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Сегодня вы выбираете не набор. Вы выбираете решение</a:t>
            </a:r>
            <a:endParaRPr/>
          </a:p>
        </p:txBody>
      </p:sp>
      <p:sp>
        <p:nvSpPr>
          <p:cNvPr id="1641" name="Google Shape;1641;p86"/>
          <p:cNvSpPr txBox="1"/>
          <p:nvPr/>
        </p:nvSpPr>
        <p:spPr>
          <a:xfrm>
            <a:off x="1037170" y="5852568"/>
            <a:ext cx="5214023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Бронь $10 → звонок → набор под вашу ситуацию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1.jpg" id="1647" name="Google Shape;16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87"/>
          <p:cNvSpPr txBox="1"/>
          <p:nvPr/>
        </p:nvSpPr>
        <p:spPr>
          <a:xfrm>
            <a:off x="731519" y="4026421"/>
            <a:ext cx="7635125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Если эти два часа что-то в вас сдвинули — нажмите сейчас</a:t>
            </a:r>
            <a:endParaRPr/>
          </a:p>
        </p:txBody>
      </p:sp>
      <p:sp>
        <p:nvSpPr>
          <p:cNvPr id="1649" name="Google Shape;1649;p87"/>
          <p:cNvSpPr txBox="1"/>
          <p:nvPr/>
        </p:nvSpPr>
        <p:spPr>
          <a:xfrm>
            <a:off x="731519" y="5879510"/>
            <a:ext cx="5204879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Поток ограничен людьми · бронь возвращается без вопросов</a:t>
            </a:r>
            <a:endParaRPr/>
          </a:p>
        </p:txBody>
      </p:sp>
      <p:sp>
        <p:nvSpPr>
          <p:cNvPr id="1650" name="Google Shape;1650;p87"/>
          <p:cNvSpPr txBox="1"/>
          <p:nvPr/>
        </p:nvSpPr>
        <p:spPr>
          <a:xfrm>
            <a:off x="1079601" y="7103175"/>
            <a:ext cx="5890763" cy="45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1651" name="Google Shape;1651;p87"/>
          <p:cNvSpPr txBox="1"/>
          <p:nvPr/>
        </p:nvSpPr>
        <p:spPr>
          <a:xfrm>
            <a:off x="731519" y="7929154"/>
            <a:ext cx="7114244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эфира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2.jpg" id="1657" name="Google Shape;16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88"/>
          <p:cNvSpPr txBox="1"/>
          <p:nvPr/>
        </p:nvSpPr>
        <p:spPr>
          <a:xfrm>
            <a:off x="1398362" y="2643289"/>
            <a:ext cx="634727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🛡 ГАРАНТИЯ ПЕРВОГО КЛИЕНТА</a:t>
            </a:r>
            <a:endParaRPr/>
          </a:p>
        </p:txBody>
      </p:sp>
      <p:sp>
        <p:nvSpPr>
          <p:cNvPr id="1659" name="Google Shape;1659;p88"/>
          <p:cNvSpPr txBox="1"/>
          <p:nvPr/>
        </p:nvSpPr>
        <p:spPr>
          <a:xfrm>
            <a:off x="1551393" y="3122635"/>
            <a:ext cx="6041212" cy="819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Сделали все шаги программы </a:t>
            </a:r>
            <a:r>
              <a:rPr lang="en-US" sz="2300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сделаны</a:t>
            </a: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 — и нет результата?</a:t>
            </a:r>
            <a:endParaRPr/>
          </a:p>
        </p:txBody>
      </p:sp>
      <p:sp>
        <p:nvSpPr>
          <p:cNvPr id="1660" name="Google Shape;1660;p88"/>
          <p:cNvSpPr txBox="1"/>
          <p:nvPr/>
        </p:nvSpPr>
        <p:spPr>
          <a:xfrm>
            <a:off x="1229886" y="4104492"/>
            <a:ext cx="6684125" cy="724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6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Возвращаем</a:t>
            </a:r>
            <a:endParaRPr/>
          </a:p>
        </p:txBody>
      </p:sp>
      <p:sp>
        <p:nvSpPr>
          <p:cNvPr id="1661" name="Google Shape;1661;p88"/>
          <p:cNvSpPr txBox="1"/>
          <p:nvPr/>
        </p:nvSpPr>
        <p:spPr>
          <a:xfrm>
            <a:off x="1145083" y="4699669"/>
            <a:ext cx="6853730" cy="724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6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100% оплаты</a:t>
            </a:r>
            <a:endParaRPr/>
          </a:p>
        </p:txBody>
      </p:sp>
      <p:sp>
        <p:nvSpPr>
          <p:cNvPr id="1662" name="Google Shape;1662;p88"/>
          <p:cNvSpPr txBox="1"/>
          <p:nvPr/>
        </p:nvSpPr>
        <p:spPr>
          <a:xfrm>
            <a:off x="2086515" y="5566512"/>
            <a:ext cx="4970866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0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Гарантия </a:t>
            </a:r>
            <a:r>
              <a:rPr lang="en-US" sz="1870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фиксируется</a:t>
            </a: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 в договоре на 90 дней</a:t>
            </a:r>
            <a:endParaRPr/>
          </a:p>
        </p:txBody>
      </p:sp>
      <p:sp>
        <p:nvSpPr>
          <p:cNvPr id="1663" name="Google Shape;1663;p88"/>
          <p:cNvSpPr txBox="1"/>
          <p:nvPr/>
        </p:nvSpPr>
        <p:spPr>
          <a:xfrm>
            <a:off x="307244" y="6644197"/>
            <a:ext cx="8529408" cy="437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Бронь $10 возвращается всегда, без единого вопроса · не возвращаем тому, кто купил и не открыл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3.jpg" id="1669" name="Google Shape;166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89"/>
          <p:cNvSpPr txBox="1"/>
          <p:nvPr/>
        </p:nvSpPr>
        <p:spPr>
          <a:xfrm>
            <a:off x="1132102" y="548540"/>
            <a:ext cx="3752355" cy="71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ПЕРВЫМ 20 БРОНЯМ ЭТОГО ЭФИРА · SILVER И GOLD</a:t>
            </a:r>
            <a:endParaRPr/>
          </a:p>
        </p:txBody>
      </p:sp>
      <p:sp>
        <p:nvSpPr>
          <p:cNvPr id="1671" name="Google Shape;1671;p89"/>
          <p:cNvSpPr txBox="1"/>
          <p:nvPr/>
        </p:nvSpPr>
        <p:spPr>
          <a:xfrm>
            <a:off x="1132099" y="1439575"/>
            <a:ext cx="50097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7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Готовый AI-охотник — в подарок</a:t>
            </a:r>
            <a:endParaRPr/>
          </a:p>
        </p:txBody>
      </p:sp>
      <p:sp>
        <p:nvSpPr>
          <p:cNvPr id="1672" name="Google Shape;1672;p89"/>
          <p:cNvSpPr txBox="1"/>
          <p:nvPr/>
        </p:nvSpPr>
        <p:spPr>
          <a:xfrm>
            <a:off x="1327848" y="3402492"/>
            <a:ext cx="3707529" cy="535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Идёт по картам и собирает бизнесы вашей ниши</a:t>
            </a:r>
            <a:endParaRPr/>
          </a:p>
        </p:txBody>
      </p:sp>
      <p:sp>
        <p:nvSpPr>
          <p:cNvPr id="1673" name="Google Shape;1673;p89"/>
          <p:cNvSpPr txBox="1"/>
          <p:nvPr/>
        </p:nvSpPr>
        <p:spPr>
          <a:xfrm>
            <a:off x="1327848" y="4061929"/>
            <a:ext cx="3212395" cy="286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Читает их сайты и отзывы</a:t>
            </a:r>
            <a:endParaRPr/>
          </a:p>
        </p:txBody>
      </p:sp>
      <p:sp>
        <p:nvSpPr>
          <p:cNvPr id="1674" name="Google Shape;1674;p89"/>
          <p:cNvSpPr txBox="1"/>
          <p:nvPr/>
        </p:nvSpPr>
        <p:spPr>
          <a:xfrm>
            <a:off x="1327848" y="4472786"/>
            <a:ext cx="4162039" cy="286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Отсеивает тех, кому вы не нужны</a:t>
            </a:r>
            <a:endParaRPr/>
          </a:p>
        </p:txBody>
      </p:sp>
      <p:sp>
        <p:nvSpPr>
          <p:cNvPr id="1675" name="Google Shape;1675;p89"/>
          <p:cNvSpPr txBox="1"/>
          <p:nvPr/>
        </p:nvSpPr>
        <p:spPr>
          <a:xfrm>
            <a:off x="1327848" y="4883643"/>
            <a:ext cx="2492115" cy="535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Подсказывает, кому что предложить</a:t>
            </a:r>
            <a:endParaRPr/>
          </a:p>
        </p:txBody>
      </p:sp>
      <p:sp>
        <p:nvSpPr>
          <p:cNvPr id="1676" name="Google Shape;1676;p89"/>
          <p:cNvSpPr txBox="1"/>
          <p:nvPr/>
        </p:nvSpPr>
        <p:spPr>
          <a:xfrm>
            <a:off x="1327848" y="5543080"/>
            <a:ext cx="3500640" cy="535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Пишет первое сообщение и ловит заказы в чатах</a:t>
            </a:r>
            <a:endParaRPr/>
          </a:p>
        </p:txBody>
      </p:sp>
      <p:sp>
        <p:nvSpPr>
          <p:cNvPr id="1677" name="Google Shape;1677;p89"/>
          <p:cNvSpPr txBox="1"/>
          <p:nvPr/>
        </p:nvSpPr>
        <p:spPr>
          <a:xfrm>
            <a:off x="1298550" y="8170896"/>
            <a:ext cx="1104024" cy="17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1678" name="Google Shape;1678;p89"/>
          <p:cNvSpPr txBox="1"/>
          <p:nvPr/>
        </p:nvSpPr>
        <p:spPr>
          <a:xfrm>
            <a:off x="2199317" y="8170896"/>
            <a:ext cx="752449" cy="17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20" u="none" cap="none" strike="noStrike">
                <a:solidFill>
                  <a:srgbClr val="FFB02E"/>
                </a:solidFill>
                <a:latin typeface="Unbounded"/>
                <a:ea typeface="Unbounded"/>
                <a:cs typeface="Unbounded"/>
                <a:sym typeface="Unbounded"/>
              </a:rPr>
              <a:t>$1.500</a:t>
            </a:r>
            <a:endParaRPr/>
          </a:p>
        </p:txBody>
      </p:sp>
      <p:sp>
        <p:nvSpPr>
          <p:cNvPr id="1679" name="Google Shape;1679;p89"/>
          <p:cNvSpPr txBox="1"/>
          <p:nvPr/>
        </p:nvSpPr>
        <p:spPr>
          <a:xfrm>
            <a:off x="2841573" y="8170896"/>
            <a:ext cx="1859437" cy="36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бесплатно первым 20</a:t>
            </a:r>
            <a:endParaRPr/>
          </a:p>
        </p:txBody>
      </p:sp>
      <p:sp>
        <p:nvSpPr>
          <p:cNvPr id="1680" name="Google Shape;1680;p89"/>
          <p:cNvSpPr txBox="1"/>
          <p:nvPr/>
        </p:nvSpPr>
        <p:spPr>
          <a:xfrm>
            <a:off x="5206608" y="2957174"/>
            <a:ext cx="3328345" cy="30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ПОИСК КЛИЕНТОВ · СТОМАТОЛОГИЯ, КИЕВ</a:t>
            </a:r>
            <a:endParaRPr/>
          </a:p>
        </p:txBody>
      </p:sp>
      <p:sp>
        <p:nvSpPr>
          <p:cNvPr id="1681" name="Google Shape;1681;p89"/>
          <p:cNvSpPr txBox="1"/>
          <p:nvPr/>
        </p:nvSpPr>
        <p:spPr>
          <a:xfrm>
            <a:off x="5160825" y="3369520"/>
            <a:ext cx="996377" cy="153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Собираю места</a:t>
            </a:r>
            <a:endParaRPr/>
          </a:p>
        </p:txBody>
      </p:sp>
      <p:sp>
        <p:nvSpPr>
          <p:cNvPr id="1682" name="Google Shape;1682;p89"/>
          <p:cNvSpPr txBox="1"/>
          <p:nvPr/>
        </p:nvSpPr>
        <p:spPr>
          <a:xfrm>
            <a:off x="6084136" y="3369520"/>
            <a:ext cx="960179" cy="153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Смотрю сайты</a:t>
            </a:r>
            <a:endParaRPr/>
          </a:p>
        </p:txBody>
      </p:sp>
      <p:sp>
        <p:nvSpPr>
          <p:cNvPr id="1683" name="Google Shape;1683;p89"/>
          <p:cNvSpPr txBox="1"/>
          <p:nvPr/>
        </p:nvSpPr>
        <p:spPr>
          <a:xfrm>
            <a:off x="6980831" y="3369520"/>
            <a:ext cx="960989" cy="153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Читаю отзывы</a:t>
            </a:r>
            <a:endParaRPr/>
          </a:p>
        </p:txBody>
      </p:sp>
      <p:sp>
        <p:nvSpPr>
          <p:cNvPr id="1684" name="Google Shape;1684;p89"/>
          <p:cNvSpPr txBox="1"/>
          <p:nvPr/>
        </p:nvSpPr>
        <p:spPr>
          <a:xfrm>
            <a:off x="5160825" y="3628528"/>
            <a:ext cx="960855" cy="153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Делаю выводы</a:t>
            </a:r>
            <a:endParaRPr/>
          </a:p>
        </p:txBody>
      </p:sp>
      <p:sp>
        <p:nvSpPr>
          <p:cNvPr id="1685" name="Google Shape;1685;p89"/>
          <p:cNvSpPr txBox="1"/>
          <p:nvPr/>
        </p:nvSpPr>
        <p:spPr>
          <a:xfrm>
            <a:off x="6058017" y="3653269"/>
            <a:ext cx="1056887" cy="153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3EA674"/>
                </a:solidFill>
                <a:latin typeface="Arial"/>
                <a:ea typeface="Arial"/>
                <a:cs typeface="Arial"/>
                <a:sym typeface="Arial"/>
              </a:rPr>
              <a:t>Готовлю письма</a:t>
            </a:r>
            <a:endParaRPr/>
          </a:p>
        </p:txBody>
      </p:sp>
      <p:sp>
        <p:nvSpPr>
          <p:cNvPr id="1686" name="Google Shape;1686;p89"/>
          <p:cNvSpPr txBox="1"/>
          <p:nvPr/>
        </p:nvSpPr>
        <p:spPr>
          <a:xfrm>
            <a:off x="5087731" y="3945534"/>
            <a:ext cx="1066611" cy="3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300</a:t>
            </a:r>
            <a:endParaRPr/>
          </a:p>
        </p:txBody>
      </p:sp>
      <p:sp>
        <p:nvSpPr>
          <p:cNvPr id="1687" name="Google Shape;1687;p89"/>
          <p:cNvSpPr txBox="1"/>
          <p:nvPr/>
        </p:nvSpPr>
        <p:spPr>
          <a:xfrm>
            <a:off x="5087731" y="4288660"/>
            <a:ext cx="766710" cy="29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посмотрел на картах</a:t>
            </a:r>
            <a:endParaRPr/>
          </a:p>
        </p:txBody>
      </p:sp>
      <p:sp>
        <p:nvSpPr>
          <p:cNvPr id="1688" name="Google Shape;1688;p89"/>
          <p:cNvSpPr txBox="1"/>
          <p:nvPr/>
        </p:nvSpPr>
        <p:spPr>
          <a:xfrm>
            <a:off x="6141638" y="3945534"/>
            <a:ext cx="1008938" cy="3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 u="none" cap="none" strike="noStrike">
                <a:solidFill>
                  <a:srgbClr val="4E5966"/>
                </a:solidFill>
                <a:latin typeface="Unbounded"/>
                <a:ea typeface="Unbounded"/>
                <a:cs typeface="Unbounded"/>
                <a:sym typeface="Unbounded"/>
              </a:rPr>
              <a:t>236</a:t>
            </a:r>
            <a:endParaRPr/>
          </a:p>
        </p:txBody>
      </p:sp>
      <p:sp>
        <p:nvSpPr>
          <p:cNvPr id="1689" name="Google Shape;1689;p89"/>
          <p:cNvSpPr txBox="1"/>
          <p:nvPr/>
        </p:nvSpPr>
        <p:spPr>
          <a:xfrm>
            <a:off x="6141638" y="4288660"/>
            <a:ext cx="796345" cy="16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не подошли</a:t>
            </a:r>
            <a:endParaRPr/>
          </a:p>
        </p:txBody>
      </p:sp>
      <p:sp>
        <p:nvSpPr>
          <p:cNvPr id="1690" name="Google Shape;1690;p89"/>
          <p:cNvSpPr txBox="1"/>
          <p:nvPr/>
        </p:nvSpPr>
        <p:spPr>
          <a:xfrm>
            <a:off x="7195545" y="3945534"/>
            <a:ext cx="688293" cy="3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64</a:t>
            </a:r>
            <a:endParaRPr/>
          </a:p>
        </p:txBody>
      </p:sp>
      <p:sp>
        <p:nvSpPr>
          <p:cNvPr id="1691" name="Google Shape;1691;p89"/>
          <p:cNvSpPr txBox="1"/>
          <p:nvPr/>
        </p:nvSpPr>
        <p:spPr>
          <a:xfrm>
            <a:off x="7195545" y="4288660"/>
            <a:ext cx="1138871" cy="16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4E5966"/>
                </a:solidFill>
                <a:latin typeface="Manrope"/>
                <a:ea typeface="Manrope"/>
                <a:cs typeface="Manrope"/>
                <a:sym typeface="Manrope"/>
              </a:rPr>
              <a:t>годятся в работу</a:t>
            </a:r>
            <a:endParaRPr/>
          </a:p>
        </p:txBody>
      </p:sp>
      <p:sp>
        <p:nvSpPr>
          <p:cNvPr id="1692" name="Google Shape;1692;p89"/>
          <p:cNvSpPr txBox="1"/>
          <p:nvPr/>
        </p:nvSpPr>
        <p:spPr>
          <a:xfrm>
            <a:off x="5158839" y="4961802"/>
            <a:ext cx="777841" cy="17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2F5F3"/>
                </a:solidFill>
                <a:latin typeface="Arial"/>
                <a:ea typeface="Arial"/>
                <a:cs typeface="Arial"/>
                <a:sym typeface="Arial"/>
              </a:rPr>
              <a:t>52 из 64</a:t>
            </a:r>
            <a:endParaRPr/>
          </a:p>
        </p:txBody>
      </p:sp>
      <p:sp>
        <p:nvSpPr>
          <p:cNvPr id="1693" name="Google Shape;1693;p89"/>
          <p:cNvSpPr txBox="1"/>
          <p:nvPr/>
        </p:nvSpPr>
        <p:spPr>
          <a:xfrm>
            <a:off x="5158839" y="5427778"/>
            <a:ext cx="777841" cy="172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F2F5F3"/>
                </a:solidFill>
                <a:latin typeface="Arial"/>
                <a:ea typeface="Arial"/>
                <a:cs typeface="Arial"/>
                <a:sym typeface="Arial"/>
              </a:rPr>
              <a:t>33 из 64</a:t>
            </a:r>
            <a:endParaRPr/>
          </a:p>
        </p:txBody>
      </p:sp>
      <p:sp>
        <p:nvSpPr>
          <p:cNvPr id="1694" name="Google Shape;1694;p89"/>
          <p:cNvSpPr txBox="1"/>
          <p:nvPr/>
        </p:nvSpPr>
        <p:spPr>
          <a:xfrm>
            <a:off x="5367296" y="5771102"/>
            <a:ext cx="3061615" cy="3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64 письма готовы · и 3 заказа из чатов сегодня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4.jpg" id="1700" name="Google Shape;170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90"/>
          <p:cNvSpPr txBox="1"/>
          <p:nvPr/>
        </p:nvSpPr>
        <p:spPr>
          <a:xfrm>
            <a:off x="731519" y="2080464"/>
            <a:ext cx="99084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КЕЙС</a:t>
            </a:r>
            <a:endParaRPr/>
          </a:p>
        </p:txBody>
      </p:sp>
      <p:sp>
        <p:nvSpPr>
          <p:cNvPr id="1702" name="Google Shape;1702;p90"/>
          <p:cNvSpPr txBox="1"/>
          <p:nvPr/>
        </p:nvSpPr>
        <p:spPr>
          <a:xfrm>
            <a:off x="731519" y="2470921"/>
            <a:ext cx="3393224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Аня, Германия</a:t>
            </a:r>
            <a:endParaRPr/>
          </a:p>
        </p:txBody>
      </p:sp>
      <p:sp>
        <p:nvSpPr>
          <p:cNvPr id="1703" name="Google Shape;1703;p90"/>
          <p:cNvSpPr txBox="1"/>
          <p:nvPr/>
        </p:nvSpPr>
        <p:spPr>
          <a:xfrm>
            <a:off x="731519" y="3754142"/>
            <a:ext cx="4679784" cy="173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 месяц на AI-SEO. Было: релокация, «я в тупике, не знаю, куда идти». Через 3 месяца — своя фирма в Германии и налоговый номер. Доступ отбила</a:t>
            </a:r>
            <a:endParaRPr/>
          </a:p>
        </p:txBody>
      </p:sp>
      <p:sp>
        <p:nvSpPr>
          <p:cNvPr id="1704" name="Google Shape;1704;p90"/>
          <p:cNvSpPr txBox="1"/>
          <p:nvPr/>
        </p:nvSpPr>
        <p:spPr>
          <a:xfrm>
            <a:off x="982265" y="5629274"/>
            <a:ext cx="4123258" cy="1101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«Я как на ракете стартанула. Открыла агентство, открыла фирму здесь, в Германии»</a:t>
            </a:r>
            <a:endParaRPr/>
          </a:p>
        </p:txBody>
      </p:sp>
      <p:sp>
        <p:nvSpPr>
          <p:cNvPr id="1705" name="Google Shape;1705;p90"/>
          <p:cNvSpPr txBox="1"/>
          <p:nvPr/>
        </p:nvSpPr>
        <p:spPr>
          <a:xfrm>
            <a:off x="731519" y="6874022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  <p:sp>
        <p:nvSpPr>
          <p:cNvPr id="1706" name="Google Shape;1706;p90"/>
          <p:cNvSpPr txBox="1"/>
          <p:nvPr/>
        </p:nvSpPr>
        <p:spPr>
          <a:xfrm>
            <a:off x="5097894" y="4851014"/>
            <a:ext cx="3314585" cy="188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 × $500</a:t>
            </a:r>
            <a:endParaRPr/>
          </a:p>
        </p:txBody>
      </p:sp>
      <p:sp>
        <p:nvSpPr>
          <p:cNvPr id="1707" name="Google Shape;1707;p90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5.jpg" id="1713" name="Google Shape;171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91"/>
          <p:cNvSpPr txBox="1"/>
          <p:nvPr/>
        </p:nvSpPr>
        <p:spPr>
          <a:xfrm>
            <a:off x="536409" y="2838415"/>
            <a:ext cx="807118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Я рискую десяткой. Команда рискует всем</a:t>
            </a:r>
            <a:endParaRPr/>
          </a:p>
        </p:txBody>
      </p:sp>
      <p:sp>
        <p:nvSpPr>
          <p:cNvPr id="1715" name="Google Shape;1715;p91"/>
          <p:cNvSpPr txBox="1"/>
          <p:nvPr/>
        </p:nvSpPr>
        <p:spPr>
          <a:xfrm>
            <a:off x="1841528" y="4267982"/>
            <a:ext cx="5460943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Ваш риск — $10, и те возвращаются</a:t>
            </a:r>
            <a:endParaRPr/>
          </a:p>
        </p:txBody>
      </p:sp>
      <p:sp>
        <p:nvSpPr>
          <p:cNvPr id="1716" name="Google Shape;1716;p91"/>
          <p:cNvSpPr txBox="1"/>
          <p:nvPr/>
        </p:nvSpPr>
        <p:spPr>
          <a:xfrm>
            <a:off x="1392234" y="5115171"/>
            <a:ext cx="5890772" cy="452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1717" name="Google Shape;1717;p91"/>
          <p:cNvSpPr txBox="1"/>
          <p:nvPr/>
        </p:nvSpPr>
        <p:spPr>
          <a:xfrm>
            <a:off x="1461115" y="6050858"/>
            <a:ext cx="62216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6.jpg" id="1723" name="Google Shape;172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92"/>
          <p:cNvSpPr txBox="1"/>
          <p:nvPr/>
        </p:nvSpPr>
        <p:spPr>
          <a:xfrm>
            <a:off x="2264397" y="2983229"/>
            <a:ext cx="4615205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Вы ни одного дня не один</a:t>
            </a:r>
            <a:endParaRPr/>
          </a:p>
        </p:txBody>
      </p:sp>
      <p:sp>
        <p:nvSpPr>
          <p:cNvPr id="1725" name="Google Shape;1725;p92"/>
          <p:cNvSpPr txBox="1"/>
          <p:nvPr/>
        </p:nvSpPr>
        <p:spPr>
          <a:xfrm>
            <a:off x="957466" y="4664868"/>
            <a:ext cx="1506457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Куратор</a:t>
            </a:r>
            <a:endParaRPr/>
          </a:p>
        </p:txBody>
      </p:sp>
      <p:sp>
        <p:nvSpPr>
          <p:cNvPr id="1726" name="Google Shape;1726;p92"/>
          <p:cNvSpPr txBox="1"/>
          <p:nvPr/>
        </p:nvSpPr>
        <p:spPr>
          <a:xfrm>
            <a:off x="957466" y="5005523"/>
            <a:ext cx="2035340" cy="57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проверяет каждый ваш шаг</a:t>
            </a:r>
            <a:endParaRPr/>
          </a:p>
        </p:txBody>
      </p:sp>
      <p:sp>
        <p:nvSpPr>
          <p:cNvPr id="1727" name="Google Shape;1727;p92"/>
          <p:cNvSpPr txBox="1"/>
          <p:nvPr/>
        </p:nvSpPr>
        <p:spPr>
          <a:xfrm>
            <a:off x="3578712" y="4664868"/>
            <a:ext cx="1297305" cy="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Живые разборы</a:t>
            </a:r>
            <a:endParaRPr/>
          </a:p>
        </p:txBody>
      </p:sp>
      <p:sp>
        <p:nvSpPr>
          <p:cNvPr id="1728" name="Google Shape;1728;p92"/>
          <p:cNvSpPr txBox="1"/>
          <p:nvPr/>
        </p:nvSpPr>
        <p:spPr>
          <a:xfrm>
            <a:off x="3578712" y="5303111"/>
            <a:ext cx="1735302" cy="57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приносите свой случай</a:t>
            </a:r>
            <a:endParaRPr/>
          </a:p>
        </p:txBody>
      </p:sp>
      <p:sp>
        <p:nvSpPr>
          <p:cNvPr id="1729" name="Google Shape;1729;p92"/>
          <p:cNvSpPr txBox="1"/>
          <p:nvPr/>
        </p:nvSpPr>
        <p:spPr>
          <a:xfrm>
            <a:off x="6199958" y="4664868"/>
            <a:ext cx="1957673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Чат потока</a:t>
            </a:r>
            <a:endParaRPr/>
          </a:p>
        </p:txBody>
      </p:sp>
      <p:sp>
        <p:nvSpPr>
          <p:cNvPr id="1730" name="Google Shape;1730;p92"/>
          <p:cNvSpPr txBox="1"/>
          <p:nvPr/>
        </p:nvSpPr>
        <p:spPr>
          <a:xfrm>
            <a:off x="6199958" y="5005523"/>
            <a:ext cx="1829028" cy="57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вопрос в 23:00 — ответ в 23:05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7.jpg" id="1736" name="Google Shape;173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93"/>
          <p:cNvSpPr txBox="1"/>
          <p:nvPr/>
        </p:nvSpPr>
        <p:spPr>
          <a:xfrm>
            <a:off x="731519" y="2161596"/>
            <a:ext cx="99084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КЕЙС</a:t>
            </a:r>
            <a:endParaRPr/>
          </a:p>
        </p:txBody>
      </p:sp>
      <p:sp>
        <p:nvSpPr>
          <p:cNvPr id="1738" name="Google Shape;1738;p93"/>
          <p:cNvSpPr txBox="1"/>
          <p:nvPr/>
        </p:nvSpPr>
        <p:spPr>
          <a:xfrm>
            <a:off x="731519" y="2552053"/>
            <a:ext cx="2603615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Антон</a:t>
            </a:r>
            <a:endParaRPr/>
          </a:p>
        </p:txBody>
      </p:sp>
      <p:sp>
        <p:nvSpPr>
          <p:cNvPr id="1739" name="Google Shape;1739;p93"/>
          <p:cNvSpPr txBox="1"/>
          <p:nvPr/>
        </p:nvSpPr>
        <p:spPr>
          <a:xfrm>
            <a:off x="731519" y="3302045"/>
            <a:ext cx="3272866" cy="1386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 два-три месяца. Было: в сайтах и SEO полный ноль, заказывал подрядчикам</a:t>
            </a:r>
            <a:endParaRPr/>
          </a:p>
        </p:txBody>
      </p:sp>
      <p:sp>
        <p:nvSpPr>
          <p:cNvPr id="1740" name="Google Shape;1740;p93"/>
          <p:cNvSpPr txBox="1"/>
          <p:nvPr/>
        </p:nvSpPr>
        <p:spPr>
          <a:xfrm>
            <a:off x="982265" y="4832440"/>
            <a:ext cx="2674848" cy="18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«Мне пришло два человека. Это не сильно много — но учитывая, что я в этом ноль…»</a:t>
            </a:r>
            <a:endParaRPr/>
          </a:p>
        </p:txBody>
      </p:sp>
      <p:sp>
        <p:nvSpPr>
          <p:cNvPr id="1741" name="Google Shape;1741;p93"/>
          <p:cNvSpPr txBox="1"/>
          <p:nvPr/>
        </p:nvSpPr>
        <p:spPr>
          <a:xfrm>
            <a:off x="731519" y="6792991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  <p:sp>
        <p:nvSpPr>
          <p:cNvPr id="1742" name="Google Shape;1742;p93"/>
          <p:cNvSpPr txBox="1"/>
          <p:nvPr/>
        </p:nvSpPr>
        <p:spPr>
          <a:xfrm>
            <a:off x="3605707" y="3644128"/>
            <a:ext cx="4806772" cy="188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$1.800–$2.000</a:t>
            </a:r>
            <a:endParaRPr/>
          </a:p>
        </p:txBody>
      </p:sp>
      <p:sp>
        <p:nvSpPr>
          <p:cNvPr id="1743" name="Google Shape;1743;p93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8.jpg" id="1749" name="Google Shape;174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94"/>
          <p:cNvSpPr txBox="1"/>
          <p:nvPr/>
        </p:nvSpPr>
        <p:spPr>
          <a:xfrm>
            <a:off x="1037170" y="2700439"/>
            <a:ext cx="6768845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Это не ещё одна информация</a:t>
            </a:r>
            <a:endParaRPr/>
          </a:p>
        </p:txBody>
      </p:sp>
      <p:sp>
        <p:nvSpPr>
          <p:cNvPr id="1751" name="Google Shape;1751;p94"/>
          <p:cNvSpPr txBox="1"/>
          <p:nvPr/>
        </p:nvSpPr>
        <p:spPr>
          <a:xfrm>
            <a:off x="1037170" y="4242469"/>
            <a:ext cx="5405132" cy="125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У вас уже полсотни сохранённых роликов про нейронки. Пятьдесят первый ничего не изменит</a:t>
            </a:r>
            <a:endParaRPr/>
          </a:p>
        </p:txBody>
      </p:sp>
      <p:sp>
        <p:nvSpPr>
          <p:cNvPr id="1752" name="Google Shape;1752;p94"/>
          <p:cNvSpPr txBox="1"/>
          <p:nvPr/>
        </p:nvSpPr>
        <p:spPr>
          <a:xfrm>
            <a:off x="1037170" y="5708264"/>
            <a:ext cx="5340553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Нужны агенты в руках и человек, который проверит ваш первый заказ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9.jpg" id="1758" name="Google Shape;175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95"/>
          <p:cNvSpPr txBox="1"/>
          <p:nvPr/>
        </p:nvSpPr>
        <p:spPr>
          <a:xfrm>
            <a:off x="731519" y="2691867"/>
            <a:ext cx="99084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КЕЙС</a:t>
            </a:r>
            <a:endParaRPr/>
          </a:p>
        </p:txBody>
      </p:sp>
      <p:sp>
        <p:nvSpPr>
          <p:cNvPr id="1760" name="Google Shape;1760;p95"/>
          <p:cNvSpPr txBox="1"/>
          <p:nvPr/>
        </p:nvSpPr>
        <p:spPr>
          <a:xfrm>
            <a:off x="731519" y="3082324"/>
            <a:ext cx="1925612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Юра</a:t>
            </a:r>
            <a:endParaRPr/>
          </a:p>
        </p:txBody>
      </p:sp>
      <p:sp>
        <p:nvSpPr>
          <p:cNvPr id="1761" name="Google Shape;1761;p95"/>
          <p:cNvSpPr txBox="1"/>
          <p:nvPr/>
        </p:nvSpPr>
        <p:spPr>
          <a:xfrm>
            <a:off x="731519" y="3832315"/>
            <a:ext cx="4435983" cy="104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От идеи до денег в кассе. Было: ни ниши, ни имени — просто решил начать</a:t>
            </a:r>
            <a:endParaRPr/>
          </a:p>
        </p:txBody>
      </p:sp>
      <p:sp>
        <p:nvSpPr>
          <p:cNvPr id="1762" name="Google Shape;1762;p95"/>
          <p:cNvSpPr txBox="1"/>
          <p:nvPr/>
        </p:nvSpPr>
        <p:spPr>
          <a:xfrm>
            <a:off x="982265" y="5017974"/>
            <a:ext cx="4325226" cy="1101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9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«Я даже не понял, как это произошло — просто делал по схеме»</a:t>
            </a:r>
            <a:endParaRPr/>
          </a:p>
        </p:txBody>
      </p:sp>
      <p:sp>
        <p:nvSpPr>
          <p:cNvPr id="1763" name="Google Shape;1763;p95"/>
          <p:cNvSpPr txBox="1"/>
          <p:nvPr/>
        </p:nvSpPr>
        <p:spPr>
          <a:xfrm>
            <a:off x="731519" y="6262721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  <p:sp>
        <p:nvSpPr>
          <p:cNvPr id="1764" name="Google Shape;1764;p95"/>
          <p:cNvSpPr txBox="1"/>
          <p:nvPr/>
        </p:nvSpPr>
        <p:spPr>
          <a:xfrm>
            <a:off x="4298798" y="4039484"/>
            <a:ext cx="4113681" cy="1090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 дня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0.jpg" id="1770" name="Google Shape;177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96"/>
          <p:cNvSpPr txBox="1"/>
          <p:nvPr/>
        </p:nvSpPr>
        <p:spPr>
          <a:xfrm>
            <a:off x="572763" y="3166212"/>
            <a:ext cx="7998371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Результат раньше, чем вы успеете бросить</a:t>
            </a:r>
            <a:endParaRPr/>
          </a:p>
        </p:txBody>
      </p:sp>
      <p:sp>
        <p:nvSpPr>
          <p:cNvPr id="1772" name="Google Shape;1772;p96"/>
          <p:cNvSpPr txBox="1"/>
          <p:nvPr/>
        </p:nvSpPr>
        <p:spPr>
          <a:xfrm>
            <a:off x="1394009" y="4787494"/>
            <a:ext cx="5887484" cy="45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1773" name="Google Shape;1773;p96"/>
          <p:cNvSpPr txBox="1"/>
          <p:nvPr/>
        </p:nvSpPr>
        <p:spPr>
          <a:xfrm>
            <a:off x="1461115" y="5723062"/>
            <a:ext cx="62216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1.jpg" id="1779" name="Google Shape;177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97"/>
          <p:cNvSpPr txBox="1"/>
          <p:nvPr/>
        </p:nvSpPr>
        <p:spPr>
          <a:xfrm>
            <a:off x="400741" y="1304856"/>
            <a:ext cx="8342414" cy="9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Если бы это навсегда закрыло вопрос «где брать клиентов»</a:t>
            </a:r>
            <a:endParaRPr/>
          </a:p>
        </p:txBody>
      </p:sp>
      <p:sp>
        <p:nvSpPr>
          <p:cNvPr id="1781" name="Google Shape;1781;p97"/>
          <p:cNvSpPr txBox="1"/>
          <p:nvPr/>
        </p:nvSpPr>
        <p:spPr>
          <a:xfrm>
            <a:off x="2773818" y="2611142"/>
            <a:ext cx="3596261" cy="404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4–12 сайтов в месяц</a:t>
            </a:r>
            <a:endParaRPr/>
          </a:p>
        </p:txBody>
      </p:sp>
      <p:sp>
        <p:nvSpPr>
          <p:cNvPr id="1782" name="Google Shape;1782;p97"/>
          <p:cNvSpPr txBox="1"/>
          <p:nvPr/>
        </p:nvSpPr>
        <p:spPr>
          <a:xfrm>
            <a:off x="3780621" y="3863135"/>
            <a:ext cx="1582654" cy="404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чек $250</a:t>
            </a:r>
            <a:endParaRPr/>
          </a:p>
        </p:txBody>
      </p:sp>
      <p:sp>
        <p:nvSpPr>
          <p:cNvPr id="1783" name="Google Shape;1783;p97"/>
          <p:cNvSpPr txBox="1"/>
          <p:nvPr/>
        </p:nvSpPr>
        <p:spPr>
          <a:xfrm>
            <a:off x="2528728" y="5115129"/>
            <a:ext cx="4086339" cy="404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$1.000–$3.000 в месяц</a:t>
            </a:r>
            <a:endParaRPr/>
          </a:p>
        </p:txBody>
      </p:sp>
      <p:sp>
        <p:nvSpPr>
          <p:cNvPr id="1784" name="Google Shape;1784;p97"/>
          <p:cNvSpPr txBox="1"/>
          <p:nvPr/>
        </p:nvSpPr>
        <p:spPr>
          <a:xfrm>
            <a:off x="731519" y="6463869"/>
            <a:ext cx="2655523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Только на сайтах</a:t>
            </a:r>
            <a:endParaRPr/>
          </a:p>
        </p:txBody>
      </p:sp>
      <p:sp>
        <p:nvSpPr>
          <p:cNvPr id="1785" name="Google Shape;1785;p97"/>
          <p:cNvSpPr txBox="1"/>
          <p:nvPr/>
        </p:nvSpPr>
        <p:spPr>
          <a:xfrm>
            <a:off x="5680077" y="6483463"/>
            <a:ext cx="3149209" cy="32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$1.000–$3.000</a:t>
            </a:r>
            <a:endParaRPr/>
          </a:p>
        </p:txBody>
      </p:sp>
      <p:sp>
        <p:nvSpPr>
          <p:cNvPr id="1786" name="Google Shape;1786;p97"/>
          <p:cNvSpPr txBox="1"/>
          <p:nvPr/>
        </p:nvSpPr>
        <p:spPr>
          <a:xfrm>
            <a:off x="1705933" y="7123543"/>
            <a:ext cx="5732030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На старте это только сайты — одна услуга из семи. Сколько бы это стоило?</a:t>
            </a:r>
            <a:endParaRPr/>
          </a:p>
        </p:txBody>
      </p:sp>
      <p:sp>
        <p:nvSpPr>
          <p:cNvPr id="1787" name="Google Shape;1787;p97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2.jpg" id="1793" name="Google Shape;1793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98"/>
          <p:cNvSpPr txBox="1"/>
          <p:nvPr/>
        </p:nvSpPr>
        <p:spPr>
          <a:xfrm>
            <a:off x="731519" y="5636520"/>
            <a:ext cx="6637074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Я не особенный</a:t>
            </a:r>
            <a:endParaRPr/>
          </a:p>
        </p:txBody>
      </p:sp>
      <p:sp>
        <p:nvSpPr>
          <p:cNvPr id="1795" name="Google Shape;1795;p98"/>
          <p:cNvSpPr txBox="1"/>
          <p:nvPr/>
        </p:nvSpPr>
        <p:spPr>
          <a:xfrm>
            <a:off x="731519" y="6423149"/>
            <a:ext cx="6153683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Я полгода сидел по 50 часов в неделю, чтобы агенты заработали</a:t>
            </a:r>
            <a:endParaRPr/>
          </a:p>
        </p:txBody>
      </p:sp>
      <p:sp>
        <p:nvSpPr>
          <p:cNvPr id="1796" name="Google Shape;1796;p98"/>
          <p:cNvSpPr txBox="1"/>
          <p:nvPr/>
        </p:nvSpPr>
        <p:spPr>
          <a:xfrm>
            <a:off x="731519" y="7455217"/>
            <a:ext cx="5950915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Разница в том, что вам эти полгода проходить не надо — агенты уже собраны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3.jpg" id="1802" name="Google Shape;1802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99"/>
          <p:cNvSpPr txBox="1"/>
          <p:nvPr/>
        </p:nvSpPr>
        <p:spPr>
          <a:xfrm>
            <a:off x="3338982" y="2291510"/>
            <a:ext cx="2465932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СЦЕНАРИЙ А</a:t>
            </a:r>
            <a:endParaRPr/>
          </a:p>
        </p:txBody>
      </p:sp>
      <p:sp>
        <p:nvSpPr>
          <p:cNvPr id="1804" name="Google Shape;1804;p99"/>
          <p:cNvSpPr txBox="1"/>
          <p:nvPr/>
        </p:nvSpPr>
        <p:spPr>
          <a:xfrm>
            <a:off x="844579" y="2791777"/>
            <a:ext cx="7454841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Закрыть вкладку</a:t>
            </a:r>
            <a:endParaRPr/>
          </a:p>
        </p:txBody>
      </p:sp>
      <p:sp>
        <p:nvSpPr>
          <p:cNvPr id="1805" name="Google Shape;1805;p99"/>
          <p:cNvSpPr txBox="1"/>
          <p:nvPr/>
        </p:nvSpPr>
        <p:spPr>
          <a:xfrm>
            <a:off x="2771905" y="3770369"/>
            <a:ext cx="3234428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Сегодня — «подумаю»</a:t>
            </a:r>
            <a:endParaRPr/>
          </a:p>
        </p:txBody>
      </p:sp>
      <p:sp>
        <p:nvSpPr>
          <p:cNvPr id="1806" name="Google Shape;1806;p99"/>
          <p:cNvSpPr txBox="1"/>
          <p:nvPr/>
        </p:nvSpPr>
        <p:spPr>
          <a:xfrm>
            <a:off x="1251448" y="4449433"/>
            <a:ext cx="6275241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Эта неделя — ещё три ролика про нейронки</a:t>
            </a:r>
            <a:endParaRPr/>
          </a:p>
        </p:txBody>
      </p:sp>
      <p:sp>
        <p:nvSpPr>
          <p:cNvPr id="1807" name="Google Shape;1807;p99"/>
          <p:cNvSpPr txBox="1"/>
          <p:nvPr/>
        </p:nvSpPr>
        <p:spPr>
          <a:xfrm>
            <a:off x="2467255" y="5128498"/>
            <a:ext cx="3843729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Этот месяц — всё как было</a:t>
            </a:r>
            <a:endParaRPr/>
          </a:p>
        </p:txBody>
      </p:sp>
      <p:sp>
        <p:nvSpPr>
          <p:cNvPr id="1808" name="Google Shape;1808;p99"/>
          <p:cNvSpPr txBox="1"/>
          <p:nvPr/>
        </p:nvSpPr>
        <p:spPr>
          <a:xfrm>
            <a:off x="2108010" y="5807562"/>
            <a:ext cx="4927979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Через год — на год старше, там же</a:t>
            </a:r>
            <a:endParaRPr/>
          </a:p>
        </p:txBody>
      </p:sp>
      <p:sp>
        <p:nvSpPr>
          <p:cNvPr id="1809" name="Google Shape;1809;p99"/>
          <p:cNvSpPr txBox="1"/>
          <p:nvPr/>
        </p:nvSpPr>
        <p:spPr>
          <a:xfrm>
            <a:off x="2808914" y="6514181"/>
            <a:ext cx="3526171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Стоит $0. И стоит года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4.jpg" id="1815" name="Google Shape;181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00"/>
          <p:cNvSpPr txBox="1"/>
          <p:nvPr/>
        </p:nvSpPr>
        <p:spPr>
          <a:xfrm>
            <a:off x="3346597" y="2631043"/>
            <a:ext cx="245080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СЦЕНАРИЙ Б</a:t>
            </a:r>
            <a:endParaRPr/>
          </a:p>
        </p:txBody>
      </p:sp>
      <p:sp>
        <p:nvSpPr>
          <p:cNvPr id="1817" name="Google Shape;1817;p100"/>
          <p:cNvSpPr txBox="1"/>
          <p:nvPr/>
        </p:nvSpPr>
        <p:spPr>
          <a:xfrm>
            <a:off x="1242655" y="3131309"/>
            <a:ext cx="6658587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Начать сегодня</a:t>
            </a:r>
            <a:endParaRPr/>
          </a:p>
        </p:txBody>
      </p:sp>
      <p:sp>
        <p:nvSpPr>
          <p:cNvPr id="1818" name="Google Shape;1818;p100"/>
          <p:cNvSpPr txBox="1"/>
          <p:nvPr/>
        </p:nvSpPr>
        <p:spPr>
          <a:xfrm>
            <a:off x="1087409" y="4109901"/>
            <a:ext cx="2720895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Сегодня бронь $10</a:t>
            </a:r>
            <a:endParaRPr/>
          </a:p>
        </p:txBody>
      </p:sp>
      <p:sp>
        <p:nvSpPr>
          <p:cNvPr id="1819" name="Google Shape;1819;p100"/>
          <p:cNvSpPr txBox="1"/>
          <p:nvPr/>
        </p:nvSpPr>
        <p:spPr>
          <a:xfrm>
            <a:off x="3908284" y="4109901"/>
            <a:ext cx="3944492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Эта неделя — первый агент</a:t>
            </a:r>
            <a:endParaRPr/>
          </a:p>
        </p:txBody>
      </p:sp>
      <p:sp>
        <p:nvSpPr>
          <p:cNvPr id="1820" name="Google Shape;1820;p100"/>
          <p:cNvSpPr txBox="1"/>
          <p:nvPr/>
        </p:nvSpPr>
        <p:spPr>
          <a:xfrm>
            <a:off x="2314879" y="4788965"/>
            <a:ext cx="4148379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Этот месяц — первый клиент</a:t>
            </a:r>
            <a:endParaRPr/>
          </a:p>
        </p:txBody>
      </p:sp>
      <p:sp>
        <p:nvSpPr>
          <p:cNvPr id="1821" name="Google Shape;1821;p100"/>
          <p:cNvSpPr txBox="1"/>
          <p:nvPr/>
        </p:nvSpPr>
        <p:spPr>
          <a:xfrm>
            <a:off x="2283028" y="5468030"/>
            <a:ext cx="4577943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Полгода — второе направление</a:t>
            </a:r>
            <a:endParaRPr/>
          </a:p>
        </p:txBody>
      </p:sp>
      <p:sp>
        <p:nvSpPr>
          <p:cNvPr id="1822" name="Google Shape;1822;p100"/>
          <p:cNvSpPr txBox="1"/>
          <p:nvPr/>
        </p:nvSpPr>
        <p:spPr>
          <a:xfrm>
            <a:off x="1491353" y="6174649"/>
            <a:ext cx="6161292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Вторая история стоит десять долларов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5.jpg" id="1828" name="Google Shape;18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101"/>
          <p:cNvSpPr txBox="1"/>
          <p:nvPr/>
        </p:nvSpPr>
        <p:spPr>
          <a:xfrm>
            <a:off x="1120482" y="2093424"/>
            <a:ext cx="6903034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Между ними 33 года. Система одна</a:t>
            </a:r>
            <a:endParaRPr/>
          </a:p>
        </p:txBody>
      </p:sp>
      <p:sp>
        <p:nvSpPr>
          <p:cNvPr id="1830" name="Google Shape;1830;p101"/>
          <p:cNvSpPr txBox="1"/>
          <p:nvPr/>
        </p:nvSpPr>
        <p:spPr>
          <a:xfrm>
            <a:off x="1012371" y="3797311"/>
            <a:ext cx="1794036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САША, 14</a:t>
            </a:r>
            <a:endParaRPr/>
          </a:p>
        </p:txBody>
      </p:sp>
      <p:sp>
        <p:nvSpPr>
          <p:cNvPr id="1831" name="Google Shape;1831;p101"/>
          <p:cNvSpPr txBox="1"/>
          <p:nvPr/>
        </p:nvSpPr>
        <p:spPr>
          <a:xfrm>
            <a:off x="1231786" y="4214200"/>
            <a:ext cx="2933942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$300 за выходные</a:t>
            </a:r>
            <a:endParaRPr/>
          </a:p>
        </p:txBody>
      </p:sp>
      <p:sp>
        <p:nvSpPr>
          <p:cNvPr id="1832" name="Google Shape;1832;p101"/>
          <p:cNvSpPr txBox="1"/>
          <p:nvPr/>
        </p:nvSpPr>
        <p:spPr>
          <a:xfrm>
            <a:off x="1231786" y="4786312"/>
            <a:ext cx="3163366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Сейчас $1.500–$3.000 в месяц</a:t>
            </a:r>
            <a:endParaRPr/>
          </a:p>
        </p:txBody>
      </p:sp>
      <p:sp>
        <p:nvSpPr>
          <p:cNvPr id="1833" name="Google Shape;1833;p101"/>
          <p:cNvSpPr txBox="1"/>
          <p:nvPr/>
        </p:nvSpPr>
        <p:spPr>
          <a:xfrm>
            <a:off x="1231786" y="5679281"/>
            <a:ext cx="3091749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Ему не мешал опыт</a:t>
            </a:r>
            <a:endParaRPr/>
          </a:p>
        </p:txBody>
      </p:sp>
      <p:sp>
        <p:nvSpPr>
          <p:cNvPr id="1834" name="Google Shape;1834;p101"/>
          <p:cNvSpPr txBox="1"/>
          <p:nvPr/>
        </p:nvSpPr>
        <p:spPr>
          <a:xfrm>
            <a:off x="4962559" y="3797311"/>
            <a:ext cx="2382934" cy="241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НАТАЛЬЯ, 47</a:t>
            </a:r>
            <a:endParaRPr/>
          </a:p>
        </p:txBody>
      </p:sp>
      <p:sp>
        <p:nvSpPr>
          <p:cNvPr id="1835" name="Google Shape;1835;p101"/>
          <p:cNvSpPr txBox="1"/>
          <p:nvPr/>
        </p:nvSpPr>
        <p:spPr>
          <a:xfrm>
            <a:off x="5181974" y="4214200"/>
            <a:ext cx="3177662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$300 на пятый день</a:t>
            </a:r>
            <a:endParaRPr/>
          </a:p>
        </p:txBody>
      </p:sp>
      <p:sp>
        <p:nvSpPr>
          <p:cNvPr id="1836" name="Google Shape;1836;p101"/>
          <p:cNvSpPr txBox="1"/>
          <p:nvPr/>
        </p:nvSpPr>
        <p:spPr>
          <a:xfrm>
            <a:off x="5181974" y="4786312"/>
            <a:ext cx="194470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 клиента на обслуживании</a:t>
            </a:r>
            <a:endParaRPr/>
          </a:p>
        </p:txBody>
      </p:sp>
      <p:sp>
        <p:nvSpPr>
          <p:cNvPr id="1837" name="Google Shape;1837;p101"/>
          <p:cNvSpPr txBox="1"/>
          <p:nvPr/>
        </p:nvSpPr>
        <p:spPr>
          <a:xfrm>
            <a:off x="5181974" y="5679281"/>
            <a:ext cx="2317840" cy="35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9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Ей опыт помог</a:t>
            </a:r>
            <a:endParaRPr/>
          </a:p>
        </p:txBody>
      </p:sp>
      <p:sp>
        <p:nvSpPr>
          <p:cNvPr id="1838" name="Google Shape;1838;p101"/>
          <p:cNvSpPr txBox="1"/>
          <p:nvPr/>
        </p:nvSpPr>
        <p:spPr>
          <a:xfrm>
            <a:off x="2405323" y="6666547"/>
            <a:ext cx="4333251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</a:t>
            </a:r>
            <a:endParaRPr/>
          </a:p>
        </p:txBody>
      </p:sp>
      <p:sp>
        <p:nvSpPr>
          <p:cNvPr id="1839" name="Google Shape;1839;p101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6.jpg" id="1845" name="Google Shape;184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102"/>
          <p:cNvSpPr txBox="1"/>
          <p:nvPr/>
        </p:nvSpPr>
        <p:spPr>
          <a:xfrm>
            <a:off x="1931784" y="2666047"/>
            <a:ext cx="5280431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Выберите свой сценарий</a:t>
            </a:r>
            <a:endParaRPr/>
          </a:p>
        </p:txBody>
      </p:sp>
      <p:sp>
        <p:nvSpPr>
          <p:cNvPr id="1847" name="Google Shape;1847;p102"/>
          <p:cNvSpPr txBox="1"/>
          <p:nvPr/>
        </p:nvSpPr>
        <p:spPr>
          <a:xfrm>
            <a:off x="1615179" y="4095613"/>
            <a:ext cx="5913539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Кто начинает сегодня — напишите «начинаю» в чат</a:t>
            </a:r>
            <a:endParaRPr/>
          </a:p>
        </p:txBody>
      </p:sp>
      <p:sp>
        <p:nvSpPr>
          <p:cNvPr id="1848" name="Google Shape;1848;p102"/>
          <p:cNvSpPr txBox="1"/>
          <p:nvPr/>
        </p:nvSpPr>
        <p:spPr>
          <a:xfrm>
            <a:off x="1392844" y="5287580"/>
            <a:ext cx="5889643" cy="452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1849" name="Google Shape;1849;p102"/>
          <p:cNvSpPr txBox="1"/>
          <p:nvPr/>
        </p:nvSpPr>
        <p:spPr>
          <a:xfrm>
            <a:off x="1461115" y="6223226"/>
            <a:ext cx="62216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7.jpg" id="1855" name="Google Shape;185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03"/>
          <p:cNvSpPr txBox="1"/>
          <p:nvPr/>
        </p:nvSpPr>
        <p:spPr>
          <a:xfrm>
            <a:off x="1417256" y="1635204"/>
            <a:ext cx="6309384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ЕСЛИ У ВАС УЖЕ ЕСТЬ БИЗНЕС</a:t>
            </a:r>
            <a:endParaRPr/>
          </a:p>
        </p:txBody>
      </p:sp>
      <p:sp>
        <p:nvSpPr>
          <p:cNvPr id="1857" name="Google Shape;1857;p103"/>
          <p:cNvSpPr txBox="1"/>
          <p:nvPr/>
        </p:nvSpPr>
        <p:spPr>
          <a:xfrm>
            <a:off x="1426235" y="2044030"/>
            <a:ext cx="6291529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Не хотите учиться сами — поставим агентов под ключ</a:t>
            </a:r>
            <a:endParaRPr/>
          </a:p>
        </p:txBody>
      </p:sp>
      <p:sp>
        <p:nvSpPr>
          <p:cNvPr id="1858" name="Google Shape;1858;p103"/>
          <p:cNvSpPr txBox="1"/>
          <p:nvPr/>
        </p:nvSpPr>
        <p:spPr>
          <a:xfrm>
            <a:off x="957466" y="4167459"/>
            <a:ext cx="2165184" cy="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01 · Разбираем бизнес</a:t>
            </a:r>
            <a:endParaRPr/>
          </a:p>
        </p:txBody>
      </p:sp>
      <p:sp>
        <p:nvSpPr>
          <p:cNvPr id="1859" name="Google Shape;1859;p103"/>
          <p:cNvSpPr txBox="1"/>
          <p:nvPr/>
        </p:nvSpPr>
        <p:spPr>
          <a:xfrm>
            <a:off x="3578712" y="4167459"/>
            <a:ext cx="1926526" cy="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02 · Ставим семь агентов</a:t>
            </a:r>
            <a:endParaRPr/>
          </a:p>
        </p:txBody>
      </p:sp>
      <p:sp>
        <p:nvSpPr>
          <p:cNvPr id="1860" name="Google Shape;1860;p103"/>
          <p:cNvSpPr txBox="1"/>
          <p:nvPr/>
        </p:nvSpPr>
        <p:spPr>
          <a:xfrm>
            <a:off x="6199958" y="4167459"/>
            <a:ext cx="2080374" cy="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03 · Передаём команде</a:t>
            </a:r>
            <a:endParaRPr/>
          </a:p>
        </p:txBody>
      </p:sp>
      <p:sp>
        <p:nvSpPr>
          <p:cNvPr id="1861" name="Google Shape;1861;p103"/>
          <p:cNvSpPr txBox="1"/>
          <p:nvPr/>
        </p:nvSpPr>
        <p:spPr>
          <a:xfrm>
            <a:off x="2403353" y="6272008"/>
            <a:ext cx="28113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ЦЕНА ВНЕДРЕНИЯ</a:t>
            </a:r>
            <a:endParaRPr/>
          </a:p>
        </p:txBody>
      </p:sp>
      <p:sp>
        <p:nvSpPr>
          <p:cNvPr id="1862" name="Google Shape;1862;p103"/>
          <p:cNvSpPr txBox="1"/>
          <p:nvPr/>
        </p:nvSpPr>
        <p:spPr>
          <a:xfrm>
            <a:off x="4090748" y="6231467"/>
            <a:ext cx="3123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от $10.000</a:t>
            </a:r>
            <a:endParaRPr/>
          </a:p>
        </p:txBody>
      </p:sp>
      <p:sp>
        <p:nvSpPr>
          <p:cNvPr id="1863" name="Google Shape;1863;p103"/>
          <p:cNvSpPr txBox="1"/>
          <p:nvPr/>
        </p:nvSpPr>
        <p:spPr>
          <a:xfrm>
            <a:off x="1633016" y="6825853"/>
            <a:ext cx="5877763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Просто оплатите бронь $10 — и забронируете бесплатный созвон без очереди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8.jpg" id="1869" name="Google Shape;186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70" name="Google Shape;1870;p104"/>
          <p:cNvSpPr txBox="1"/>
          <p:nvPr/>
        </p:nvSpPr>
        <p:spPr>
          <a:xfrm>
            <a:off x="1460819" y="1112792"/>
            <a:ext cx="6222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ПОД КЛЮЧ · НАШИ ВНЕДРЕНИЯ</a:t>
            </a:r>
            <a:endParaRPr/>
          </a:p>
        </p:txBody>
      </p:sp>
      <p:sp>
        <p:nvSpPr>
          <p:cNvPr id="1871" name="Google Shape;1871;p104"/>
          <p:cNvSpPr txBox="1"/>
          <p:nvPr/>
        </p:nvSpPr>
        <p:spPr>
          <a:xfrm>
            <a:off x="863885" y="1521618"/>
            <a:ext cx="74160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мы уже поставили бизнесам</a:t>
            </a:r>
            <a:endParaRPr/>
          </a:p>
        </p:txBody>
      </p:sp>
      <p:sp>
        <p:nvSpPr>
          <p:cNvPr id="1872" name="Google Shape;1872;p104"/>
          <p:cNvSpPr txBox="1"/>
          <p:nvPr/>
        </p:nvSpPr>
        <p:spPr>
          <a:xfrm>
            <a:off x="838574" y="4700587"/>
            <a:ext cx="1018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MAESTA</a:t>
            </a:r>
            <a:endParaRPr/>
          </a:p>
        </p:txBody>
      </p:sp>
      <p:sp>
        <p:nvSpPr>
          <p:cNvPr id="1873" name="Google Shape;1873;p104"/>
          <p:cNvSpPr txBox="1"/>
          <p:nvPr/>
        </p:nvSpPr>
        <p:spPr>
          <a:xfrm>
            <a:off x="838574" y="4918063"/>
            <a:ext cx="27324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клиника лазерных технологий</a:t>
            </a:r>
            <a:endParaRPr/>
          </a:p>
        </p:txBody>
      </p:sp>
      <p:sp>
        <p:nvSpPr>
          <p:cNvPr id="1874" name="Google Shape;1874;p104"/>
          <p:cNvSpPr txBox="1"/>
          <p:nvPr/>
        </p:nvSpPr>
        <p:spPr>
          <a:xfrm>
            <a:off x="997675" y="5233103"/>
            <a:ext cx="988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клиники и кампания по возврату базы пациентов</a:t>
            </a:r>
            <a:endParaRPr/>
          </a:p>
        </p:txBody>
      </p:sp>
      <p:sp>
        <p:nvSpPr>
          <p:cNvPr id="1875" name="Google Shape;1875;p104"/>
          <p:cNvSpPr txBox="1"/>
          <p:nvPr/>
        </p:nvSpPr>
        <p:spPr>
          <a:xfrm>
            <a:off x="838574" y="6267824"/>
            <a:ext cx="17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база 3.500 человек</a:t>
            </a:r>
            <a:endParaRPr/>
          </a:p>
        </p:txBody>
      </p:sp>
      <p:sp>
        <p:nvSpPr>
          <p:cNvPr id="1876" name="Google Shape;1876;p104"/>
          <p:cNvSpPr txBox="1"/>
          <p:nvPr/>
        </p:nvSpPr>
        <p:spPr>
          <a:xfrm>
            <a:off x="3438490" y="4433207"/>
            <a:ext cx="1784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L.K. Bauservice</a:t>
            </a:r>
            <a:endParaRPr/>
          </a:p>
        </p:txBody>
      </p:sp>
      <p:sp>
        <p:nvSpPr>
          <p:cNvPr id="1877" name="Google Shape;1877;p104"/>
          <p:cNvSpPr txBox="1"/>
          <p:nvPr/>
        </p:nvSpPr>
        <p:spPr>
          <a:xfrm>
            <a:off x="3438490" y="4650683"/>
            <a:ext cx="23208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строительство, Германия</a:t>
            </a:r>
            <a:endParaRPr/>
          </a:p>
        </p:txBody>
      </p:sp>
      <p:sp>
        <p:nvSpPr>
          <p:cNvPr id="1878" name="Google Shape;1878;p104"/>
          <p:cNvSpPr txBox="1"/>
          <p:nvPr/>
        </p:nvSpPr>
        <p:spPr>
          <a:xfrm>
            <a:off x="3597592" y="4965722"/>
            <a:ext cx="988800" cy="14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воронка найма: лендинг и анкета, которая сама отбирает кандидатов</a:t>
            </a:r>
            <a:endParaRPr/>
          </a:p>
        </p:txBody>
      </p:sp>
      <p:sp>
        <p:nvSpPr>
          <p:cNvPr id="1879" name="Google Shape;1879;p104"/>
          <p:cNvSpPr txBox="1"/>
          <p:nvPr/>
        </p:nvSpPr>
        <p:spPr>
          <a:xfrm>
            <a:off x="3438490" y="6535306"/>
            <a:ext cx="257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анкета вместо ручного отбора</a:t>
            </a:r>
            <a:endParaRPr/>
          </a:p>
        </p:txBody>
      </p:sp>
      <p:sp>
        <p:nvSpPr>
          <p:cNvPr id="1880" name="Google Shape;1880;p104"/>
          <p:cNvSpPr txBox="1"/>
          <p:nvPr/>
        </p:nvSpPr>
        <p:spPr>
          <a:xfrm>
            <a:off x="6038407" y="4611494"/>
            <a:ext cx="1426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Свої цифри</a:t>
            </a:r>
            <a:endParaRPr/>
          </a:p>
        </p:txBody>
      </p:sp>
      <p:sp>
        <p:nvSpPr>
          <p:cNvPr id="1881" name="Google Shape;1881;p104"/>
          <p:cNvSpPr txBox="1"/>
          <p:nvPr/>
        </p:nvSpPr>
        <p:spPr>
          <a:xfrm>
            <a:off x="6038407" y="4828970"/>
            <a:ext cx="20919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аналитика для бизнеса</a:t>
            </a:r>
            <a:endParaRPr/>
          </a:p>
        </p:txBody>
      </p:sp>
      <p:sp>
        <p:nvSpPr>
          <p:cNvPr id="1882" name="Google Shape;1882;p104"/>
          <p:cNvSpPr txBox="1"/>
          <p:nvPr/>
        </p:nvSpPr>
        <p:spPr>
          <a:xfrm>
            <a:off x="6197509" y="5144010"/>
            <a:ext cx="9888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сервиса и голосовой помощник, который встречает клиента</a:t>
            </a:r>
            <a:endParaRPr/>
          </a:p>
        </p:txBody>
      </p:sp>
      <p:sp>
        <p:nvSpPr>
          <p:cNvPr id="1883" name="Google Shape;1883;p104"/>
          <p:cNvSpPr txBox="1"/>
          <p:nvPr/>
        </p:nvSpPr>
        <p:spPr>
          <a:xfrm>
            <a:off x="6038407" y="6357019"/>
            <a:ext cx="177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запущено и работает</a:t>
            </a:r>
            <a:endParaRPr/>
          </a:p>
        </p:txBody>
      </p:sp>
      <p:sp>
        <p:nvSpPr>
          <p:cNvPr id="1884" name="Google Shape;1884;p104"/>
          <p:cNvSpPr/>
          <p:nvPr/>
        </p:nvSpPr>
        <p:spPr>
          <a:xfrm>
            <a:off x="3362900" y="2701997"/>
            <a:ext cx="5209500" cy="426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8.jpg" id="1890" name="Google Shape;189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105"/>
          <p:cNvSpPr txBox="1"/>
          <p:nvPr/>
        </p:nvSpPr>
        <p:spPr>
          <a:xfrm>
            <a:off x="1460819" y="1112792"/>
            <a:ext cx="6222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ПОД КЛЮЧ · НАШИ ВНЕДРЕНИЯ</a:t>
            </a:r>
            <a:endParaRPr/>
          </a:p>
        </p:txBody>
      </p:sp>
      <p:sp>
        <p:nvSpPr>
          <p:cNvPr id="1892" name="Google Shape;1892;p105"/>
          <p:cNvSpPr txBox="1"/>
          <p:nvPr/>
        </p:nvSpPr>
        <p:spPr>
          <a:xfrm>
            <a:off x="863885" y="1521618"/>
            <a:ext cx="74160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мы уже поставили бизнесам</a:t>
            </a:r>
            <a:endParaRPr/>
          </a:p>
        </p:txBody>
      </p:sp>
      <p:sp>
        <p:nvSpPr>
          <p:cNvPr id="1893" name="Google Shape;1893;p105"/>
          <p:cNvSpPr txBox="1"/>
          <p:nvPr/>
        </p:nvSpPr>
        <p:spPr>
          <a:xfrm>
            <a:off x="838574" y="4700587"/>
            <a:ext cx="1018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MAESTA</a:t>
            </a:r>
            <a:endParaRPr/>
          </a:p>
        </p:txBody>
      </p:sp>
      <p:sp>
        <p:nvSpPr>
          <p:cNvPr id="1894" name="Google Shape;1894;p105"/>
          <p:cNvSpPr txBox="1"/>
          <p:nvPr/>
        </p:nvSpPr>
        <p:spPr>
          <a:xfrm>
            <a:off x="838574" y="4918063"/>
            <a:ext cx="27324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клиника лазерных технологий</a:t>
            </a:r>
            <a:endParaRPr/>
          </a:p>
        </p:txBody>
      </p:sp>
      <p:sp>
        <p:nvSpPr>
          <p:cNvPr id="1895" name="Google Shape;1895;p105"/>
          <p:cNvSpPr txBox="1"/>
          <p:nvPr/>
        </p:nvSpPr>
        <p:spPr>
          <a:xfrm>
            <a:off x="997675" y="5233103"/>
            <a:ext cx="988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клиники и кампания по возврату базы пациентов</a:t>
            </a:r>
            <a:endParaRPr/>
          </a:p>
        </p:txBody>
      </p:sp>
      <p:sp>
        <p:nvSpPr>
          <p:cNvPr id="1896" name="Google Shape;1896;p105"/>
          <p:cNvSpPr txBox="1"/>
          <p:nvPr/>
        </p:nvSpPr>
        <p:spPr>
          <a:xfrm>
            <a:off x="838574" y="6267824"/>
            <a:ext cx="17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база 3.500 человек</a:t>
            </a:r>
            <a:endParaRPr/>
          </a:p>
        </p:txBody>
      </p:sp>
      <p:sp>
        <p:nvSpPr>
          <p:cNvPr id="1897" name="Google Shape;1897;p105"/>
          <p:cNvSpPr txBox="1"/>
          <p:nvPr/>
        </p:nvSpPr>
        <p:spPr>
          <a:xfrm>
            <a:off x="3438490" y="4433207"/>
            <a:ext cx="1784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L.K. Bauservice</a:t>
            </a:r>
            <a:endParaRPr/>
          </a:p>
        </p:txBody>
      </p:sp>
      <p:sp>
        <p:nvSpPr>
          <p:cNvPr id="1898" name="Google Shape;1898;p105"/>
          <p:cNvSpPr txBox="1"/>
          <p:nvPr/>
        </p:nvSpPr>
        <p:spPr>
          <a:xfrm>
            <a:off x="3438490" y="4650683"/>
            <a:ext cx="23208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строительство, Германия</a:t>
            </a:r>
            <a:endParaRPr/>
          </a:p>
        </p:txBody>
      </p:sp>
      <p:sp>
        <p:nvSpPr>
          <p:cNvPr id="1899" name="Google Shape;1899;p105"/>
          <p:cNvSpPr txBox="1"/>
          <p:nvPr/>
        </p:nvSpPr>
        <p:spPr>
          <a:xfrm>
            <a:off x="3597592" y="4965722"/>
            <a:ext cx="988800" cy="14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воронка найма: лендинг и анкета, которая сама отбирает кандидатов</a:t>
            </a:r>
            <a:endParaRPr/>
          </a:p>
        </p:txBody>
      </p:sp>
      <p:sp>
        <p:nvSpPr>
          <p:cNvPr id="1900" name="Google Shape;1900;p105"/>
          <p:cNvSpPr txBox="1"/>
          <p:nvPr/>
        </p:nvSpPr>
        <p:spPr>
          <a:xfrm>
            <a:off x="3438490" y="6535306"/>
            <a:ext cx="257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анкета вместо ручного отбора</a:t>
            </a:r>
            <a:endParaRPr/>
          </a:p>
        </p:txBody>
      </p:sp>
      <p:sp>
        <p:nvSpPr>
          <p:cNvPr id="1901" name="Google Shape;1901;p105"/>
          <p:cNvSpPr txBox="1"/>
          <p:nvPr/>
        </p:nvSpPr>
        <p:spPr>
          <a:xfrm>
            <a:off x="6038407" y="4611494"/>
            <a:ext cx="1426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Свої цифри</a:t>
            </a:r>
            <a:endParaRPr/>
          </a:p>
        </p:txBody>
      </p:sp>
      <p:sp>
        <p:nvSpPr>
          <p:cNvPr id="1902" name="Google Shape;1902;p105"/>
          <p:cNvSpPr txBox="1"/>
          <p:nvPr/>
        </p:nvSpPr>
        <p:spPr>
          <a:xfrm>
            <a:off x="6038407" y="4828970"/>
            <a:ext cx="20919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аналитика для бизнеса</a:t>
            </a:r>
            <a:endParaRPr/>
          </a:p>
        </p:txBody>
      </p:sp>
      <p:sp>
        <p:nvSpPr>
          <p:cNvPr id="1903" name="Google Shape;1903;p105"/>
          <p:cNvSpPr txBox="1"/>
          <p:nvPr/>
        </p:nvSpPr>
        <p:spPr>
          <a:xfrm>
            <a:off x="6197509" y="5144010"/>
            <a:ext cx="9888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сервиса и голосовой помощник, который встречает клиента</a:t>
            </a:r>
            <a:endParaRPr/>
          </a:p>
        </p:txBody>
      </p:sp>
      <p:sp>
        <p:nvSpPr>
          <p:cNvPr id="1904" name="Google Shape;1904;p105"/>
          <p:cNvSpPr txBox="1"/>
          <p:nvPr/>
        </p:nvSpPr>
        <p:spPr>
          <a:xfrm>
            <a:off x="6038407" y="6357019"/>
            <a:ext cx="177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запущено и работает</a:t>
            </a:r>
            <a:endParaRPr/>
          </a:p>
        </p:txBody>
      </p:sp>
      <p:sp>
        <p:nvSpPr>
          <p:cNvPr id="1905" name="Google Shape;1905;p105"/>
          <p:cNvSpPr/>
          <p:nvPr/>
        </p:nvSpPr>
        <p:spPr>
          <a:xfrm>
            <a:off x="549800" y="2623875"/>
            <a:ext cx="2575200" cy="426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05"/>
          <p:cNvSpPr/>
          <p:nvPr/>
        </p:nvSpPr>
        <p:spPr>
          <a:xfrm>
            <a:off x="5892375" y="2667175"/>
            <a:ext cx="2575200" cy="426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8.jpg" id="1912" name="Google Shape;19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106"/>
          <p:cNvSpPr txBox="1"/>
          <p:nvPr/>
        </p:nvSpPr>
        <p:spPr>
          <a:xfrm>
            <a:off x="1460819" y="1112792"/>
            <a:ext cx="6222361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ПОД КЛЮЧ · НАШИ ВНЕДРЕНИЯ</a:t>
            </a:r>
            <a:endParaRPr/>
          </a:p>
        </p:txBody>
      </p:sp>
      <p:sp>
        <p:nvSpPr>
          <p:cNvPr id="1914" name="Google Shape;1914;p106"/>
          <p:cNvSpPr txBox="1"/>
          <p:nvPr/>
        </p:nvSpPr>
        <p:spPr>
          <a:xfrm>
            <a:off x="863885" y="1521618"/>
            <a:ext cx="7416126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Что мы уже поставили бизнесам</a:t>
            </a:r>
            <a:endParaRPr/>
          </a:p>
        </p:txBody>
      </p:sp>
      <p:sp>
        <p:nvSpPr>
          <p:cNvPr id="1915" name="Google Shape;1915;p106"/>
          <p:cNvSpPr txBox="1"/>
          <p:nvPr/>
        </p:nvSpPr>
        <p:spPr>
          <a:xfrm>
            <a:off x="838574" y="4700587"/>
            <a:ext cx="1018184" cy="195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MAESTA</a:t>
            </a:r>
            <a:endParaRPr/>
          </a:p>
        </p:txBody>
      </p:sp>
      <p:sp>
        <p:nvSpPr>
          <p:cNvPr id="1916" name="Google Shape;1916;p106"/>
          <p:cNvSpPr txBox="1"/>
          <p:nvPr/>
        </p:nvSpPr>
        <p:spPr>
          <a:xfrm>
            <a:off x="838574" y="4918063"/>
            <a:ext cx="2732276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клиника лазерных технологий</a:t>
            </a:r>
            <a:endParaRPr/>
          </a:p>
        </p:txBody>
      </p:sp>
      <p:sp>
        <p:nvSpPr>
          <p:cNvPr id="1917" name="Google Shape;1917;p106"/>
          <p:cNvSpPr txBox="1"/>
          <p:nvPr/>
        </p:nvSpPr>
        <p:spPr>
          <a:xfrm>
            <a:off x="997675" y="5233103"/>
            <a:ext cx="988923" cy="917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клиники и кампания по возврату базы пациентов</a:t>
            </a:r>
            <a:endParaRPr/>
          </a:p>
        </p:txBody>
      </p:sp>
      <p:sp>
        <p:nvSpPr>
          <p:cNvPr id="1918" name="Google Shape;1918;p106"/>
          <p:cNvSpPr txBox="1"/>
          <p:nvPr/>
        </p:nvSpPr>
        <p:spPr>
          <a:xfrm>
            <a:off x="838574" y="6267824"/>
            <a:ext cx="1740601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база 3.500 человек</a:t>
            </a:r>
            <a:endParaRPr/>
          </a:p>
        </p:txBody>
      </p:sp>
      <p:sp>
        <p:nvSpPr>
          <p:cNvPr id="1919" name="Google Shape;1919;p106"/>
          <p:cNvSpPr txBox="1"/>
          <p:nvPr/>
        </p:nvSpPr>
        <p:spPr>
          <a:xfrm>
            <a:off x="3438490" y="4433207"/>
            <a:ext cx="1784459" cy="195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L.K. Bauservice</a:t>
            </a:r>
            <a:endParaRPr/>
          </a:p>
        </p:txBody>
      </p:sp>
      <p:sp>
        <p:nvSpPr>
          <p:cNvPr id="1920" name="Google Shape;1920;p106"/>
          <p:cNvSpPr txBox="1"/>
          <p:nvPr/>
        </p:nvSpPr>
        <p:spPr>
          <a:xfrm>
            <a:off x="3438490" y="4650683"/>
            <a:ext cx="2320755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строительство, Германия</a:t>
            </a:r>
            <a:endParaRPr/>
          </a:p>
        </p:txBody>
      </p:sp>
      <p:sp>
        <p:nvSpPr>
          <p:cNvPr id="1921" name="Google Shape;1921;p106"/>
          <p:cNvSpPr txBox="1"/>
          <p:nvPr/>
        </p:nvSpPr>
        <p:spPr>
          <a:xfrm>
            <a:off x="3597592" y="4965722"/>
            <a:ext cx="988923" cy="1452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воронка найма: лендинг и анкета, которая сама отбирает кандидатов</a:t>
            </a:r>
            <a:endParaRPr/>
          </a:p>
        </p:txBody>
      </p:sp>
      <p:sp>
        <p:nvSpPr>
          <p:cNvPr id="1922" name="Google Shape;1922;p106"/>
          <p:cNvSpPr txBox="1"/>
          <p:nvPr/>
        </p:nvSpPr>
        <p:spPr>
          <a:xfrm>
            <a:off x="3438490" y="6535306"/>
            <a:ext cx="2575301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анкета вместо ручного отбора</a:t>
            </a:r>
            <a:endParaRPr/>
          </a:p>
        </p:txBody>
      </p:sp>
      <p:sp>
        <p:nvSpPr>
          <p:cNvPr id="1923" name="Google Shape;1923;p106"/>
          <p:cNvSpPr txBox="1"/>
          <p:nvPr/>
        </p:nvSpPr>
        <p:spPr>
          <a:xfrm>
            <a:off x="6038407" y="4611494"/>
            <a:ext cx="1426929" cy="195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Свої цифри</a:t>
            </a:r>
            <a:endParaRPr/>
          </a:p>
        </p:txBody>
      </p:sp>
      <p:sp>
        <p:nvSpPr>
          <p:cNvPr id="1924" name="Google Shape;1924;p106"/>
          <p:cNvSpPr txBox="1"/>
          <p:nvPr/>
        </p:nvSpPr>
        <p:spPr>
          <a:xfrm>
            <a:off x="6038407" y="4828970"/>
            <a:ext cx="2091885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аналитика для бизнеса</a:t>
            </a:r>
            <a:endParaRPr/>
          </a:p>
        </p:txBody>
      </p:sp>
      <p:sp>
        <p:nvSpPr>
          <p:cNvPr id="1925" name="Google Shape;1925;p106"/>
          <p:cNvSpPr txBox="1"/>
          <p:nvPr/>
        </p:nvSpPr>
        <p:spPr>
          <a:xfrm>
            <a:off x="6197509" y="5144010"/>
            <a:ext cx="988923" cy="1095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сайт сервиса и голосовой помощник, который встречает клиента</a:t>
            </a:r>
            <a:endParaRPr/>
          </a:p>
        </p:txBody>
      </p:sp>
      <p:sp>
        <p:nvSpPr>
          <p:cNvPr id="1926" name="Google Shape;1926;p106"/>
          <p:cNvSpPr txBox="1"/>
          <p:nvPr/>
        </p:nvSpPr>
        <p:spPr>
          <a:xfrm>
            <a:off x="6038407" y="6357019"/>
            <a:ext cx="1773495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запущено и работает</a:t>
            </a:r>
            <a:endParaRPr/>
          </a:p>
        </p:txBody>
      </p:sp>
      <p:sp>
        <p:nvSpPr>
          <p:cNvPr id="1927" name="Google Shape;1927;p106"/>
          <p:cNvSpPr/>
          <p:nvPr/>
        </p:nvSpPr>
        <p:spPr>
          <a:xfrm>
            <a:off x="1487300" y="7350235"/>
            <a:ext cx="5209500" cy="426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49.jpg" id="1933" name="Google Shape;1933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07"/>
          <p:cNvSpPr txBox="1"/>
          <p:nvPr/>
        </p:nvSpPr>
        <p:spPr>
          <a:xfrm>
            <a:off x="2798088" y="1035741"/>
            <a:ext cx="3547823" cy="26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КЕЙСЫ УЧЕНИКОВ</a:t>
            </a:r>
            <a:endParaRPr/>
          </a:p>
        </p:txBody>
      </p:sp>
      <p:sp>
        <p:nvSpPr>
          <p:cNvPr id="1935" name="Google Shape;1935;p107"/>
          <p:cNvSpPr txBox="1"/>
          <p:nvPr/>
        </p:nvSpPr>
        <p:spPr>
          <a:xfrm>
            <a:off x="920343" y="1444568"/>
            <a:ext cx="7303312" cy="170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Какую услугу оказали — и сколько на ней заработали</a:t>
            </a:r>
            <a:endParaRPr/>
          </a:p>
        </p:txBody>
      </p:sp>
      <p:sp>
        <p:nvSpPr>
          <p:cNvPr id="1936" name="Google Shape;1936;p107"/>
          <p:cNvSpPr txBox="1"/>
          <p:nvPr/>
        </p:nvSpPr>
        <p:spPr>
          <a:xfrm>
            <a:off x="963614" y="3433388"/>
            <a:ext cx="934353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AI-САЙТЫ</a:t>
            </a:r>
            <a:endParaRPr/>
          </a:p>
        </p:txBody>
      </p:sp>
      <p:sp>
        <p:nvSpPr>
          <p:cNvPr id="1937" name="Google Shape;1937;p107"/>
          <p:cNvSpPr txBox="1"/>
          <p:nvPr/>
        </p:nvSpPr>
        <p:spPr>
          <a:xfrm>
            <a:off x="1169201" y="3676888"/>
            <a:ext cx="1617908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Саша, 14 лет</a:t>
            </a:r>
            <a:endParaRPr/>
          </a:p>
        </p:txBody>
      </p:sp>
      <p:sp>
        <p:nvSpPr>
          <p:cNvPr id="1938" name="Google Shape;1938;p107"/>
          <p:cNvSpPr txBox="1"/>
          <p:nvPr/>
        </p:nvSpPr>
        <p:spPr>
          <a:xfrm>
            <a:off x="876938" y="3883240"/>
            <a:ext cx="2202332" cy="33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собрал лендинг голосом и продал клиенту</a:t>
            </a:r>
            <a:endParaRPr/>
          </a:p>
        </p:txBody>
      </p:sp>
      <p:sp>
        <p:nvSpPr>
          <p:cNvPr id="1939" name="Google Shape;1939;p107"/>
          <p:cNvSpPr txBox="1"/>
          <p:nvPr/>
        </p:nvSpPr>
        <p:spPr>
          <a:xfrm>
            <a:off x="1284695" y="4204505"/>
            <a:ext cx="1386818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$300</a:t>
            </a:r>
            <a:endParaRPr/>
          </a:p>
        </p:txBody>
      </p:sp>
      <p:sp>
        <p:nvSpPr>
          <p:cNvPr id="1940" name="Google Shape;1940;p107"/>
          <p:cNvSpPr txBox="1"/>
          <p:nvPr/>
        </p:nvSpPr>
        <p:spPr>
          <a:xfrm>
            <a:off x="869051" y="4571285"/>
            <a:ext cx="2218105" cy="26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за выходные · сейчас $1.500–$3.000 в месяц</a:t>
            </a:r>
            <a:endParaRPr/>
          </a:p>
        </p:txBody>
      </p:sp>
      <p:sp>
        <p:nvSpPr>
          <p:cNvPr id="1941" name="Google Shape;1941;p107"/>
          <p:cNvSpPr txBox="1"/>
          <p:nvPr/>
        </p:nvSpPr>
        <p:spPr>
          <a:xfrm>
            <a:off x="3570578" y="3433388"/>
            <a:ext cx="834839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РЕКЛАМА</a:t>
            </a:r>
            <a:endParaRPr/>
          </a:p>
        </p:txBody>
      </p:sp>
      <p:sp>
        <p:nvSpPr>
          <p:cNvPr id="1942" name="Google Shape;1942;p107"/>
          <p:cNvSpPr txBox="1"/>
          <p:nvPr/>
        </p:nvSpPr>
        <p:spPr>
          <a:xfrm>
            <a:off x="3220471" y="3676888"/>
            <a:ext cx="2702852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Артём · перформанс</a:t>
            </a:r>
            <a:endParaRPr/>
          </a:p>
        </p:txBody>
      </p:sp>
      <p:sp>
        <p:nvSpPr>
          <p:cNvPr id="1943" name="Google Shape;1943;p107"/>
          <p:cNvSpPr txBox="1"/>
          <p:nvPr/>
        </p:nvSpPr>
        <p:spPr>
          <a:xfrm>
            <a:off x="3359860" y="3883240"/>
            <a:ext cx="2424074" cy="33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пересобрал сайт, запустил рекламу и бота на заявки</a:t>
            </a:r>
            <a:endParaRPr/>
          </a:p>
        </p:txBody>
      </p:sp>
      <p:sp>
        <p:nvSpPr>
          <p:cNvPr id="1944" name="Google Shape;1944;p107"/>
          <p:cNvSpPr txBox="1"/>
          <p:nvPr/>
        </p:nvSpPr>
        <p:spPr>
          <a:xfrm>
            <a:off x="3202151" y="4204505"/>
            <a:ext cx="2739493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400.000 ₴</a:t>
            </a:r>
            <a:endParaRPr/>
          </a:p>
        </p:txBody>
      </p:sp>
      <p:sp>
        <p:nvSpPr>
          <p:cNvPr id="1945" name="Google Shape;1945;p107"/>
          <p:cNvSpPr txBox="1"/>
          <p:nvPr/>
        </p:nvSpPr>
        <p:spPr>
          <a:xfrm>
            <a:off x="3772867" y="4571285"/>
            <a:ext cx="1598060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заявка обходится в 59 ₴</a:t>
            </a:r>
            <a:endParaRPr/>
          </a:p>
        </p:txBody>
      </p:sp>
      <p:sp>
        <p:nvSpPr>
          <p:cNvPr id="1946" name="Google Shape;1946;p107"/>
          <p:cNvSpPr txBox="1"/>
          <p:nvPr/>
        </p:nvSpPr>
        <p:spPr>
          <a:xfrm>
            <a:off x="6032662" y="3433388"/>
            <a:ext cx="1829983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SEO И НЕЙРОПОИСК</a:t>
            </a:r>
            <a:endParaRPr/>
          </a:p>
        </p:txBody>
      </p:sp>
      <p:sp>
        <p:nvSpPr>
          <p:cNvPr id="1947" name="Google Shape;1947;p107"/>
          <p:cNvSpPr txBox="1"/>
          <p:nvPr/>
        </p:nvSpPr>
        <p:spPr>
          <a:xfrm>
            <a:off x="6237981" y="3676888"/>
            <a:ext cx="1855521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Аня, Германия</a:t>
            </a:r>
            <a:endParaRPr/>
          </a:p>
        </p:txBody>
      </p:sp>
      <p:sp>
        <p:nvSpPr>
          <p:cNvPr id="1948" name="Google Shape;1948;p107"/>
          <p:cNvSpPr txBox="1"/>
          <p:nvPr/>
        </p:nvSpPr>
        <p:spPr>
          <a:xfrm>
            <a:off x="6278603" y="3883240"/>
            <a:ext cx="1774278" cy="33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контент-завод сам пишет и выкладывает каждый вечер</a:t>
            </a:r>
            <a:endParaRPr/>
          </a:p>
        </p:txBody>
      </p:sp>
      <p:sp>
        <p:nvSpPr>
          <p:cNvPr id="1949" name="Google Shape;1949;p107"/>
          <p:cNvSpPr txBox="1"/>
          <p:nvPr/>
        </p:nvSpPr>
        <p:spPr>
          <a:xfrm>
            <a:off x="6478926" y="4204505"/>
            <a:ext cx="1373632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$500</a:t>
            </a:r>
            <a:endParaRPr/>
          </a:p>
        </p:txBody>
      </p:sp>
      <p:sp>
        <p:nvSpPr>
          <p:cNvPr id="1950" name="Google Shape;1950;p107"/>
          <p:cNvSpPr txBox="1"/>
          <p:nvPr/>
        </p:nvSpPr>
        <p:spPr>
          <a:xfrm>
            <a:off x="6104752" y="4571285"/>
            <a:ext cx="2121979" cy="26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× 4 клиента в месяц · 73 цитирования нейросетей за 3 недели</a:t>
            </a:r>
            <a:endParaRPr/>
          </a:p>
        </p:txBody>
      </p:sp>
      <p:sp>
        <p:nvSpPr>
          <p:cNvPr id="1951" name="Google Shape;1951;p107"/>
          <p:cNvSpPr txBox="1"/>
          <p:nvPr/>
        </p:nvSpPr>
        <p:spPr>
          <a:xfrm>
            <a:off x="980257" y="5190852"/>
            <a:ext cx="808607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КОНТЕНТ</a:t>
            </a:r>
            <a:endParaRPr/>
          </a:p>
        </p:txBody>
      </p:sp>
      <p:sp>
        <p:nvSpPr>
          <p:cNvPr id="1952" name="Google Shape;1952;p107"/>
          <p:cNvSpPr txBox="1"/>
          <p:nvPr/>
        </p:nvSpPr>
        <p:spPr>
          <a:xfrm>
            <a:off x="705235" y="5434352"/>
            <a:ext cx="2545738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Максим · студия 3D</a:t>
            </a:r>
            <a:endParaRPr/>
          </a:p>
        </p:txBody>
      </p:sp>
      <p:sp>
        <p:nvSpPr>
          <p:cNvPr id="1953" name="Google Shape;1953;p107"/>
          <p:cNvSpPr txBox="1"/>
          <p:nvPr/>
        </p:nvSpPr>
        <p:spPr>
          <a:xfrm>
            <a:off x="949747" y="5640705"/>
            <a:ext cx="2056714" cy="33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переупаковал продукт и собрал контент-систему на агентах</a:t>
            </a:r>
            <a:endParaRPr/>
          </a:p>
        </p:txBody>
      </p:sp>
      <p:sp>
        <p:nvSpPr>
          <p:cNvPr id="1954" name="Google Shape;1954;p107"/>
          <p:cNvSpPr txBox="1"/>
          <p:nvPr/>
        </p:nvSpPr>
        <p:spPr>
          <a:xfrm>
            <a:off x="621681" y="5961969"/>
            <a:ext cx="2712845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$100.000+</a:t>
            </a:r>
            <a:endParaRPr/>
          </a:p>
        </p:txBody>
      </p:sp>
      <p:sp>
        <p:nvSpPr>
          <p:cNvPr id="1955" name="Google Shape;1955;p107"/>
          <p:cNvSpPr txBox="1"/>
          <p:nvPr/>
        </p:nvSpPr>
        <p:spPr>
          <a:xfrm>
            <a:off x="849006" y="6328750"/>
            <a:ext cx="2258298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продажи студии после переупаковки</a:t>
            </a:r>
            <a:endParaRPr/>
          </a:p>
        </p:txBody>
      </p:sp>
      <p:sp>
        <p:nvSpPr>
          <p:cNvPr id="1956" name="Google Shape;1956;p107"/>
          <p:cNvSpPr txBox="1"/>
          <p:nvPr/>
        </p:nvSpPr>
        <p:spPr>
          <a:xfrm>
            <a:off x="3509169" y="5190852"/>
            <a:ext cx="1298823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ДИЗАЙН И КП</a:t>
            </a:r>
            <a:endParaRPr/>
          </a:p>
        </p:txBody>
      </p:sp>
      <p:sp>
        <p:nvSpPr>
          <p:cNvPr id="1957" name="Google Shape;1957;p107"/>
          <p:cNvSpPr txBox="1"/>
          <p:nvPr/>
        </p:nvSpPr>
        <p:spPr>
          <a:xfrm>
            <a:off x="3948856" y="5434352"/>
            <a:ext cx="1246082" cy="20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Светлана</a:t>
            </a:r>
            <a:endParaRPr/>
          </a:p>
        </p:txBody>
      </p:sp>
      <p:sp>
        <p:nvSpPr>
          <p:cNvPr id="1958" name="Google Shape;1958;p107"/>
          <p:cNvSpPr txBox="1"/>
          <p:nvPr/>
        </p:nvSpPr>
        <p:spPr>
          <a:xfrm>
            <a:off x="3624236" y="5640705"/>
            <a:ext cx="1895322" cy="33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собрала клиенту продающую презентацию</a:t>
            </a:r>
            <a:endParaRPr/>
          </a:p>
        </p:txBody>
      </p:sp>
      <p:sp>
        <p:nvSpPr>
          <p:cNvPr id="1959" name="Google Shape;1959;p107"/>
          <p:cNvSpPr txBox="1"/>
          <p:nvPr/>
        </p:nvSpPr>
        <p:spPr>
          <a:xfrm>
            <a:off x="3885132" y="5961969"/>
            <a:ext cx="1373632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$500</a:t>
            </a:r>
            <a:endParaRPr/>
          </a:p>
        </p:txBody>
      </p:sp>
      <p:sp>
        <p:nvSpPr>
          <p:cNvPr id="1960" name="Google Shape;1960;p107"/>
          <p:cNvSpPr txBox="1"/>
          <p:nvPr/>
        </p:nvSpPr>
        <p:spPr>
          <a:xfrm>
            <a:off x="3992298" y="6328750"/>
            <a:ext cx="1159197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за два дня работы</a:t>
            </a:r>
            <a:endParaRPr/>
          </a:p>
        </p:txBody>
      </p:sp>
      <p:sp>
        <p:nvSpPr>
          <p:cNvPr id="1961" name="Google Shape;1961;p107"/>
          <p:cNvSpPr txBox="1"/>
          <p:nvPr/>
        </p:nvSpPr>
        <p:spPr>
          <a:xfrm>
            <a:off x="5997135" y="5190852"/>
            <a:ext cx="2098409" cy="15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ВНЕДРЕНИЕ ПОД КЛЮЧ</a:t>
            </a:r>
            <a:endParaRPr/>
          </a:p>
        </p:txBody>
      </p:sp>
      <p:sp>
        <p:nvSpPr>
          <p:cNvPr id="1962" name="Google Shape;1962;p107"/>
          <p:cNvSpPr txBox="1"/>
          <p:nvPr/>
        </p:nvSpPr>
        <p:spPr>
          <a:xfrm>
            <a:off x="6377815" y="5434352"/>
            <a:ext cx="1575854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Юрий · коуч, не программист</a:t>
            </a:r>
            <a:endParaRPr/>
          </a:p>
        </p:txBody>
      </p:sp>
      <p:sp>
        <p:nvSpPr>
          <p:cNvPr id="1963" name="Google Shape;1963;p107"/>
          <p:cNvSpPr txBox="1"/>
          <p:nvPr/>
        </p:nvSpPr>
        <p:spPr>
          <a:xfrm>
            <a:off x="5893914" y="5817053"/>
            <a:ext cx="2543656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17 сайтов и 8 ботов для клиентов</a:t>
            </a:r>
            <a:endParaRPr/>
          </a:p>
        </p:txBody>
      </p:sp>
      <p:sp>
        <p:nvSpPr>
          <p:cNvPr id="1964" name="Google Shape;1964;p107"/>
          <p:cNvSpPr txBox="1"/>
          <p:nvPr/>
        </p:nvSpPr>
        <p:spPr>
          <a:xfrm>
            <a:off x="6263639" y="6138318"/>
            <a:ext cx="1804307" cy="37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€6.708</a:t>
            </a:r>
            <a:endParaRPr/>
          </a:p>
        </p:txBody>
      </p:sp>
      <p:sp>
        <p:nvSpPr>
          <p:cNvPr id="1965" name="Google Shape;1965;p107"/>
          <p:cNvSpPr txBox="1"/>
          <p:nvPr/>
        </p:nvSpPr>
        <p:spPr>
          <a:xfrm>
            <a:off x="6050339" y="6505098"/>
            <a:ext cx="2230907" cy="26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за 90 дней · 19 платных клиентов · 30 платежей</a:t>
            </a:r>
            <a:endParaRPr/>
          </a:p>
        </p:txBody>
      </p:sp>
      <p:sp>
        <p:nvSpPr>
          <p:cNvPr id="1966" name="Google Shape;1966;p107"/>
          <p:cNvSpPr txBox="1"/>
          <p:nvPr/>
        </p:nvSpPr>
        <p:spPr>
          <a:xfrm>
            <a:off x="1654733" y="7053024"/>
            <a:ext cx="5834329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Одна услуга — один ученик — его деньги. Это те же семь услуг, которые вы сегодня видели</a:t>
            </a:r>
            <a:endParaRPr/>
          </a:p>
        </p:txBody>
      </p:sp>
      <p:sp>
        <p:nvSpPr>
          <p:cNvPr id="1967" name="Google Shape;1967;p107"/>
          <p:cNvSpPr txBox="1"/>
          <p:nvPr/>
        </p:nvSpPr>
        <p:spPr>
          <a:xfrm>
            <a:off x="3131191" y="7918846"/>
            <a:ext cx="2881617" cy="215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результаты индивидуальны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0.jpg" id="1973" name="Google Shape;19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08"/>
          <p:cNvSpPr txBox="1"/>
          <p:nvPr/>
        </p:nvSpPr>
        <p:spPr>
          <a:xfrm>
            <a:off x="2353258" y="548733"/>
            <a:ext cx="4437483" cy="222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С КЕМ МЫ УЖЕ РАБОТАЛИ</a:t>
            </a:r>
            <a:endParaRPr/>
          </a:p>
        </p:txBody>
      </p:sp>
      <p:sp>
        <p:nvSpPr>
          <p:cNvPr id="1975" name="Google Shape;1975;p108"/>
          <p:cNvSpPr txBox="1"/>
          <p:nvPr/>
        </p:nvSpPr>
        <p:spPr>
          <a:xfrm>
            <a:off x="1064422" y="889514"/>
            <a:ext cx="7015155" cy="98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Разные ниши и разные страны — система одна</a:t>
            </a:r>
            <a:endParaRPr/>
          </a:p>
        </p:txBody>
      </p:sp>
      <p:sp>
        <p:nvSpPr>
          <p:cNvPr id="1976" name="Google Shape;1976;p108"/>
          <p:cNvSpPr txBox="1"/>
          <p:nvPr/>
        </p:nvSpPr>
        <p:spPr>
          <a:xfrm>
            <a:off x="2203194" y="3295142"/>
            <a:ext cx="413367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ТІС</a:t>
            </a:r>
            <a:endParaRPr/>
          </a:p>
        </p:txBody>
      </p:sp>
      <p:sp>
        <p:nvSpPr>
          <p:cNvPr id="1977" name="Google Shape;1977;p108"/>
          <p:cNvSpPr txBox="1"/>
          <p:nvPr/>
        </p:nvSpPr>
        <p:spPr>
          <a:xfrm>
            <a:off x="1554292" y="3483908"/>
            <a:ext cx="1711084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портовый оператор, Одесса</a:t>
            </a:r>
            <a:endParaRPr/>
          </a:p>
        </p:txBody>
      </p:sp>
      <p:sp>
        <p:nvSpPr>
          <p:cNvPr id="1978" name="Google Shape;1978;p108"/>
          <p:cNvSpPr txBox="1"/>
          <p:nvPr/>
        </p:nvSpPr>
        <p:spPr>
          <a:xfrm>
            <a:off x="1457805" y="3625630"/>
            <a:ext cx="1904059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порт №1 в Украине · с 1994 года</a:t>
            </a:r>
            <a:endParaRPr/>
          </a:p>
        </p:txBody>
      </p:sp>
      <p:sp>
        <p:nvSpPr>
          <p:cNvPr id="1979" name="Google Shape;1979;p108"/>
          <p:cNvSpPr txBox="1"/>
          <p:nvPr/>
        </p:nvSpPr>
        <p:spPr>
          <a:xfrm>
            <a:off x="3952268" y="3295142"/>
            <a:ext cx="1239293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Zarmilkas</a:t>
            </a:r>
            <a:endParaRPr/>
          </a:p>
        </p:txBody>
      </p:sp>
      <p:sp>
        <p:nvSpPr>
          <p:cNvPr id="1980" name="Google Shape;1980;p108"/>
          <p:cNvSpPr txBox="1"/>
          <p:nvPr/>
        </p:nvSpPr>
        <p:spPr>
          <a:xfrm>
            <a:off x="3769228" y="3483908"/>
            <a:ext cx="1605458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украшения ручной работы</a:t>
            </a:r>
            <a:endParaRPr/>
          </a:p>
        </p:txBody>
      </p:sp>
      <p:sp>
        <p:nvSpPr>
          <p:cNvPr id="1981" name="Google Shape;1981;p108"/>
          <p:cNvSpPr txBox="1"/>
          <p:nvPr/>
        </p:nvSpPr>
        <p:spPr>
          <a:xfrm>
            <a:off x="3535067" y="3625630"/>
            <a:ext cx="2073779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270 тыс. подписчиков · с 2008 года</a:t>
            </a:r>
            <a:endParaRPr/>
          </a:p>
        </p:txBody>
      </p:sp>
      <p:sp>
        <p:nvSpPr>
          <p:cNvPr id="1982" name="Google Shape;1982;p108"/>
          <p:cNvSpPr txBox="1"/>
          <p:nvPr/>
        </p:nvSpPr>
        <p:spPr>
          <a:xfrm>
            <a:off x="6196574" y="3295228"/>
            <a:ext cx="1075010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MAESTA</a:t>
            </a:r>
            <a:endParaRPr/>
          </a:p>
        </p:txBody>
      </p:sp>
      <p:sp>
        <p:nvSpPr>
          <p:cNvPr id="1983" name="Google Shape;1983;p108"/>
          <p:cNvSpPr txBox="1"/>
          <p:nvPr/>
        </p:nvSpPr>
        <p:spPr>
          <a:xfrm>
            <a:off x="5826375" y="3483993"/>
            <a:ext cx="1815323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клиника лазерных технологий</a:t>
            </a:r>
            <a:endParaRPr/>
          </a:p>
        </p:txBody>
      </p:sp>
      <p:sp>
        <p:nvSpPr>
          <p:cNvPr id="1984" name="Google Shape;1984;p108"/>
          <p:cNvSpPr txBox="1"/>
          <p:nvPr/>
        </p:nvSpPr>
        <p:spPr>
          <a:xfrm>
            <a:off x="5542104" y="3625716"/>
            <a:ext cx="2383950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оборудование DEKA · база 3.500 пациентов</a:t>
            </a:r>
            <a:endParaRPr/>
          </a:p>
        </p:txBody>
      </p:sp>
      <p:sp>
        <p:nvSpPr>
          <p:cNvPr id="1985" name="Google Shape;1985;p108"/>
          <p:cNvSpPr txBox="1"/>
          <p:nvPr/>
        </p:nvSpPr>
        <p:spPr>
          <a:xfrm>
            <a:off x="1709189" y="5140430"/>
            <a:ext cx="1401377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Діамант-М</a:t>
            </a:r>
            <a:endParaRPr/>
          </a:p>
        </p:txBody>
      </p:sp>
      <p:sp>
        <p:nvSpPr>
          <p:cNvPr id="1986" name="Google Shape;1986;p108"/>
          <p:cNvSpPr txBox="1"/>
          <p:nvPr/>
        </p:nvSpPr>
        <p:spPr>
          <a:xfrm>
            <a:off x="1795032" y="5329195"/>
            <a:ext cx="1229690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стоматология, Киев</a:t>
            </a:r>
            <a:endParaRPr/>
          </a:p>
        </p:txBody>
      </p:sp>
      <p:sp>
        <p:nvSpPr>
          <p:cNvPr id="1987" name="Google Shape;1987;p108"/>
          <p:cNvSpPr txBox="1"/>
          <p:nvPr/>
        </p:nvSpPr>
        <p:spPr>
          <a:xfrm>
            <a:off x="1829277" y="5470918"/>
            <a:ext cx="1161200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работает с 1998 года</a:t>
            </a:r>
            <a:endParaRPr/>
          </a:p>
        </p:txBody>
      </p:sp>
      <p:sp>
        <p:nvSpPr>
          <p:cNvPr id="1988" name="Google Shape;1988;p108"/>
          <p:cNvSpPr txBox="1"/>
          <p:nvPr/>
        </p:nvSpPr>
        <p:spPr>
          <a:xfrm>
            <a:off x="3629935" y="5140430"/>
            <a:ext cx="1884044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L.K. Bauservice</a:t>
            </a:r>
            <a:endParaRPr/>
          </a:p>
        </p:txBody>
      </p:sp>
      <p:sp>
        <p:nvSpPr>
          <p:cNvPr id="1989" name="Google Shape;1989;p108"/>
          <p:cNvSpPr txBox="1"/>
          <p:nvPr/>
        </p:nvSpPr>
        <p:spPr>
          <a:xfrm>
            <a:off x="3806033" y="5329195"/>
            <a:ext cx="1531762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строительство, Германия</a:t>
            </a:r>
            <a:endParaRPr/>
          </a:p>
        </p:txBody>
      </p:sp>
      <p:sp>
        <p:nvSpPr>
          <p:cNvPr id="1990" name="Google Shape;1990;p108"/>
          <p:cNvSpPr txBox="1"/>
          <p:nvPr/>
        </p:nvSpPr>
        <p:spPr>
          <a:xfrm>
            <a:off x="3808926" y="5470918"/>
            <a:ext cx="1525977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прямой работодатель с 2015</a:t>
            </a:r>
            <a:endParaRPr/>
          </a:p>
        </p:txBody>
      </p:sp>
      <p:sp>
        <p:nvSpPr>
          <p:cNvPr id="1991" name="Google Shape;1991;p108"/>
          <p:cNvSpPr txBox="1"/>
          <p:nvPr/>
        </p:nvSpPr>
        <p:spPr>
          <a:xfrm>
            <a:off x="5931076" y="5140515"/>
            <a:ext cx="1605921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MALACLEAR</a:t>
            </a:r>
            <a:endParaRPr/>
          </a:p>
        </p:txBody>
      </p:sp>
      <p:sp>
        <p:nvSpPr>
          <p:cNvPr id="1992" name="Google Shape;1992;p108"/>
          <p:cNvSpPr txBox="1"/>
          <p:nvPr/>
        </p:nvSpPr>
        <p:spPr>
          <a:xfrm>
            <a:off x="6283459" y="5329280"/>
            <a:ext cx="901241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уход за кожей</a:t>
            </a:r>
            <a:endParaRPr/>
          </a:p>
        </p:txBody>
      </p:sp>
      <p:sp>
        <p:nvSpPr>
          <p:cNvPr id="1993" name="Google Shape;1993;p108"/>
          <p:cNvSpPr txBox="1"/>
          <p:nvPr/>
        </p:nvSpPr>
        <p:spPr>
          <a:xfrm>
            <a:off x="6366410" y="5471003"/>
            <a:ext cx="735338" cy="12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100+ отзывов</a:t>
            </a:r>
            <a:endParaRPr/>
          </a:p>
        </p:txBody>
      </p:sp>
      <p:sp>
        <p:nvSpPr>
          <p:cNvPr id="1994" name="Google Shape;1994;p108"/>
          <p:cNvSpPr txBox="1"/>
          <p:nvPr/>
        </p:nvSpPr>
        <p:spPr>
          <a:xfrm>
            <a:off x="1842466" y="6985718"/>
            <a:ext cx="1134822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BioSwiss</a:t>
            </a:r>
            <a:endParaRPr/>
          </a:p>
        </p:txBody>
      </p:sp>
      <p:sp>
        <p:nvSpPr>
          <p:cNvPr id="1995" name="Google Shape;1995;p108"/>
          <p:cNvSpPr txBox="1"/>
          <p:nvPr/>
        </p:nvSpPr>
        <p:spPr>
          <a:xfrm>
            <a:off x="2019606" y="7174483"/>
            <a:ext cx="780458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нутрицевтика</a:t>
            </a:r>
            <a:endParaRPr/>
          </a:p>
        </p:txBody>
      </p:sp>
      <p:sp>
        <p:nvSpPr>
          <p:cNvPr id="1996" name="Google Shape;1996;p108"/>
          <p:cNvSpPr txBox="1"/>
          <p:nvPr/>
        </p:nvSpPr>
        <p:spPr>
          <a:xfrm>
            <a:off x="3797920" y="6985718"/>
            <a:ext cx="1548074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BATUMI BOX</a:t>
            </a:r>
            <a:endParaRPr/>
          </a:p>
        </p:txBody>
      </p:sp>
      <p:sp>
        <p:nvSpPr>
          <p:cNvPr id="1997" name="Google Shape;1997;p108"/>
          <p:cNvSpPr txBox="1"/>
          <p:nvPr/>
        </p:nvSpPr>
        <p:spPr>
          <a:xfrm>
            <a:off x="4144996" y="7174483"/>
            <a:ext cx="853922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бокс, Батуми</a:t>
            </a:r>
            <a:endParaRPr/>
          </a:p>
        </p:txBody>
      </p:sp>
      <p:sp>
        <p:nvSpPr>
          <p:cNvPr id="1998" name="Google Shape;1998;p108"/>
          <p:cNvSpPr txBox="1"/>
          <p:nvPr/>
        </p:nvSpPr>
        <p:spPr>
          <a:xfrm>
            <a:off x="5980708" y="6985803"/>
            <a:ext cx="1506656" cy="20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Свої цифри</a:t>
            </a:r>
            <a:endParaRPr/>
          </a:p>
        </p:txBody>
      </p:sp>
      <p:sp>
        <p:nvSpPr>
          <p:cNvPr id="1999" name="Google Shape;1999;p108"/>
          <p:cNvSpPr txBox="1"/>
          <p:nvPr/>
        </p:nvSpPr>
        <p:spPr>
          <a:xfrm>
            <a:off x="6048735" y="7174568"/>
            <a:ext cx="1370602" cy="14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аналитика для бизнеса</a:t>
            </a:r>
            <a:endParaRPr/>
          </a:p>
        </p:txBody>
      </p:sp>
      <p:sp>
        <p:nvSpPr>
          <p:cNvPr id="2000" name="Google Shape;2000;p108"/>
          <p:cNvSpPr txBox="1"/>
          <p:nvPr/>
        </p:nvSpPr>
        <p:spPr>
          <a:xfrm>
            <a:off x="2187829" y="7451378"/>
            <a:ext cx="4768171" cy="1160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Порт №1 в стране, бренд украшений с четвертью миллиона подписчиков, клиника, стройка в Германии. Агенты не спрашивают, какая у вас ниша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1.jpg" id="2006" name="Google Shape;200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109"/>
          <p:cNvSpPr txBox="1"/>
          <p:nvPr/>
        </p:nvSpPr>
        <p:spPr>
          <a:xfrm>
            <a:off x="1037170" y="1965449"/>
            <a:ext cx="6626428" cy="201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Даже половина результата окупит вход</a:t>
            </a:r>
            <a:endParaRPr/>
          </a:p>
        </p:txBody>
      </p:sp>
      <p:sp>
        <p:nvSpPr>
          <p:cNvPr id="2008" name="Google Shape;2008;p109"/>
          <p:cNvSpPr txBox="1"/>
          <p:nvPr/>
        </p:nvSpPr>
        <p:spPr>
          <a:xfrm>
            <a:off x="1037170" y="4139394"/>
            <a:ext cx="6141338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Один сайт за $250 — и бронь вместе со входом уже отбились</a:t>
            </a:r>
            <a:endParaRPr/>
          </a:p>
        </p:txBody>
      </p:sp>
      <p:sp>
        <p:nvSpPr>
          <p:cNvPr id="2009" name="Google Shape;2009;p109"/>
          <p:cNvSpPr txBox="1"/>
          <p:nvPr/>
        </p:nvSpPr>
        <p:spPr>
          <a:xfrm>
            <a:off x="1037170" y="5189730"/>
            <a:ext cx="5887364" cy="104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Забудьте про 46 задач, охотника и куратора. Представьте, что всё, что вы вынесли, — один заказ</a:t>
            </a:r>
            <a:endParaRPr/>
          </a:p>
        </p:txBody>
      </p:sp>
      <p:sp>
        <p:nvSpPr>
          <p:cNvPr id="2010" name="Google Shape;2010;p109"/>
          <p:cNvSpPr txBox="1"/>
          <p:nvPr/>
        </p:nvSpPr>
        <p:spPr>
          <a:xfrm>
            <a:off x="1037170" y="6443356"/>
            <a:ext cx="5949657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А теперь представьте: навсегда попрощаться с «где брать клиентов»</a:t>
            </a:r>
            <a:endParaRPr/>
          </a:p>
        </p:txBody>
      </p:sp>
      <p:sp>
        <p:nvSpPr>
          <p:cNvPr id="2011" name="Google Shape;2011;p109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2.jpg" id="2017" name="Google Shape;201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10"/>
          <p:cNvSpPr txBox="1"/>
          <p:nvPr/>
        </p:nvSpPr>
        <p:spPr>
          <a:xfrm>
            <a:off x="1529219" y="2838415"/>
            <a:ext cx="608556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Мне достаточно и одного клиента</a:t>
            </a:r>
            <a:endParaRPr/>
          </a:p>
        </p:txBody>
      </p:sp>
      <p:sp>
        <p:nvSpPr>
          <p:cNvPr id="2019" name="Google Shape;2019;p110"/>
          <p:cNvSpPr txBox="1"/>
          <p:nvPr/>
        </p:nvSpPr>
        <p:spPr>
          <a:xfrm>
            <a:off x="2473331" y="4267982"/>
            <a:ext cx="4197234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Всё, что сверху, — подарок</a:t>
            </a:r>
            <a:endParaRPr/>
          </a:p>
        </p:txBody>
      </p:sp>
      <p:sp>
        <p:nvSpPr>
          <p:cNvPr id="2020" name="Google Shape;2020;p110"/>
          <p:cNvSpPr txBox="1"/>
          <p:nvPr/>
        </p:nvSpPr>
        <p:spPr>
          <a:xfrm>
            <a:off x="1393482" y="5115255"/>
            <a:ext cx="5888460" cy="452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2021" name="Google Shape;2021;p110"/>
          <p:cNvSpPr txBox="1"/>
          <p:nvPr/>
        </p:nvSpPr>
        <p:spPr>
          <a:xfrm>
            <a:off x="1461115" y="6050858"/>
            <a:ext cx="62216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3.jpg" id="2027" name="Google Shape;202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111"/>
          <p:cNvSpPr txBox="1"/>
          <p:nvPr/>
        </p:nvSpPr>
        <p:spPr>
          <a:xfrm>
            <a:off x="2031227" y="696623"/>
            <a:ext cx="5081451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6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Три набора глазами — на одном экране</a:t>
            </a:r>
            <a:endParaRPr/>
          </a:p>
        </p:txBody>
      </p:sp>
      <p:sp>
        <p:nvSpPr>
          <p:cNvPr id="2029" name="Google Shape;2029;p111"/>
          <p:cNvSpPr txBox="1"/>
          <p:nvPr/>
        </p:nvSpPr>
        <p:spPr>
          <a:xfrm>
            <a:off x="3815255" y="1728962"/>
            <a:ext cx="883579" cy="19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endParaRPr/>
          </a:p>
        </p:txBody>
      </p:sp>
      <p:sp>
        <p:nvSpPr>
          <p:cNvPr id="2030" name="Google Shape;2030;p111"/>
          <p:cNvSpPr txBox="1"/>
          <p:nvPr/>
        </p:nvSpPr>
        <p:spPr>
          <a:xfrm>
            <a:off x="4846568" y="1728495"/>
            <a:ext cx="883579" cy="19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endParaRPr/>
          </a:p>
        </p:txBody>
      </p:sp>
      <p:sp>
        <p:nvSpPr>
          <p:cNvPr id="2031" name="Google Shape;2031;p111"/>
          <p:cNvSpPr txBox="1"/>
          <p:nvPr/>
        </p:nvSpPr>
        <p:spPr>
          <a:xfrm>
            <a:off x="6691582" y="1728962"/>
            <a:ext cx="589053" cy="19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endParaRPr/>
          </a:p>
        </p:txBody>
      </p:sp>
      <p:sp>
        <p:nvSpPr>
          <p:cNvPr id="2032" name="Google Shape;2032;p111"/>
          <p:cNvSpPr txBox="1"/>
          <p:nvPr/>
        </p:nvSpPr>
        <p:spPr>
          <a:xfrm>
            <a:off x="1152610" y="2023343"/>
            <a:ext cx="2341363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Модулей программы</a:t>
            </a:r>
            <a:endParaRPr/>
          </a:p>
        </p:txBody>
      </p:sp>
      <p:sp>
        <p:nvSpPr>
          <p:cNvPr id="2033" name="Google Shape;2033;p111"/>
          <p:cNvSpPr txBox="1"/>
          <p:nvPr/>
        </p:nvSpPr>
        <p:spPr>
          <a:xfrm>
            <a:off x="4168077" y="2023343"/>
            <a:ext cx="177934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/>
          </a:p>
        </p:txBody>
      </p:sp>
      <p:sp>
        <p:nvSpPr>
          <p:cNvPr id="2034" name="Google Shape;2034;p111"/>
          <p:cNvSpPr txBox="1"/>
          <p:nvPr/>
        </p:nvSpPr>
        <p:spPr>
          <a:xfrm>
            <a:off x="5198550" y="2023343"/>
            <a:ext cx="179707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8</a:t>
            </a:r>
            <a:endParaRPr/>
          </a:p>
        </p:txBody>
      </p:sp>
      <p:sp>
        <p:nvSpPr>
          <p:cNvPr id="2035" name="Google Shape;2035;p111"/>
          <p:cNvSpPr txBox="1"/>
          <p:nvPr/>
        </p:nvSpPr>
        <p:spPr>
          <a:xfrm>
            <a:off x="6863878" y="2023343"/>
            <a:ext cx="244368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13</a:t>
            </a:r>
            <a:endParaRPr/>
          </a:p>
        </p:txBody>
      </p:sp>
      <p:sp>
        <p:nvSpPr>
          <p:cNvPr id="2036" name="Google Shape;2036;p111"/>
          <p:cNvSpPr txBox="1"/>
          <p:nvPr/>
        </p:nvSpPr>
        <p:spPr>
          <a:xfrm>
            <a:off x="1152610" y="2360551"/>
            <a:ext cx="2394682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Недель обучения и живых разборов</a:t>
            </a:r>
            <a:endParaRPr/>
          </a:p>
        </p:txBody>
      </p:sp>
      <p:sp>
        <p:nvSpPr>
          <p:cNvPr id="2037" name="Google Shape;2037;p111"/>
          <p:cNvSpPr txBox="1"/>
          <p:nvPr/>
        </p:nvSpPr>
        <p:spPr>
          <a:xfrm>
            <a:off x="4166771" y="2467667"/>
            <a:ext cx="180547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/>
          </a:p>
        </p:txBody>
      </p:sp>
      <p:sp>
        <p:nvSpPr>
          <p:cNvPr id="2038" name="Google Shape;2038;p111"/>
          <p:cNvSpPr txBox="1"/>
          <p:nvPr/>
        </p:nvSpPr>
        <p:spPr>
          <a:xfrm>
            <a:off x="5195937" y="2467667"/>
            <a:ext cx="184839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/>
          </a:p>
        </p:txBody>
      </p:sp>
      <p:sp>
        <p:nvSpPr>
          <p:cNvPr id="2039" name="Google Shape;2039;p111"/>
          <p:cNvSpPr txBox="1"/>
          <p:nvPr/>
        </p:nvSpPr>
        <p:spPr>
          <a:xfrm>
            <a:off x="6858466" y="2467667"/>
            <a:ext cx="255286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/>
          </a:p>
        </p:txBody>
      </p:sp>
      <p:sp>
        <p:nvSpPr>
          <p:cNvPr id="2040" name="Google Shape;2040;p111"/>
          <p:cNvSpPr txBox="1"/>
          <p:nvPr/>
        </p:nvSpPr>
        <p:spPr>
          <a:xfrm>
            <a:off x="1152610" y="2911990"/>
            <a:ext cx="1656885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Услуг в прайсе</a:t>
            </a:r>
            <a:endParaRPr/>
          </a:p>
        </p:txBody>
      </p:sp>
      <p:sp>
        <p:nvSpPr>
          <p:cNvPr id="2041" name="Google Shape;2041;p111"/>
          <p:cNvSpPr txBox="1"/>
          <p:nvPr/>
        </p:nvSpPr>
        <p:spPr>
          <a:xfrm>
            <a:off x="4183100" y="2911990"/>
            <a:ext cx="147983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/>
          </a:p>
        </p:txBody>
      </p:sp>
      <p:sp>
        <p:nvSpPr>
          <p:cNvPr id="2042" name="Google Shape;2042;p111"/>
          <p:cNvSpPr txBox="1"/>
          <p:nvPr/>
        </p:nvSpPr>
        <p:spPr>
          <a:xfrm>
            <a:off x="5198084" y="2911990"/>
            <a:ext cx="180547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/>
          </a:p>
        </p:txBody>
      </p:sp>
      <p:sp>
        <p:nvSpPr>
          <p:cNvPr id="2043" name="Google Shape;2043;p111"/>
          <p:cNvSpPr txBox="1"/>
          <p:nvPr/>
        </p:nvSpPr>
        <p:spPr>
          <a:xfrm>
            <a:off x="6902973" y="2911990"/>
            <a:ext cx="166271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7</a:t>
            </a:r>
            <a:endParaRPr/>
          </a:p>
        </p:txBody>
      </p:sp>
      <p:sp>
        <p:nvSpPr>
          <p:cNvPr id="2044" name="Google Shape;2044;p111"/>
          <p:cNvSpPr txBox="1"/>
          <p:nvPr/>
        </p:nvSpPr>
        <p:spPr>
          <a:xfrm>
            <a:off x="1152610" y="3249199"/>
            <a:ext cx="1209448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AI-агентов</a:t>
            </a:r>
            <a:endParaRPr/>
          </a:p>
        </p:txBody>
      </p:sp>
      <p:sp>
        <p:nvSpPr>
          <p:cNvPr id="2045" name="Google Shape;2045;p111"/>
          <p:cNvSpPr txBox="1"/>
          <p:nvPr/>
        </p:nvSpPr>
        <p:spPr>
          <a:xfrm>
            <a:off x="3796204" y="3249199"/>
            <a:ext cx="921774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 · сайты</a:t>
            </a:r>
            <a:endParaRPr/>
          </a:p>
        </p:txBody>
      </p:sp>
      <p:sp>
        <p:nvSpPr>
          <p:cNvPr id="2046" name="Google Shape;2046;p111"/>
          <p:cNvSpPr txBox="1"/>
          <p:nvPr/>
        </p:nvSpPr>
        <p:spPr>
          <a:xfrm>
            <a:off x="4596692" y="3249199"/>
            <a:ext cx="1383423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 · + контент</a:t>
            </a:r>
            <a:endParaRPr/>
          </a:p>
        </p:txBody>
      </p:sp>
      <p:sp>
        <p:nvSpPr>
          <p:cNvPr id="2047" name="Google Shape;2047;p111"/>
          <p:cNvSpPr txBox="1"/>
          <p:nvPr/>
        </p:nvSpPr>
        <p:spPr>
          <a:xfrm>
            <a:off x="5618928" y="3249199"/>
            <a:ext cx="2734361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7 · + реклама и продавец</a:t>
            </a:r>
            <a:endParaRPr/>
          </a:p>
        </p:txBody>
      </p:sp>
      <p:sp>
        <p:nvSpPr>
          <p:cNvPr id="2048" name="Google Shape;2048;p111"/>
          <p:cNvSpPr txBox="1"/>
          <p:nvPr/>
        </p:nvSpPr>
        <p:spPr>
          <a:xfrm>
            <a:off x="1152610" y="3586407"/>
            <a:ext cx="3498785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Готовых задач под ваши услуги</a:t>
            </a:r>
            <a:endParaRPr/>
          </a:p>
        </p:txBody>
      </p:sp>
      <p:sp>
        <p:nvSpPr>
          <p:cNvPr id="2049" name="Google Shape;2049;p111"/>
          <p:cNvSpPr txBox="1"/>
          <p:nvPr/>
        </p:nvSpPr>
        <p:spPr>
          <a:xfrm>
            <a:off x="4129822" y="3586407"/>
            <a:ext cx="254445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16</a:t>
            </a:r>
            <a:endParaRPr/>
          </a:p>
        </p:txBody>
      </p:sp>
      <p:sp>
        <p:nvSpPr>
          <p:cNvPr id="2050" name="Google Shape;2050;p111"/>
          <p:cNvSpPr txBox="1"/>
          <p:nvPr/>
        </p:nvSpPr>
        <p:spPr>
          <a:xfrm>
            <a:off x="5152737" y="3586407"/>
            <a:ext cx="271240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33</a:t>
            </a:r>
            <a:endParaRPr/>
          </a:p>
        </p:txBody>
      </p:sp>
      <p:sp>
        <p:nvSpPr>
          <p:cNvPr id="2051" name="Google Shape;2051;p111"/>
          <p:cNvSpPr txBox="1"/>
          <p:nvPr/>
        </p:nvSpPr>
        <p:spPr>
          <a:xfrm>
            <a:off x="6842604" y="3586407"/>
            <a:ext cx="287009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46</a:t>
            </a:r>
            <a:endParaRPr/>
          </a:p>
        </p:txBody>
      </p:sp>
      <p:sp>
        <p:nvSpPr>
          <p:cNvPr id="2052" name="Google Shape;2052;p111"/>
          <p:cNvSpPr txBox="1"/>
          <p:nvPr/>
        </p:nvSpPr>
        <p:spPr>
          <a:xfrm>
            <a:off x="1152610" y="3923615"/>
            <a:ext cx="2312230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Базы шаблонов и кейсов, нейросети со скидкой</a:t>
            </a:r>
            <a:endParaRPr/>
          </a:p>
        </p:txBody>
      </p:sp>
      <p:sp>
        <p:nvSpPr>
          <p:cNvPr id="2053" name="Google Shape;2053;p111"/>
          <p:cNvSpPr txBox="1"/>
          <p:nvPr/>
        </p:nvSpPr>
        <p:spPr>
          <a:xfrm>
            <a:off x="1152610" y="4475055"/>
            <a:ext cx="2110435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Куратор, чат, доска объявлений, договоры</a:t>
            </a:r>
            <a:endParaRPr/>
          </a:p>
        </p:txBody>
      </p:sp>
      <p:sp>
        <p:nvSpPr>
          <p:cNvPr id="2054" name="Google Shape;2054;p111"/>
          <p:cNvSpPr txBox="1"/>
          <p:nvPr/>
        </p:nvSpPr>
        <p:spPr>
          <a:xfrm>
            <a:off x="1152610" y="5026494"/>
            <a:ext cx="2456026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Обновления агентов, пока пользуетесь</a:t>
            </a:r>
            <a:endParaRPr/>
          </a:p>
        </p:txBody>
      </p:sp>
      <p:sp>
        <p:nvSpPr>
          <p:cNvPr id="2055" name="Google Shape;2055;p111"/>
          <p:cNvSpPr txBox="1"/>
          <p:nvPr/>
        </p:nvSpPr>
        <p:spPr>
          <a:xfrm>
            <a:off x="1152610" y="5577933"/>
            <a:ext cx="2334594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Реклама и видимость: AI-таргет и AI-SEO</a:t>
            </a:r>
            <a:endParaRPr/>
          </a:p>
        </p:txBody>
      </p:sp>
      <p:sp>
        <p:nvSpPr>
          <p:cNvPr id="2056" name="Google Shape;2056;p111"/>
          <p:cNvSpPr txBox="1"/>
          <p:nvPr/>
        </p:nvSpPr>
        <p:spPr>
          <a:xfrm>
            <a:off x="1152610" y="6129372"/>
            <a:ext cx="2060482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Продавец: настройки, скрипты, шаблоны КП</a:t>
            </a:r>
            <a:endParaRPr/>
          </a:p>
        </p:txBody>
      </p:sp>
      <p:sp>
        <p:nvSpPr>
          <p:cNvPr id="2057" name="Google Shape;2057;p111"/>
          <p:cNvSpPr txBox="1"/>
          <p:nvPr/>
        </p:nvSpPr>
        <p:spPr>
          <a:xfrm>
            <a:off x="1152610" y="6680811"/>
            <a:ext cx="2390711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Связки локаций и каталог связок</a:t>
            </a:r>
            <a:endParaRPr/>
          </a:p>
        </p:txBody>
      </p:sp>
      <p:sp>
        <p:nvSpPr>
          <p:cNvPr id="2058" name="Google Shape;2058;p111"/>
          <p:cNvSpPr txBox="1"/>
          <p:nvPr/>
        </p:nvSpPr>
        <p:spPr>
          <a:xfrm>
            <a:off x="1152610" y="7232251"/>
            <a:ext cx="2834640" cy="47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Страт-сессии со мной в малой группе</a:t>
            </a:r>
            <a:endParaRPr/>
          </a:p>
        </p:txBody>
      </p:sp>
      <p:sp>
        <p:nvSpPr>
          <p:cNvPr id="2059" name="Google Shape;2059;p111"/>
          <p:cNvSpPr txBox="1"/>
          <p:nvPr/>
        </p:nvSpPr>
        <p:spPr>
          <a:xfrm>
            <a:off x="6494403" y="7339366"/>
            <a:ext cx="983319" cy="2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4 сессии</a:t>
            </a:r>
            <a:endParaRPr/>
          </a:p>
        </p:txBody>
      </p:sp>
      <p:sp>
        <p:nvSpPr>
          <p:cNvPr id="2060" name="Google Shape;2060;p111"/>
          <p:cNvSpPr txBox="1"/>
          <p:nvPr/>
        </p:nvSpPr>
        <p:spPr>
          <a:xfrm>
            <a:off x="1152610" y="7783689"/>
            <a:ext cx="2026788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Ценность набора</a:t>
            </a:r>
            <a:endParaRPr/>
          </a:p>
        </p:txBody>
      </p:sp>
      <p:sp>
        <p:nvSpPr>
          <p:cNvPr id="2061" name="Google Shape;2061;p111"/>
          <p:cNvSpPr txBox="1"/>
          <p:nvPr/>
        </p:nvSpPr>
        <p:spPr>
          <a:xfrm>
            <a:off x="3850262" y="7783689"/>
            <a:ext cx="813659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$6.060</a:t>
            </a:r>
            <a:endParaRPr/>
          </a:p>
        </p:txBody>
      </p:sp>
      <p:sp>
        <p:nvSpPr>
          <p:cNvPr id="2062" name="Google Shape;2062;p111"/>
          <p:cNvSpPr txBox="1"/>
          <p:nvPr/>
        </p:nvSpPr>
        <p:spPr>
          <a:xfrm>
            <a:off x="4842490" y="7783689"/>
            <a:ext cx="891827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$12.390</a:t>
            </a:r>
            <a:endParaRPr/>
          </a:p>
        </p:txBody>
      </p:sp>
      <p:sp>
        <p:nvSpPr>
          <p:cNvPr id="2063" name="Google Shape;2063;p111"/>
          <p:cNvSpPr txBox="1"/>
          <p:nvPr/>
        </p:nvSpPr>
        <p:spPr>
          <a:xfrm>
            <a:off x="6548968" y="7783689"/>
            <a:ext cx="874188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$21.350</a:t>
            </a:r>
            <a:endParaRPr/>
          </a:p>
        </p:txBody>
      </p:sp>
      <p:sp>
        <p:nvSpPr>
          <p:cNvPr id="2064" name="Google Shape;2064;p111"/>
          <p:cNvSpPr txBox="1"/>
          <p:nvPr/>
        </p:nvSpPr>
        <p:spPr>
          <a:xfrm>
            <a:off x="1152610" y="8120898"/>
            <a:ext cx="1598132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Цена сегодня</a:t>
            </a:r>
            <a:endParaRPr/>
          </a:p>
        </p:txBody>
      </p:sp>
      <p:sp>
        <p:nvSpPr>
          <p:cNvPr id="2065" name="Google Shape;2065;p111"/>
          <p:cNvSpPr txBox="1"/>
          <p:nvPr/>
        </p:nvSpPr>
        <p:spPr>
          <a:xfrm>
            <a:off x="3966643" y="8120898"/>
            <a:ext cx="580804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$490</a:t>
            </a:r>
            <a:endParaRPr/>
          </a:p>
        </p:txBody>
      </p:sp>
      <p:sp>
        <p:nvSpPr>
          <p:cNvPr id="2066" name="Google Shape;2066;p111"/>
          <p:cNvSpPr txBox="1"/>
          <p:nvPr/>
        </p:nvSpPr>
        <p:spPr>
          <a:xfrm>
            <a:off x="5017227" y="8120898"/>
            <a:ext cx="542354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$749</a:t>
            </a:r>
            <a:endParaRPr/>
          </a:p>
        </p:txBody>
      </p:sp>
      <p:sp>
        <p:nvSpPr>
          <p:cNvPr id="2067" name="Google Shape;2067;p111"/>
          <p:cNvSpPr txBox="1"/>
          <p:nvPr/>
        </p:nvSpPr>
        <p:spPr>
          <a:xfrm>
            <a:off x="6609481" y="8120898"/>
            <a:ext cx="753255" cy="2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$1.500</a:t>
            </a:r>
            <a:endParaRPr/>
          </a:p>
        </p:txBody>
      </p:sp>
      <p:sp>
        <p:nvSpPr>
          <p:cNvPr id="2068" name="Google Shape;2068;p111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4.jpg" id="2074" name="Google Shape;207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112"/>
          <p:cNvSpPr txBox="1"/>
          <p:nvPr/>
        </p:nvSpPr>
        <p:spPr>
          <a:xfrm>
            <a:off x="1694160" y="2106283"/>
            <a:ext cx="5755576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Помните 5 задач в начале?</a:t>
            </a:r>
            <a:endParaRPr/>
          </a:p>
        </p:txBody>
      </p:sp>
      <p:sp>
        <p:nvSpPr>
          <p:cNvPr id="2076" name="Google Shape;2076;p112"/>
          <p:cNvSpPr txBox="1"/>
          <p:nvPr/>
        </p:nvSpPr>
        <p:spPr>
          <a:xfrm>
            <a:off x="957466" y="3787922"/>
            <a:ext cx="1503543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Креатив</a:t>
            </a:r>
            <a:endParaRPr/>
          </a:p>
        </p:txBody>
      </p:sp>
      <p:sp>
        <p:nvSpPr>
          <p:cNvPr id="2077" name="Google Shape;2077;p112"/>
          <p:cNvSpPr txBox="1"/>
          <p:nvPr/>
        </p:nvSpPr>
        <p:spPr>
          <a:xfrm>
            <a:off x="957466" y="4128577"/>
            <a:ext cx="737961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</a:t>
            </a:r>
            <a:endParaRPr/>
          </a:p>
        </p:txBody>
      </p:sp>
      <p:sp>
        <p:nvSpPr>
          <p:cNvPr id="2078" name="Google Shape;2078;p112"/>
          <p:cNvSpPr txBox="1"/>
          <p:nvPr/>
        </p:nvSpPr>
        <p:spPr>
          <a:xfrm>
            <a:off x="3578712" y="3787922"/>
            <a:ext cx="1126859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Видео</a:t>
            </a:r>
            <a:endParaRPr/>
          </a:p>
        </p:txBody>
      </p:sp>
      <p:sp>
        <p:nvSpPr>
          <p:cNvPr id="2079" name="Google Shape;2079;p112"/>
          <p:cNvSpPr txBox="1"/>
          <p:nvPr/>
        </p:nvSpPr>
        <p:spPr>
          <a:xfrm>
            <a:off x="3578712" y="4128577"/>
            <a:ext cx="90229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готово</a:t>
            </a:r>
            <a:endParaRPr/>
          </a:p>
        </p:txBody>
      </p:sp>
      <p:sp>
        <p:nvSpPr>
          <p:cNvPr id="2080" name="Google Shape;2080;p112"/>
          <p:cNvSpPr txBox="1"/>
          <p:nvPr/>
        </p:nvSpPr>
        <p:spPr>
          <a:xfrm>
            <a:off x="6199958" y="3787922"/>
            <a:ext cx="1581128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Реклама</a:t>
            </a:r>
            <a:endParaRPr/>
          </a:p>
        </p:txBody>
      </p:sp>
      <p:sp>
        <p:nvSpPr>
          <p:cNvPr id="2081" name="Google Shape;2081;p112"/>
          <p:cNvSpPr txBox="1"/>
          <p:nvPr/>
        </p:nvSpPr>
        <p:spPr>
          <a:xfrm>
            <a:off x="6199958" y="4128577"/>
            <a:ext cx="891882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готова</a:t>
            </a:r>
            <a:endParaRPr/>
          </a:p>
        </p:txBody>
      </p:sp>
      <p:sp>
        <p:nvSpPr>
          <p:cNvPr id="2082" name="Google Shape;2082;p112"/>
          <p:cNvSpPr txBox="1"/>
          <p:nvPr/>
        </p:nvSpPr>
        <p:spPr>
          <a:xfrm>
            <a:off x="957466" y="5147071"/>
            <a:ext cx="1796118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Продавец</a:t>
            </a:r>
            <a:endParaRPr/>
          </a:p>
        </p:txBody>
      </p:sp>
      <p:sp>
        <p:nvSpPr>
          <p:cNvPr id="2083" name="Google Shape;2083;p112"/>
          <p:cNvSpPr txBox="1"/>
          <p:nvPr/>
        </p:nvSpPr>
        <p:spPr>
          <a:xfrm>
            <a:off x="957466" y="5487726"/>
            <a:ext cx="737961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</a:t>
            </a:r>
            <a:endParaRPr/>
          </a:p>
        </p:txBody>
      </p:sp>
      <p:sp>
        <p:nvSpPr>
          <p:cNvPr id="2084" name="Google Shape;2084;p112"/>
          <p:cNvSpPr txBox="1"/>
          <p:nvPr/>
        </p:nvSpPr>
        <p:spPr>
          <a:xfrm>
            <a:off x="3578712" y="5147071"/>
            <a:ext cx="1433730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Контент</a:t>
            </a:r>
            <a:endParaRPr/>
          </a:p>
        </p:txBody>
      </p:sp>
      <p:sp>
        <p:nvSpPr>
          <p:cNvPr id="2085" name="Google Shape;2085;p112"/>
          <p:cNvSpPr txBox="1"/>
          <p:nvPr/>
        </p:nvSpPr>
        <p:spPr>
          <a:xfrm>
            <a:off x="3578712" y="5487726"/>
            <a:ext cx="737961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готов</a:t>
            </a:r>
            <a:endParaRPr/>
          </a:p>
        </p:txBody>
      </p:sp>
      <p:sp>
        <p:nvSpPr>
          <p:cNvPr id="2086" name="Google Shape;2086;p112"/>
          <p:cNvSpPr txBox="1"/>
          <p:nvPr/>
        </p:nvSpPr>
        <p:spPr>
          <a:xfrm>
            <a:off x="1868817" y="6309053"/>
            <a:ext cx="5406161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Пока мы разговаривали, агенты доделали остальное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5.jpg" id="2092" name="Google Shape;209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3" name="Google Shape;2093;p113"/>
          <p:cNvSpPr txBox="1"/>
          <p:nvPr/>
        </p:nvSpPr>
        <p:spPr>
          <a:xfrm>
            <a:off x="300390" y="2855663"/>
            <a:ext cx="8543116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Забирайте подарки</a:t>
            </a:r>
            <a:endParaRPr/>
          </a:p>
        </p:txBody>
      </p:sp>
      <p:sp>
        <p:nvSpPr>
          <p:cNvPr id="2094" name="Google Shape;2094;p113"/>
          <p:cNvSpPr txBox="1"/>
          <p:nvPr/>
        </p:nvSpPr>
        <p:spPr>
          <a:xfrm>
            <a:off x="957466" y="4004071"/>
            <a:ext cx="1222071" cy="280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ХОЛСТ</a:t>
            </a:r>
            <a:endParaRPr/>
          </a:p>
        </p:txBody>
      </p:sp>
      <p:sp>
        <p:nvSpPr>
          <p:cNvPr id="2095" name="Google Shape;2095;p113"/>
          <p:cNvSpPr txBox="1"/>
          <p:nvPr/>
        </p:nvSpPr>
        <p:spPr>
          <a:xfrm>
            <a:off x="957466" y="4344726"/>
            <a:ext cx="2208847" cy="16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весь эфир в одном документе: калькулятор, услуги и цены, путь до клиента, все промты</a:t>
            </a:r>
            <a:endParaRPr/>
          </a:p>
        </p:txBody>
      </p:sp>
      <p:sp>
        <p:nvSpPr>
          <p:cNvPr id="2096" name="Google Shape;2096;p113"/>
          <p:cNvSpPr txBox="1"/>
          <p:nvPr/>
        </p:nvSpPr>
        <p:spPr>
          <a:xfrm>
            <a:off x="3578712" y="4004071"/>
            <a:ext cx="2206790" cy="876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Агент, который собирает сайты</a:t>
            </a:r>
            <a:endParaRPr/>
          </a:p>
        </p:txBody>
      </p:sp>
      <p:sp>
        <p:nvSpPr>
          <p:cNvPr id="2097" name="Google Shape;2097;p113"/>
          <p:cNvSpPr txBox="1"/>
          <p:nvPr/>
        </p:nvSpPr>
        <p:spPr>
          <a:xfrm>
            <a:off x="3578712" y="4939903"/>
            <a:ext cx="1921840" cy="57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тот же, которым я работал при вас</a:t>
            </a:r>
            <a:endParaRPr/>
          </a:p>
        </p:txBody>
      </p:sp>
      <p:sp>
        <p:nvSpPr>
          <p:cNvPr id="2098" name="Google Shape;2098;p113"/>
          <p:cNvSpPr txBox="1"/>
          <p:nvPr/>
        </p:nvSpPr>
        <p:spPr>
          <a:xfrm>
            <a:off x="6199958" y="4004071"/>
            <a:ext cx="1895665" cy="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9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Подписки на нейросети</a:t>
            </a:r>
            <a:endParaRPr/>
          </a:p>
        </p:txBody>
      </p:sp>
      <p:sp>
        <p:nvSpPr>
          <p:cNvPr id="2099" name="Google Shape;2099;p113"/>
          <p:cNvSpPr txBox="1"/>
          <p:nvPr/>
        </p:nvSpPr>
        <p:spPr>
          <a:xfrm>
            <a:off x="6199958" y="4642314"/>
            <a:ext cx="2476203" cy="300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со скидкой до 90%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6.jpg" id="2105" name="Google Shape;2105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114"/>
          <p:cNvSpPr txBox="1"/>
          <p:nvPr/>
        </p:nvSpPr>
        <p:spPr>
          <a:xfrm>
            <a:off x="1037170" y="2943531"/>
            <a:ext cx="5480342" cy="138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Карта — не путешествие</a:t>
            </a:r>
            <a:endParaRPr/>
          </a:p>
        </p:txBody>
      </p:sp>
      <p:sp>
        <p:nvSpPr>
          <p:cNvPr id="2107" name="Google Shape;2107;p114"/>
          <p:cNvSpPr txBox="1"/>
          <p:nvPr/>
        </p:nvSpPr>
        <p:spPr>
          <a:xfrm>
            <a:off x="1037170" y="4485560"/>
            <a:ext cx="5868439" cy="42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ХОЛСТ покажет, ЧТО работает</a:t>
            </a:r>
            <a:endParaRPr/>
          </a:p>
        </p:txBody>
      </p:sp>
      <p:sp>
        <p:nvSpPr>
          <p:cNvPr id="2108" name="Google Shape;2108;p114"/>
          <p:cNvSpPr txBox="1"/>
          <p:nvPr/>
        </p:nvSpPr>
        <p:spPr>
          <a:xfrm>
            <a:off x="1037170" y="5120435"/>
            <a:ext cx="5437593" cy="104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Система даёт руки, которые это делают, и человека, который проверит ваш первый заказ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7.jpg" id="2113" name="Google Shape;211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4" name="Google Shape;2114;p115"/>
          <p:cNvSpPr txBox="1"/>
          <p:nvPr/>
        </p:nvSpPr>
        <p:spPr>
          <a:xfrm>
            <a:off x="1758962" y="3166212"/>
            <a:ext cx="5626074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Забрали карту — берите и руки</a:t>
            </a:r>
            <a:endParaRPr/>
          </a:p>
        </p:txBody>
      </p:sp>
      <p:sp>
        <p:nvSpPr>
          <p:cNvPr id="2115" name="Google Shape;2115;p115"/>
          <p:cNvSpPr txBox="1"/>
          <p:nvPr/>
        </p:nvSpPr>
        <p:spPr>
          <a:xfrm>
            <a:off x="1392783" y="4787411"/>
            <a:ext cx="58897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0" u="none" cap="none" strike="noStrike">
                <a:solidFill>
                  <a:srgbClr val="04140A"/>
                </a:solidFill>
                <a:latin typeface="Manrope"/>
                <a:ea typeface="Manrope"/>
                <a:cs typeface="Manrope"/>
                <a:sym typeface="Manrope"/>
              </a:rPr>
              <a:t>Забронировать место — $10</a:t>
            </a:r>
            <a:endParaRPr/>
          </a:p>
        </p:txBody>
      </p:sp>
      <p:sp>
        <p:nvSpPr>
          <p:cNvPr id="2116" name="Google Shape;2116;p115"/>
          <p:cNvSpPr txBox="1"/>
          <p:nvPr/>
        </p:nvSpPr>
        <p:spPr>
          <a:xfrm>
            <a:off x="1461115" y="5723062"/>
            <a:ext cx="62216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FB02E"/>
                </a:solidFill>
                <a:latin typeface="Arial"/>
                <a:ea typeface="Arial"/>
                <a:cs typeface="Arial"/>
                <a:sym typeface="Arial"/>
              </a:rPr>
              <a:t>условия действуют до конца эфира + 30 минут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8.jpg" id="2122" name="Google Shape;2122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3" name="Google Shape;2123;p116"/>
          <p:cNvSpPr txBox="1"/>
          <p:nvPr/>
        </p:nvSpPr>
        <p:spPr>
          <a:xfrm>
            <a:off x="731519" y="3477016"/>
            <a:ext cx="6714667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Ответы на то, что вы сейчас думаете</a:t>
            </a:r>
            <a:endParaRPr/>
          </a:p>
        </p:txBody>
      </p:sp>
      <p:sp>
        <p:nvSpPr>
          <p:cNvPr id="2124" name="Google Shape;2124;p116"/>
          <p:cNvSpPr txBox="1"/>
          <p:nvPr/>
        </p:nvSpPr>
        <p:spPr>
          <a:xfrm>
            <a:off x="731519" y="4796875"/>
            <a:ext cx="5720372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Пройдусь по самым частым — потом отвечу на ваши из чата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9.jpg" id="2130" name="Google Shape;2130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17"/>
          <p:cNvSpPr txBox="1"/>
          <p:nvPr/>
        </p:nvSpPr>
        <p:spPr>
          <a:xfrm>
            <a:off x="282051" y="3420427"/>
            <a:ext cx="8579896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Пока отвечаю на вопросы</a:t>
            </a:r>
            <a:endParaRPr/>
          </a:p>
        </p:txBody>
      </p:sp>
      <p:sp>
        <p:nvSpPr>
          <p:cNvPr id="2132" name="Google Shape;2132;p117"/>
          <p:cNvSpPr txBox="1"/>
          <p:nvPr/>
        </p:nvSpPr>
        <p:spPr>
          <a:xfrm>
            <a:off x="841227" y="4176848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33" name="Google Shape;2133;p117"/>
          <p:cNvSpPr txBox="1"/>
          <p:nvPr/>
        </p:nvSpPr>
        <p:spPr>
          <a:xfrm>
            <a:off x="1247298" y="4127046"/>
            <a:ext cx="2552817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Ценность целиком</a:t>
            </a:r>
            <a:endParaRPr/>
          </a:p>
        </p:txBody>
      </p:sp>
      <p:sp>
        <p:nvSpPr>
          <p:cNvPr id="2134" name="Google Shape;2134;p117"/>
          <p:cNvSpPr txBox="1"/>
          <p:nvPr/>
        </p:nvSpPr>
        <p:spPr>
          <a:xfrm>
            <a:off x="7127335" y="4146640"/>
            <a:ext cx="1175436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$21.350</a:t>
            </a:r>
            <a:endParaRPr/>
          </a:p>
        </p:txBody>
      </p:sp>
      <p:sp>
        <p:nvSpPr>
          <p:cNvPr id="2135" name="Google Shape;2135;p117"/>
          <p:cNvSpPr txBox="1"/>
          <p:nvPr/>
        </p:nvSpPr>
        <p:spPr>
          <a:xfrm>
            <a:off x="841227" y="4622108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36" name="Google Shape;2136;p117"/>
          <p:cNvSpPr txBox="1"/>
          <p:nvPr/>
        </p:nvSpPr>
        <p:spPr>
          <a:xfrm>
            <a:off x="1247298" y="4572306"/>
            <a:ext cx="656351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Вход</a:t>
            </a:r>
            <a:endParaRPr/>
          </a:p>
        </p:txBody>
      </p:sp>
      <p:sp>
        <p:nvSpPr>
          <p:cNvPr id="2137" name="Google Shape;2137;p117"/>
          <p:cNvSpPr txBox="1"/>
          <p:nvPr/>
        </p:nvSpPr>
        <p:spPr>
          <a:xfrm>
            <a:off x="7194511" y="4591900"/>
            <a:ext cx="1108260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от $490</a:t>
            </a:r>
            <a:endParaRPr/>
          </a:p>
        </p:txBody>
      </p:sp>
      <p:sp>
        <p:nvSpPr>
          <p:cNvPr id="2138" name="Google Shape;2138;p117"/>
          <p:cNvSpPr txBox="1"/>
          <p:nvPr/>
        </p:nvSpPr>
        <p:spPr>
          <a:xfrm>
            <a:off x="1247298" y="5193506"/>
            <a:ext cx="3835401" cy="346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Сегодня — бронь</a:t>
            </a:r>
            <a:endParaRPr/>
          </a:p>
        </p:txBody>
      </p:sp>
      <p:sp>
        <p:nvSpPr>
          <p:cNvPr id="2139" name="Google Shape;2139;p117"/>
          <p:cNvSpPr txBox="1"/>
          <p:nvPr/>
        </p:nvSpPr>
        <p:spPr>
          <a:xfrm>
            <a:off x="7004920" y="5099208"/>
            <a:ext cx="1297852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$10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0.jpg" id="2145" name="Google Shape;2145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6" name="Google Shape;2146;p118"/>
          <p:cNvSpPr txBox="1"/>
          <p:nvPr/>
        </p:nvSpPr>
        <p:spPr>
          <a:xfrm>
            <a:off x="731519" y="3743937"/>
            <a:ext cx="4091752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«Дорого»</a:t>
            </a:r>
            <a:endParaRPr/>
          </a:p>
        </p:txBody>
      </p:sp>
      <p:sp>
        <p:nvSpPr>
          <p:cNvPr id="2147" name="Google Shape;2147;p118"/>
          <p:cNvSpPr txBox="1"/>
          <p:nvPr/>
        </p:nvSpPr>
        <p:spPr>
          <a:xfrm>
            <a:off x="982265" y="4560570"/>
            <a:ext cx="5568810" cy="80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Один сайт — $250. Вход от $490. Это две сделки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1.jpg" id="2153" name="Google Shape;2153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19"/>
          <p:cNvSpPr txBox="1"/>
          <p:nvPr/>
        </p:nvSpPr>
        <p:spPr>
          <a:xfrm>
            <a:off x="0" y="3137637"/>
            <a:ext cx="9143999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«У меня нет времени»</a:t>
            </a:r>
            <a:endParaRPr/>
          </a:p>
        </p:txBody>
      </p:sp>
      <p:sp>
        <p:nvSpPr>
          <p:cNvPr id="2155" name="Google Shape;2155;p119"/>
          <p:cNvSpPr txBox="1"/>
          <p:nvPr/>
        </p:nvSpPr>
        <p:spPr>
          <a:xfrm>
            <a:off x="1036409" y="4235223"/>
            <a:ext cx="40902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2F5F3"/>
                </a:solidFill>
                <a:latin typeface="Arial"/>
                <a:ea typeface="Arial"/>
                <a:cs typeface="Arial"/>
                <a:sym typeface="Arial"/>
              </a:rPr>
              <a:t>ПН</a:t>
            </a:r>
            <a:endParaRPr/>
          </a:p>
        </p:txBody>
      </p:sp>
      <p:sp>
        <p:nvSpPr>
          <p:cNvPr id="2156" name="Google Shape;2156;p119"/>
          <p:cNvSpPr txBox="1"/>
          <p:nvPr/>
        </p:nvSpPr>
        <p:spPr>
          <a:xfrm>
            <a:off x="740780" y="4536893"/>
            <a:ext cx="100028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30 мин</a:t>
            </a:r>
            <a:endParaRPr/>
          </a:p>
        </p:txBody>
      </p:sp>
      <p:sp>
        <p:nvSpPr>
          <p:cNvPr id="2157" name="Google Shape;2157;p119"/>
          <p:cNvSpPr txBox="1"/>
          <p:nvPr/>
        </p:nvSpPr>
        <p:spPr>
          <a:xfrm>
            <a:off x="2167432" y="4352788"/>
            <a:ext cx="36766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ВТ</a:t>
            </a:r>
            <a:endParaRPr/>
          </a:p>
        </p:txBody>
      </p:sp>
      <p:sp>
        <p:nvSpPr>
          <p:cNvPr id="2158" name="Google Shape;2158;p119"/>
          <p:cNvSpPr txBox="1"/>
          <p:nvPr/>
        </p:nvSpPr>
        <p:spPr>
          <a:xfrm>
            <a:off x="3284575" y="4235223"/>
            <a:ext cx="35406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2F5F3"/>
                </a:solidFill>
                <a:latin typeface="Arial"/>
                <a:ea typeface="Arial"/>
                <a:cs typeface="Arial"/>
                <a:sym typeface="Arial"/>
              </a:rPr>
              <a:t>СР</a:t>
            </a:r>
            <a:endParaRPr/>
          </a:p>
        </p:txBody>
      </p:sp>
      <p:sp>
        <p:nvSpPr>
          <p:cNvPr id="2159" name="Google Shape;2159;p119"/>
          <p:cNvSpPr txBox="1"/>
          <p:nvPr/>
        </p:nvSpPr>
        <p:spPr>
          <a:xfrm>
            <a:off x="2961466" y="4536893"/>
            <a:ext cx="100028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30 мин</a:t>
            </a:r>
            <a:endParaRPr/>
          </a:p>
        </p:txBody>
      </p:sp>
      <p:sp>
        <p:nvSpPr>
          <p:cNvPr id="2160" name="Google Shape;2160;p119"/>
          <p:cNvSpPr txBox="1"/>
          <p:nvPr/>
        </p:nvSpPr>
        <p:spPr>
          <a:xfrm>
            <a:off x="4385323" y="4352788"/>
            <a:ext cx="37335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ЧТ</a:t>
            </a:r>
            <a:endParaRPr/>
          </a:p>
        </p:txBody>
      </p:sp>
      <p:sp>
        <p:nvSpPr>
          <p:cNvPr id="2161" name="Google Shape;2161;p119"/>
          <p:cNvSpPr txBox="1"/>
          <p:nvPr/>
        </p:nvSpPr>
        <p:spPr>
          <a:xfrm>
            <a:off x="5491641" y="4235223"/>
            <a:ext cx="381402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F2F5F3"/>
                </a:solidFill>
                <a:latin typeface="Arial"/>
                <a:ea typeface="Arial"/>
                <a:cs typeface="Arial"/>
                <a:sym typeface="Arial"/>
              </a:rPr>
              <a:t>ПТ</a:t>
            </a:r>
            <a:endParaRPr/>
          </a:p>
        </p:txBody>
      </p:sp>
      <p:sp>
        <p:nvSpPr>
          <p:cNvPr id="2162" name="Google Shape;2162;p119"/>
          <p:cNvSpPr txBox="1"/>
          <p:nvPr/>
        </p:nvSpPr>
        <p:spPr>
          <a:xfrm>
            <a:off x="5182151" y="4536893"/>
            <a:ext cx="1000280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0" u="none" cap="none" strike="noStrike">
                <a:solidFill>
                  <a:srgbClr val="31E981"/>
                </a:solidFill>
                <a:latin typeface="Manrope"/>
                <a:ea typeface="Manrope"/>
                <a:cs typeface="Manrope"/>
                <a:sym typeface="Manrope"/>
              </a:rPr>
              <a:t>30 мин</a:t>
            </a:r>
            <a:endParaRPr/>
          </a:p>
        </p:txBody>
      </p:sp>
      <p:sp>
        <p:nvSpPr>
          <p:cNvPr id="2163" name="Google Shape;2163;p119"/>
          <p:cNvSpPr txBox="1"/>
          <p:nvPr/>
        </p:nvSpPr>
        <p:spPr>
          <a:xfrm>
            <a:off x="6601863" y="4352788"/>
            <a:ext cx="381541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СБ</a:t>
            </a:r>
            <a:endParaRPr/>
          </a:p>
        </p:txBody>
      </p:sp>
      <p:sp>
        <p:nvSpPr>
          <p:cNvPr id="2164" name="Google Shape;2164;p119"/>
          <p:cNvSpPr txBox="1"/>
          <p:nvPr/>
        </p:nvSpPr>
        <p:spPr>
          <a:xfrm>
            <a:off x="7712206" y="4352788"/>
            <a:ext cx="381541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ВС</a:t>
            </a:r>
            <a:endParaRPr/>
          </a:p>
        </p:txBody>
      </p:sp>
      <p:sp>
        <p:nvSpPr>
          <p:cNvPr id="2165" name="Google Shape;2165;p119"/>
          <p:cNvSpPr txBox="1"/>
          <p:nvPr/>
        </p:nvSpPr>
        <p:spPr>
          <a:xfrm>
            <a:off x="1671529" y="5277598"/>
            <a:ext cx="5800839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Три куска по полчаса за неделю. Прервались — вернулись к тому же месту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0.jpg" id="2171" name="Google Shape;2171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20"/>
          <p:cNvSpPr txBox="1"/>
          <p:nvPr/>
        </p:nvSpPr>
        <p:spPr>
          <a:xfrm>
            <a:off x="731519" y="3743937"/>
            <a:ext cx="6594603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«Я в этом ноль»</a:t>
            </a:r>
            <a:endParaRPr/>
          </a:p>
        </p:txBody>
      </p:sp>
      <p:sp>
        <p:nvSpPr>
          <p:cNvPr id="2173" name="Google Shape;2173;p120"/>
          <p:cNvSpPr txBox="1"/>
          <p:nvPr/>
        </p:nvSpPr>
        <p:spPr>
          <a:xfrm>
            <a:off x="982265" y="4560570"/>
            <a:ext cx="4781283" cy="80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Задачу ставите словами. Программировать не придётся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3.jpg" id="2179" name="Google Shape;2179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121"/>
          <p:cNvSpPr txBox="1"/>
          <p:nvPr/>
        </p:nvSpPr>
        <p:spPr>
          <a:xfrm>
            <a:off x="2321324" y="2890055"/>
            <a:ext cx="450124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«Мне уже 47. Не поздно?»</a:t>
            </a:r>
            <a:endParaRPr/>
          </a:p>
        </p:txBody>
      </p:sp>
      <p:sp>
        <p:nvSpPr>
          <p:cNvPr id="2181" name="Google Shape;2181;p121"/>
          <p:cNvSpPr txBox="1"/>
          <p:nvPr/>
        </p:nvSpPr>
        <p:spPr>
          <a:xfrm>
            <a:off x="5042013" y="4313192"/>
            <a:ext cx="90326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1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47</a:t>
            </a:r>
            <a:endParaRPr/>
          </a:p>
        </p:txBody>
      </p:sp>
      <p:sp>
        <p:nvSpPr>
          <p:cNvPr id="2182" name="Google Shape;2182;p121"/>
          <p:cNvSpPr txBox="1"/>
          <p:nvPr/>
        </p:nvSpPr>
        <p:spPr>
          <a:xfrm>
            <a:off x="400205" y="4943985"/>
            <a:ext cx="2503267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18 — самый младший</a:t>
            </a:r>
            <a:endParaRPr/>
          </a:p>
        </p:txBody>
      </p:sp>
      <p:sp>
        <p:nvSpPr>
          <p:cNvPr id="2183" name="Google Shape;2183;p121"/>
          <p:cNvSpPr txBox="1"/>
          <p:nvPr/>
        </p:nvSpPr>
        <p:spPr>
          <a:xfrm>
            <a:off x="6353122" y="4943985"/>
            <a:ext cx="2373496" cy="23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65 — самая опытная</a:t>
            </a:r>
            <a:endParaRPr/>
          </a:p>
        </p:txBody>
      </p:sp>
      <p:sp>
        <p:nvSpPr>
          <p:cNvPr id="2184" name="Google Shape;2184;p121"/>
          <p:cNvSpPr txBox="1"/>
          <p:nvPr/>
        </p:nvSpPr>
        <p:spPr>
          <a:xfrm>
            <a:off x="2166797" y="5525282"/>
            <a:ext cx="4810201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Ваш опыт никуда не делся. Он просто перестал быть работой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4.jpg" id="2190" name="Google Shape;2190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122"/>
          <p:cNvSpPr txBox="1"/>
          <p:nvPr/>
        </p:nvSpPr>
        <p:spPr>
          <a:xfrm>
            <a:off x="1368291" y="2318146"/>
            <a:ext cx="6407315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«А если мне никто не ответит?»</a:t>
            </a:r>
            <a:endParaRPr/>
          </a:p>
        </p:txBody>
      </p:sp>
      <p:sp>
        <p:nvSpPr>
          <p:cNvPr id="2192" name="Google Shape;2192;p122"/>
          <p:cNvSpPr txBox="1"/>
          <p:nvPr/>
        </p:nvSpPr>
        <p:spPr>
          <a:xfrm>
            <a:off x="0" y="3912325"/>
            <a:ext cx="9143999" cy="3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30 сообщений в день</a:t>
            </a:r>
            <a:endParaRPr/>
          </a:p>
        </p:txBody>
      </p:sp>
      <p:sp>
        <p:nvSpPr>
          <p:cNvPr id="2193" name="Google Shape;2193;p122"/>
          <p:cNvSpPr txBox="1"/>
          <p:nvPr/>
        </p:nvSpPr>
        <p:spPr>
          <a:xfrm>
            <a:off x="807817" y="4773759"/>
            <a:ext cx="7528263" cy="3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3–5 ответов</a:t>
            </a:r>
            <a:endParaRPr/>
          </a:p>
        </p:txBody>
      </p:sp>
      <p:sp>
        <p:nvSpPr>
          <p:cNvPr id="2194" name="Google Shape;2194;p122"/>
          <p:cNvSpPr txBox="1"/>
          <p:nvPr/>
        </p:nvSpPr>
        <p:spPr>
          <a:xfrm>
            <a:off x="2009189" y="5635194"/>
            <a:ext cx="5125620" cy="3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1 разговор и демо</a:t>
            </a:r>
            <a:endParaRPr/>
          </a:p>
        </p:txBody>
      </p:sp>
      <p:sp>
        <p:nvSpPr>
          <p:cNvPr id="2195" name="Google Shape;2195;p122"/>
          <p:cNvSpPr txBox="1"/>
          <p:nvPr/>
        </p:nvSpPr>
        <p:spPr>
          <a:xfrm>
            <a:off x="1311616" y="6441825"/>
            <a:ext cx="6520766" cy="35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Молчание — это арифметика, а не про вас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5.jpg" id="2201" name="Google Shape;220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123"/>
          <p:cNvSpPr txBox="1"/>
          <p:nvPr/>
        </p:nvSpPr>
        <p:spPr>
          <a:xfrm>
            <a:off x="731519" y="3278879"/>
            <a:ext cx="5159502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«А что я скажу клиенту?»</a:t>
            </a:r>
            <a:endParaRPr/>
          </a:p>
        </p:txBody>
      </p:sp>
      <p:sp>
        <p:nvSpPr>
          <p:cNvPr id="2203" name="Google Shape;2203;p123"/>
          <p:cNvSpPr txBox="1"/>
          <p:nvPr/>
        </p:nvSpPr>
        <p:spPr>
          <a:xfrm>
            <a:off x="982265" y="4628741"/>
            <a:ext cx="5419763" cy="120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Скрипт первого разговора и агент-продавец, который дожимает переписку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5.jpg" id="2208" name="Google Shape;2208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p124"/>
          <p:cNvSpPr txBox="1"/>
          <p:nvPr/>
        </p:nvSpPr>
        <p:spPr>
          <a:xfrm>
            <a:off x="731519" y="3278879"/>
            <a:ext cx="6239751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«У меня нет блога и аудитории»</a:t>
            </a:r>
            <a:endParaRPr/>
          </a:p>
        </p:txBody>
      </p:sp>
      <p:sp>
        <p:nvSpPr>
          <p:cNvPr id="2210" name="Google Shape;2210;p124"/>
          <p:cNvSpPr txBox="1"/>
          <p:nvPr/>
        </p:nvSpPr>
        <p:spPr>
          <a:xfrm>
            <a:off x="982265" y="4628741"/>
            <a:ext cx="5095836" cy="120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Ничего не требует вашего лица и ленты. Услуга оказывается конкретному человеку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7.jpg" id="2216" name="Google Shape;2216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125"/>
          <p:cNvSpPr txBox="1"/>
          <p:nvPr/>
        </p:nvSpPr>
        <p:spPr>
          <a:xfrm>
            <a:off x="725380" y="3347050"/>
            <a:ext cx="8418619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«А вы вообще кто?»</a:t>
            </a:r>
            <a:endParaRPr/>
          </a:p>
        </p:txBody>
      </p:sp>
      <p:sp>
        <p:nvSpPr>
          <p:cNvPr id="2218" name="Google Shape;2218;p125"/>
          <p:cNvSpPr txBox="1"/>
          <p:nvPr/>
        </p:nvSpPr>
        <p:spPr>
          <a:xfrm>
            <a:off x="982265" y="4163683"/>
            <a:ext cx="5668822" cy="1602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Оплата только на странице, которую вы видели на экране. Карту и код из СМС в переписке не спрашивают никогда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5.jpg" id="2224" name="Google Shape;2224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26"/>
          <p:cNvSpPr txBox="1"/>
          <p:nvPr/>
        </p:nvSpPr>
        <p:spPr>
          <a:xfrm>
            <a:off x="731519" y="3278879"/>
            <a:ext cx="4720818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«Сколько я заработаю?»</a:t>
            </a:r>
            <a:endParaRPr/>
          </a:p>
        </p:txBody>
      </p:sp>
      <p:sp>
        <p:nvSpPr>
          <p:cNvPr id="2226" name="Google Shape;2226;p126"/>
          <p:cNvSpPr txBox="1"/>
          <p:nvPr/>
        </p:nvSpPr>
        <p:spPr>
          <a:xfrm>
            <a:off x="982265" y="4628741"/>
            <a:ext cx="5341010" cy="120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Конкретных цифр не называю. Это зависит от того, сколько связок вы примените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5.jpg" id="2232" name="Google Shape;2232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3" name="Google Shape;2233;p127"/>
          <p:cNvSpPr txBox="1"/>
          <p:nvPr/>
        </p:nvSpPr>
        <p:spPr>
          <a:xfrm>
            <a:off x="731519" y="3278879"/>
            <a:ext cx="7471676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«Начну со следующего потока»</a:t>
            </a:r>
            <a:endParaRPr/>
          </a:p>
        </p:txBody>
      </p:sp>
      <p:sp>
        <p:nvSpPr>
          <p:cNvPr id="2234" name="Google Shape;2234;p127"/>
          <p:cNvSpPr txBox="1"/>
          <p:nvPr/>
        </p:nvSpPr>
        <p:spPr>
          <a:xfrm>
            <a:off x="982265" y="4628741"/>
            <a:ext cx="4763795" cy="120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В следующий раз цена уже не эфирная, бонусы сгорят, поток стартует одной датой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65.jpg" id="2240" name="Google Shape;2240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1" name="Google Shape;2241;p128"/>
          <p:cNvSpPr txBox="1"/>
          <p:nvPr/>
        </p:nvSpPr>
        <p:spPr>
          <a:xfrm>
            <a:off x="731519" y="3278879"/>
            <a:ext cx="7339660" cy="1173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«А если именно у меня не получится?»</a:t>
            </a:r>
            <a:endParaRPr/>
          </a:p>
        </p:txBody>
      </p:sp>
      <p:sp>
        <p:nvSpPr>
          <p:cNvPr id="2242" name="Google Shape;2242;p128"/>
          <p:cNvSpPr txBox="1"/>
          <p:nvPr/>
        </p:nvSpPr>
        <p:spPr>
          <a:xfrm>
            <a:off x="982265" y="4628741"/>
            <a:ext cx="5481142" cy="120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У вас агенты, куратор, разборы, чат и гарантия. Что именно должно «не получиться»?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71.jpg" id="2248" name="Google Shape;2248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9" name="Google Shape;2249;p129"/>
          <p:cNvSpPr txBox="1"/>
          <p:nvPr/>
        </p:nvSpPr>
        <p:spPr>
          <a:xfrm>
            <a:off x="325657" y="6051980"/>
            <a:ext cx="8818342" cy="64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AI не заменит людей</a:t>
            </a:r>
            <a:endParaRPr/>
          </a:p>
        </p:txBody>
      </p:sp>
      <p:sp>
        <p:nvSpPr>
          <p:cNvPr id="2250" name="Google Shape;2250;p129"/>
          <p:cNvSpPr txBox="1"/>
          <p:nvPr/>
        </p:nvSpPr>
        <p:spPr>
          <a:xfrm>
            <a:off x="731519" y="6838609"/>
            <a:ext cx="6578781" cy="42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Но люди с AI заменят людей без AI</a:t>
            </a:r>
            <a:endParaRPr/>
          </a:p>
        </p:txBody>
      </p:sp>
      <p:sp>
        <p:nvSpPr>
          <p:cNvPr id="2251" name="Google Shape;2251;p129"/>
          <p:cNvSpPr txBox="1"/>
          <p:nvPr/>
        </p:nvSpPr>
        <p:spPr>
          <a:xfrm>
            <a:off x="731519" y="7455217"/>
            <a:ext cx="5651449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Кнопка под видео. Дальше отвечаю на ваши вопросы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24.jpg" id="2257" name="Google Shape;2257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130"/>
          <p:cNvSpPr txBox="1"/>
          <p:nvPr/>
        </p:nvSpPr>
        <p:spPr>
          <a:xfrm>
            <a:off x="307589" y="2445509"/>
            <a:ext cx="8528821" cy="32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8A99A6"/>
                </a:solidFill>
                <a:latin typeface="Arial"/>
                <a:ea typeface="Arial"/>
                <a:cs typeface="Arial"/>
                <a:sym typeface="Arial"/>
              </a:rPr>
              <a:t>СКОЛЬКО СТОИТ ГОД «Я ПОДУМАЮ»</a:t>
            </a:r>
            <a:endParaRPr/>
          </a:p>
        </p:txBody>
      </p:sp>
      <p:sp>
        <p:nvSpPr>
          <p:cNvPr id="2259" name="Google Shape;2259;p130"/>
          <p:cNvSpPr txBox="1"/>
          <p:nvPr/>
        </p:nvSpPr>
        <p:spPr>
          <a:xfrm>
            <a:off x="0" y="2719727"/>
            <a:ext cx="9143999" cy="229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$3.000</a:t>
            </a:r>
            <a:endParaRPr/>
          </a:p>
        </p:txBody>
      </p:sp>
      <p:sp>
        <p:nvSpPr>
          <p:cNvPr id="2260" name="Google Shape;2260;p130"/>
          <p:cNvSpPr txBox="1"/>
          <p:nvPr/>
        </p:nvSpPr>
        <p:spPr>
          <a:xfrm>
            <a:off x="1994534" y="4946842"/>
            <a:ext cx="5154930" cy="84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6DD"/>
                </a:solidFill>
                <a:latin typeface="Manrope"/>
                <a:ea typeface="Manrope"/>
                <a:cs typeface="Manrope"/>
                <a:sym typeface="Manrope"/>
              </a:rPr>
              <a:t>Один сайт в месяц по $250 — это $3.000 за год</a:t>
            </a:r>
            <a:endParaRPr/>
          </a:p>
        </p:txBody>
      </p:sp>
      <p:sp>
        <p:nvSpPr>
          <p:cNvPr id="2261" name="Google Shape;2261;p130"/>
          <p:cNvSpPr txBox="1"/>
          <p:nvPr/>
        </p:nvSpPr>
        <p:spPr>
          <a:xfrm>
            <a:off x="2186336" y="6015445"/>
            <a:ext cx="4771224" cy="69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0" u="none" cap="none" strike="noStrike">
                <a:solidFill>
                  <a:srgbClr val="8A99A6"/>
                </a:solidFill>
                <a:latin typeface="Manrope"/>
                <a:ea typeface="Manrope"/>
                <a:cs typeface="Manrope"/>
                <a:sym typeface="Manrope"/>
              </a:rPr>
              <a:t>Ровно столько стоит год в статусе «я подумаю»</a:t>
            </a:r>
            <a:endParaRPr/>
          </a:p>
        </p:txBody>
      </p:sp>
      <p:sp>
        <p:nvSpPr>
          <p:cNvPr id="2262" name="Google Shape;2262;p130"/>
          <p:cNvSpPr txBox="1"/>
          <p:nvPr/>
        </p:nvSpPr>
        <p:spPr>
          <a:xfrm>
            <a:off x="3067087" y="8825286"/>
            <a:ext cx="3009723" cy="14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93A0AE"/>
                </a:solidFill>
                <a:latin typeface="Manrope"/>
                <a:ea typeface="Manrope"/>
                <a:cs typeface="Manrope"/>
                <a:sym typeface="Manrope"/>
              </a:rPr>
              <a:t>Результаты индивидуальны и не являются типичными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59.jpg" id="2268" name="Google Shape;2268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9" name="Google Shape;2269;p131"/>
          <p:cNvSpPr txBox="1"/>
          <p:nvPr/>
        </p:nvSpPr>
        <p:spPr>
          <a:xfrm>
            <a:off x="282051" y="3420427"/>
            <a:ext cx="8579896" cy="502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Пока отвечаю на вопросы</a:t>
            </a:r>
            <a:endParaRPr/>
          </a:p>
        </p:txBody>
      </p:sp>
      <p:sp>
        <p:nvSpPr>
          <p:cNvPr id="2270" name="Google Shape;2270;p131"/>
          <p:cNvSpPr txBox="1"/>
          <p:nvPr/>
        </p:nvSpPr>
        <p:spPr>
          <a:xfrm>
            <a:off x="841227" y="4176848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271" name="Google Shape;2271;p131"/>
          <p:cNvSpPr txBox="1"/>
          <p:nvPr/>
        </p:nvSpPr>
        <p:spPr>
          <a:xfrm>
            <a:off x="1247298" y="4127046"/>
            <a:ext cx="2552817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Ценность целиком</a:t>
            </a:r>
            <a:endParaRPr/>
          </a:p>
        </p:txBody>
      </p:sp>
      <p:sp>
        <p:nvSpPr>
          <p:cNvPr id="2272" name="Google Shape;2272;p131"/>
          <p:cNvSpPr txBox="1"/>
          <p:nvPr/>
        </p:nvSpPr>
        <p:spPr>
          <a:xfrm>
            <a:off x="7127335" y="4146640"/>
            <a:ext cx="1175436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$21.350</a:t>
            </a:r>
            <a:endParaRPr/>
          </a:p>
        </p:txBody>
      </p:sp>
      <p:sp>
        <p:nvSpPr>
          <p:cNvPr id="2273" name="Google Shape;2273;p131"/>
          <p:cNvSpPr txBox="1"/>
          <p:nvPr/>
        </p:nvSpPr>
        <p:spPr>
          <a:xfrm>
            <a:off x="841227" y="4622108"/>
            <a:ext cx="265033" cy="20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4E59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274" name="Google Shape;2274;p131"/>
          <p:cNvSpPr txBox="1"/>
          <p:nvPr/>
        </p:nvSpPr>
        <p:spPr>
          <a:xfrm>
            <a:off x="1247298" y="4572306"/>
            <a:ext cx="656351" cy="30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F2F5F3"/>
                </a:solidFill>
                <a:latin typeface="Manrope"/>
                <a:ea typeface="Manrope"/>
                <a:cs typeface="Manrope"/>
                <a:sym typeface="Manrope"/>
              </a:rPr>
              <a:t>Вход</a:t>
            </a:r>
            <a:endParaRPr/>
          </a:p>
        </p:txBody>
      </p:sp>
      <p:sp>
        <p:nvSpPr>
          <p:cNvPr id="2275" name="Google Shape;2275;p131"/>
          <p:cNvSpPr txBox="1"/>
          <p:nvPr/>
        </p:nvSpPr>
        <p:spPr>
          <a:xfrm>
            <a:off x="7194511" y="4591900"/>
            <a:ext cx="1108260" cy="26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rgbClr val="31E981"/>
                </a:solidFill>
                <a:latin typeface="Arial"/>
                <a:ea typeface="Arial"/>
                <a:cs typeface="Arial"/>
                <a:sym typeface="Arial"/>
              </a:rPr>
              <a:t>от $490</a:t>
            </a:r>
            <a:endParaRPr/>
          </a:p>
        </p:txBody>
      </p:sp>
      <p:sp>
        <p:nvSpPr>
          <p:cNvPr id="2276" name="Google Shape;2276;p131"/>
          <p:cNvSpPr txBox="1"/>
          <p:nvPr/>
        </p:nvSpPr>
        <p:spPr>
          <a:xfrm>
            <a:off x="1247298" y="5193506"/>
            <a:ext cx="3835401" cy="346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0" u="none" cap="none" strike="noStrike">
                <a:solidFill>
                  <a:srgbClr val="F2F5F3"/>
                </a:solidFill>
                <a:latin typeface="Unbounded"/>
                <a:ea typeface="Unbounded"/>
                <a:cs typeface="Unbounded"/>
                <a:sym typeface="Unbounded"/>
              </a:rPr>
              <a:t>Сегодня — бронь</a:t>
            </a:r>
            <a:endParaRPr/>
          </a:p>
        </p:txBody>
      </p:sp>
      <p:sp>
        <p:nvSpPr>
          <p:cNvPr id="2277" name="Google Shape;2277;p131"/>
          <p:cNvSpPr txBox="1"/>
          <p:nvPr/>
        </p:nvSpPr>
        <p:spPr>
          <a:xfrm>
            <a:off x="7004920" y="5099208"/>
            <a:ext cx="1297852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70" u="none" cap="none" strike="noStrike">
                <a:solidFill>
                  <a:srgbClr val="31E981"/>
                </a:solidFill>
                <a:latin typeface="Unbounded"/>
                <a:ea typeface="Unbounded"/>
                <a:cs typeface="Unbounded"/>
                <a:sym typeface="Unbounded"/>
              </a:rPr>
              <a:t>$10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